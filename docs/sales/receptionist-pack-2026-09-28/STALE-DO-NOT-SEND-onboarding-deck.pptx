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CE4F6C-A67F-47FE-94D8-48BA17A378D4}" type="datetimeFigureOut">
              <a:rPr lang="en-AU" smtClean="0"/>
              <a:t>28/09/2026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54B57D-5341-48FD-AFC4-391F927A16D7}" type="slidenum">
              <a:rPr lang="en-AU" smtClean="0"/>
              <a:t>‹#›</a:t>
            </a:fld>
            <a:endParaRPr lang="en-AU"/>
          </a:p>
        </p:txBody>
      </p:sp>
    </p:spTree>
    <p:extLst>
      <p:ext uri="{BB962C8B-B14F-4D97-AF65-F5344CB8AC3E}">
        <p14:creationId xmlns:p14="http://schemas.microsoft.com/office/powerpoint/2010/main" val="326093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Kickoff call, 45 minutes. Only run this once booking go-live has been approved and has passed acceptance on our own demo line. Confirm the package from their signed proposal. Monthly billing starts at Acceptance; setup is quoted separately once approved, so never mention a setup amount.</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1</a:t>
            </a:fld>
            <a:endParaRPr lang="en-AU"/>
          </a:p>
        </p:txBody>
      </p:sp>
    </p:spTree>
    <p:extLst>
      <p:ext uri="{BB962C8B-B14F-4D97-AF65-F5344CB8AC3E}">
        <p14:creationId xmlns:p14="http://schemas.microsoft.com/office/powerpoint/2010/main" val="2212136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the timeline. Emphasise that steps 2 and 5 are theirs: calendar access and the privacy policy. Acceptance is when monthly billing and the minimum term start.</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2</a:t>
            </a:fld>
            <a:endParaRPr lang="en-AU"/>
          </a:p>
        </p:txBody>
      </p:sp>
    </p:spTree>
    <p:extLst>
      <p:ext uri="{BB962C8B-B14F-4D97-AF65-F5344CB8AC3E}">
        <p14:creationId xmlns:p14="http://schemas.microsoft.com/office/powerpoint/2010/main" val="1967623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 through the setup checklist (client-setup-checklist.docx). Never accept passwords, API keys or patient details: calendar access is granted from their own account.</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3</a:t>
            </a:fld>
            <a:endParaRPr lang="en-AU"/>
          </a:p>
        </p:txBody>
      </p:sp>
    </p:spTree>
    <p:extLst>
      <p:ext uri="{BB962C8B-B14F-4D97-AF65-F5344CB8AC3E}">
        <p14:creationId xmlns:p14="http://schemas.microsoft.com/office/powerpoint/2010/main" val="4062407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receptionist books into Google Calendar or Cal.com only. If their diary lives in practice software, create a dedicated booking calendar and release only the slots they want booked. Each booking triggers an email so the team can copy it into their practice software. It only says 'booked' when the calendar confirms. Rescheduling or cancelling an earlier booking becomes a message.</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4</a:t>
            </a:fld>
            <a:endParaRPr lang="en-AU"/>
          </a:p>
        </p:txBody>
      </p:sp>
    </p:spTree>
    <p:extLst>
      <p:ext uri="{BB962C8B-B14F-4D97-AF65-F5344CB8AC3E}">
        <p14:creationId xmlns:p14="http://schemas.microsoft.com/office/powerpoint/2010/main" val="2168731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Agree the opening line and the urgent wording today. The greeting always includes the recording notice and AI disclosure (NSW all-party consent). The 000 line comes first on any urgent or life-threatening wording; it never assesses anyone.</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5</a:t>
            </a:fld>
            <a:endParaRPr lang="en-AU"/>
          </a:p>
        </p:txBody>
      </p:sp>
    </p:spTree>
    <p:extLst>
      <p:ext uri="{BB962C8B-B14F-4D97-AF65-F5344CB8AC3E}">
        <p14:creationId xmlns:p14="http://schemas.microsoft.com/office/powerpoint/2010/main" val="96862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wording only: the practice owns its privacy policy and should have its own adviser confirm it. It must be published before go-live. The provider list must match Schedule 2 of the service agreement at the time of go-live.</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6</a:t>
            </a:fld>
            <a:endParaRPr lang="en-AU"/>
          </a:p>
        </p:txBody>
      </p:sp>
    </p:spTree>
    <p:extLst>
      <p:ext uri="{BB962C8B-B14F-4D97-AF65-F5344CB8AC3E}">
        <p14:creationId xmlns:p14="http://schemas.microsoft.com/office/powerpoint/2010/main" val="3582721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 the five calls together on speaker. Acceptance needs call 1's booking visible in their calendar with the right details and call 3's 000 line first. Record the confirmation by email. That's when monthly billing and the minimum term start.</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7</a:t>
            </a:fld>
            <a:endParaRPr lang="en-AU"/>
          </a:p>
        </p:txBody>
      </p:sp>
    </p:spTree>
    <p:extLst>
      <p:ext uri="{BB962C8B-B14F-4D97-AF65-F5344CB8AC3E}">
        <p14:creationId xmlns:p14="http://schemas.microsoft.com/office/powerpoint/2010/main" val="3751748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They switch call forwarding on with their phone provider in the mode they chose. Rollback is simply switching forwarding off: their phones go back to exactly what they had.</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8</a:t>
            </a:fld>
            <a:endParaRPr lang="en-AU"/>
          </a:p>
        </p:txBody>
      </p:sp>
    </p:spTree>
    <p:extLst>
      <p:ext uri="{BB962C8B-B14F-4D97-AF65-F5344CB8AC3E}">
        <p14:creationId xmlns:p14="http://schemas.microsoft.com/office/powerpoint/2010/main" val="3454582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people run M&amp;U; be honest about support hours. First-response targets are targets, not guarantees. Premium adds weekly call review and a monthly optimisation review.</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9</a:t>
            </a:fld>
            <a:endParaRPr lang="en-AU"/>
          </a:p>
        </p:txBody>
      </p:sp>
    </p:spTree>
    <p:extLst>
      <p:ext uri="{BB962C8B-B14F-4D97-AF65-F5344CB8AC3E}">
        <p14:creationId xmlns:p14="http://schemas.microsoft.com/office/powerpoint/2010/main" val="1586441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package from their signed proposal. Prices ex GST; M&amp;U is GST registered, so 10% GST is added to every invoice. Walk the invoice example. Setup is quoted separately once approved: never mention a setup amount. If usage regularly exceeds included minutes, we'll suggest the right package before extra charges build up.</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10</a:t>
            </a:fld>
            <a:endParaRPr lang="en-AU"/>
          </a:p>
        </p:txBody>
      </p:sp>
    </p:spTree>
    <p:extLst>
      <p:ext uri="{BB962C8B-B14F-4D97-AF65-F5344CB8AC3E}">
        <p14:creationId xmlns:p14="http://schemas.microsoft.com/office/powerpoint/2010/main" val="3974893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the kickoff by confirming who does what by when, and book the test-call session before hanging up.</a:t>
            </a:r>
            <a:endParaRPr lang="en-AU"/>
          </a:p>
        </p:txBody>
      </p:sp>
      <p:sp>
        <p:nvSpPr>
          <p:cNvPr id="4" name="Slide Number Placeholder 3"/>
          <p:cNvSpPr>
            <a:spLocks noGrp="1"/>
          </p:cNvSpPr>
          <p:nvPr>
            <p:ph type="sldNum" sz="quarter" idx="5"/>
          </p:nvPr>
        </p:nvSpPr>
        <p:spPr/>
        <p:txBody>
          <a:bodyPr/>
          <a:lstStyle/>
          <a:p>
            <a:fld id="{3554B57D-5341-48FD-AFC4-391F927A16D7}" type="slidenum">
              <a:rPr lang="en-AU" smtClean="0"/>
              <a:t>11</a:t>
            </a:fld>
            <a:endParaRPr lang="en-AU"/>
          </a:p>
        </p:txBody>
      </p:sp>
    </p:spTree>
    <p:extLst>
      <p:ext uri="{BB962C8B-B14F-4D97-AF65-F5344CB8AC3E}">
        <p14:creationId xmlns:p14="http://schemas.microsoft.com/office/powerpoint/2010/main" val="2147477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28D6-6F45-CA60-997D-364E95342F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D25916E-022A-EBF7-F532-2F4178FF78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198162F-34CE-578F-24FE-2F13B4396D1C}"/>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5" name="Footer Placeholder 4">
            <a:extLst>
              <a:ext uri="{FF2B5EF4-FFF2-40B4-BE49-F238E27FC236}">
                <a16:creationId xmlns:a16="http://schemas.microsoft.com/office/drawing/2014/main" id="{C3C06ADC-64D6-4C91-2CEC-1C0D4784C58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E0A93BC-7DFD-E596-9675-A34F5121E024}"/>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2515992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6A6B7-87A9-CF4C-C5F9-715B85F6396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AD262A2-F298-988C-B92A-332F5A529C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DA888CC-8EA1-DCD5-39C0-A013A1AC8C6C}"/>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5" name="Footer Placeholder 4">
            <a:extLst>
              <a:ext uri="{FF2B5EF4-FFF2-40B4-BE49-F238E27FC236}">
                <a16:creationId xmlns:a16="http://schemas.microsoft.com/office/drawing/2014/main" id="{39C4C340-5FFB-9A55-0F03-0D5A28A97BB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D05AAB7-70A2-5DC7-422F-83F43AC9752C}"/>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33660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9792-FA10-FAAA-14F2-ECE86F9CA0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A5496688-6C9E-2BD3-94B2-E8B9A78778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D2CB60-E774-A746-72DC-0E3B1DAB77BE}"/>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5" name="Footer Placeholder 4">
            <a:extLst>
              <a:ext uri="{FF2B5EF4-FFF2-40B4-BE49-F238E27FC236}">
                <a16:creationId xmlns:a16="http://schemas.microsoft.com/office/drawing/2014/main" id="{6B4BC786-92BA-DF8F-D49B-F5992ECB207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ABD4CA4-473C-EA3F-BADA-4098CA2EBDF2}"/>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786309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0C37-76A1-27EA-559E-0BF924A64EA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C9828C7-EE55-A36F-0FF9-52DAC180A8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446D25AC-07BE-CF34-0A2B-D7FF3CA98E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D389C93-9F12-C2FE-697D-A62E3F7B31D7}"/>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6" name="Footer Placeholder 5">
            <a:extLst>
              <a:ext uri="{FF2B5EF4-FFF2-40B4-BE49-F238E27FC236}">
                <a16:creationId xmlns:a16="http://schemas.microsoft.com/office/drawing/2014/main" id="{83F9BE16-BA81-8925-EBD2-34F1F9C8270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1158877-98A4-68BE-727C-BE7B8EF46BD0}"/>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101166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E542-A91A-879A-075F-761AEA89E9A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0709001-7DF6-5532-030D-216C5EF085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1BA37A-DE92-94AD-E0C6-8581365781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90127D6A-ABF8-2C78-3413-D7CE226DC7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07B696-6ED6-2B7A-3D9A-5BDEE7B6C2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9909A5C-4CE3-ADEC-94F1-6EBC73885658}"/>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8" name="Footer Placeholder 7">
            <a:extLst>
              <a:ext uri="{FF2B5EF4-FFF2-40B4-BE49-F238E27FC236}">
                <a16:creationId xmlns:a16="http://schemas.microsoft.com/office/drawing/2014/main" id="{0E511DCE-0BF4-0586-3332-DC9D50C6BAD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1A3B077-F899-55F5-1354-48DCC430C376}"/>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1828596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2943-4461-EA28-4902-090D30D2A94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98E3D2D-F56D-0EDA-9BFD-FF17475E61B5}"/>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4" name="Footer Placeholder 3">
            <a:extLst>
              <a:ext uri="{FF2B5EF4-FFF2-40B4-BE49-F238E27FC236}">
                <a16:creationId xmlns:a16="http://schemas.microsoft.com/office/drawing/2014/main" id="{742B1002-B7DC-D813-2D87-0BF53DF4047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789759FF-6B3F-A6AA-D8F0-E64EDA3FC2B5}"/>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351364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182BAC-9D80-5306-6114-1C85CEFED8C0}"/>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3" name="Footer Placeholder 2">
            <a:extLst>
              <a:ext uri="{FF2B5EF4-FFF2-40B4-BE49-F238E27FC236}">
                <a16:creationId xmlns:a16="http://schemas.microsoft.com/office/drawing/2014/main" id="{E926A3B3-6103-F99C-34DF-A4D9047212D0}"/>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4BFBE27-662E-3AD1-8CB0-011953F9EF24}"/>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2292842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F5B20-8611-E8C2-C400-DB590DD44C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88E9CC8-61C1-EC41-DF49-BEB09DDC7F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F6DE553-8DF7-2AA5-5D29-F6CDD82511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C53D7-01FB-6DA8-A618-D9FD2226DD86}"/>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6" name="Footer Placeholder 5">
            <a:extLst>
              <a:ext uri="{FF2B5EF4-FFF2-40B4-BE49-F238E27FC236}">
                <a16:creationId xmlns:a16="http://schemas.microsoft.com/office/drawing/2014/main" id="{3999C227-7807-DB8B-EE3B-5557A65FCAD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F5367A0-4EF1-9631-10C9-EC2ECE3E7EB2}"/>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3962721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AEDF-A182-24B5-DD6D-654C353275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32B67D79-72D0-AB30-92D8-A06959FC27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53DB142-F71A-73D2-43C5-87B6EC95A5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8CB107-BE98-DEC6-41C2-8698E4071425}"/>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6" name="Footer Placeholder 5">
            <a:extLst>
              <a:ext uri="{FF2B5EF4-FFF2-40B4-BE49-F238E27FC236}">
                <a16:creationId xmlns:a16="http://schemas.microsoft.com/office/drawing/2014/main" id="{F2EA3BE9-13AE-81F4-3F77-FEEC482BF21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9FC4544-CD22-89D5-BB79-B8A95785C953}"/>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482934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E38F-CC8B-E43A-BC08-70CC672DB9D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82A7210-8E05-2F25-15F1-23BFCE62C5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00D1014-5618-16F7-6DEE-1F8236346712}"/>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5" name="Footer Placeholder 4">
            <a:extLst>
              <a:ext uri="{FF2B5EF4-FFF2-40B4-BE49-F238E27FC236}">
                <a16:creationId xmlns:a16="http://schemas.microsoft.com/office/drawing/2014/main" id="{44384C60-B70F-EA19-2666-73BE5BBF482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A6F11F2-418E-D8E6-8F03-ACF1FFE77313}"/>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3666803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47D527-9AE5-A13D-E6AB-28759C3E15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6B2678A-5FBA-8E76-9031-8EBF7BF8CC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6735831-2A63-D7FE-FF2B-C6BF6A288339}"/>
              </a:ext>
            </a:extLst>
          </p:cNvPr>
          <p:cNvSpPr>
            <a:spLocks noGrp="1"/>
          </p:cNvSpPr>
          <p:nvPr>
            <p:ph type="dt" sz="half" idx="10"/>
          </p:nvPr>
        </p:nvSpPr>
        <p:spPr/>
        <p:txBody>
          <a:bodyPr/>
          <a:lstStyle/>
          <a:p>
            <a:fld id="{5F0990EC-7682-4B8A-A181-ECA45481F9D7}" type="datetimeFigureOut">
              <a:rPr lang="en-AU" smtClean="0"/>
              <a:t>28/09/2026</a:t>
            </a:fld>
            <a:endParaRPr lang="en-AU"/>
          </a:p>
        </p:txBody>
      </p:sp>
      <p:sp>
        <p:nvSpPr>
          <p:cNvPr id="5" name="Footer Placeholder 4">
            <a:extLst>
              <a:ext uri="{FF2B5EF4-FFF2-40B4-BE49-F238E27FC236}">
                <a16:creationId xmlns:a16="http://schemas.microsoft.com/office/drawing/2014/main" id="{61E7F2D0-DE54-52E1-0EB8-AE07844091A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1E94991-B8CB-06D7-4D54-8EF70EF713ED}"/>
              </a:ext>
            </a:extLst>
          </p:cNvPr>
          <p:cNvSpPr>
            <a:spLocks noGrp="1"/>
          </p:cNvSpPr>
          <p:nvPr>
            <p:ph type="sldNum" sz="quarter" idx="12"/>
          </p:nvPr>
        </p:nvSpPr>
        <p:spPr/>
        <p:txBody>
          <a:bodyPr/>
          <a:lstStyle/>
          <a:p>
            <a:fld id="{077BD5F0-8437-45FF-B890-7D292FFE99C9}" type="slidenum">
              <a:rPr lang="en-AU" smtClean="0"/>
              <a:t>‹#›</a:t>
            </a:fld>
            <a:endParaRPr lang="en-AU"/>
          </a:p>
        </p:txBody>
      </p:sp>
    </p:spTree>
    <p:extLst>
      <p:ext uri="{BB962C8B-B14F-4D97-AF65-F5344CB8AC3E}">
        <p14:creationId xmlns:p14="http://schemas.microsoft.com/office/powerpoint/2010/main" val="179085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CA411A-9E0F-B9FA-BF88-028DDCCE92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289969E-C527-E390-49EC-41FD0D4201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6088501-2F27-F2D1-57AA-3BE4CF088B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0990EC-7682-4B8A-A181-ECA45481F9D7}" type="datetimeFigureOut">
              <a:rPr lang="en-AU" smtClean="0"/>
              <a:t>28/09/2026</a:t>
            </a:fld>
            <a:endParaRPr lang="en-AU"/>
          </a:p>
        </p:txBody>
      </p:sp>
      <p:sp>
        <p:nvSpPr>
          <p:cNvPr id="5" name="Footer Placeholder 4">
            <a:extLst>
              <a:ext uri="{FF2B5EF4-FFF2-40B4-BE49-F238E27FC236}">
                <a16:creationId xmlns:a16="http://schemas.microsoft.com/office/drawing/2014/main" id="{C8BE628A-9E80-3601-A945-81FDDD402E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045F3B0-B698-6AA6-6FA3-3197D8577E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7BD5F0-8437-45FF-B890-7D292FFE99C9}" type="slidenum">
              <a:rPr lang="en-AU" smtClean="0"/>
              <a:t>‹#›</a:t>
            </a:fld>
            <a:endParaRPr lang="en-AU"/>
          </a:p>
        </p:txBody>
      </p:sp>
    </p:spTree>
    <p:extLst>
      <p:ext uri="{BB962C8B-B14F-4D97-AF65-F5344CB8AC3E}">
        <p14:creationId xmlns:p14="http://schemas.microsoft.com/office/powerpoint/2010/main" val="3029165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3E4C41-B0A6-71D6-AB82-4BB8D05457E3}"/>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94A3B8"/>
                </a:solidFill>
                <a:latin typeface="Calibri" panose="020F0502020204030204" pitchFamily="34" charset="0"/>
              </a:rPr>
              <a:t>M&amp;U Ventures · Onboarding · catalogue 2026-09-27</a:t>
            </a:r>
          </a:p>
        </p:txBody>
      </p:sp>
      <p:sp>
        <p:nvSpPr>
          <p:cNvPr id="3" name="TextBox 2">
            <a:extLst>
              <a:ext uri="{FF2B5EF4-FFF2-40B4-BE49-F238E27FC236}">
                <a16:creationId xmlns:a16="http://schemas.microsoft.com/office/drawing/2014/main" id="{26EC5DD5-DEF5-E3B9-E97B-3562B0ACA95C}"/>
              </a:ext>
            </a:extLst>
          </p:cNvPr>
          <p:cNvSpPr txBox="1"/>
          <p:nvPr/>
        </p:nvSpPr>
        <p:spPr>
          <a:xfrm>
            <a:off x="609600" y="1016000"/>
            <a:ext cx="8890000" cy="381000"/>
          </a:xfrm>
          <a:prstGeom prst="rect">
            <a:avLst/>
          </a:prstGeom>
          <a:noFill/>
        </p:spPr>
        <p:txBody>
          <a:bodyPr vert="horz" wrap="square" lIns="0" tIns="0" rIns="0" bIns="0" rtlCol="0">
            <a:noAutofit/>
          </a:bodyPr>
          <a:lstStyle/>
          <a:p>
            <a:pPr>
              <a:spcAft>
                <a:spcPts val="400"/>
              </a:spcAft>
            </a:pPr>
            <a:r>
              <a:rPr lang="en-AU" sz="1400" b="1">
                <a:solidFill>
                  <a:srgbClr val="5EEAD4"/>
                </a:solidFill>
                <a:latin typeface="Calibri" panose="020F0502020204030204" pitchFamily="34" charset="0"/>
              </a:rPr>
              <a:t>ONBOARDING</a:t>
            </a:r>
          </a:p>
        </p:txBody>
      </p:sp>
      <p:sp>
        <p:nvSpPr>
          <p:cNvPr id="4" name="TextBox 3">
            <a:extLst>
              <a:ext uri="{FF2B5EF4-FFF2-40B4-BE49-F238E27FC236}">
                <a16:creationId xmlns:a16="http://schemas.microsoft.com/office/drawing/2014/main" id="{9CFEC3B6-D055-416E-E9B7-438D57365DA0}"/>
              </a:ext>
            </a:extLst>
          </p:cNvPr>
          <p:cNvSpPr txBox="1"/>
          <p:nvPr/>
        </p:nvSpPr>
        <p:spPr>
          <a:xfrm>
            <a:off x="609600" y="1498600"/>
            <a:ext cx="9652000" cy="369332"/>
          </a:xfrm>
          <a:prstGeom prst="rect">
            <a:avLst/>
          </a:prstGeom>
          <a:noFill/>
        </p:spPr>
        <p:txBody>
          <a:bodyPr vert="horz" wrap="square" lIns="0" tIns="0" rIns="0" bIns="0" rtlCol="0">
            <a:noAutofit/>
          </a:bodyPr>
          <a:lstStyle/>
          <a:p>
            <a:pPr>
              <a:spcAft>
                <a:spcPts val="400"/>
              </a:spcAft>
            </a:pPr>
            <a:r>
              <a:rPr lang="en-US" sz="4600">
                <a:solidFill>
                  <a:srgbClr val="FFFFFF"/>
                </a:solidFill>
                <a:latin typeface="Cambria" panose="02040503050406030204" pitchFamily="18" charset="0"/>
              </a:rPr>
              <a:t>From kickoff to your first booking</a:t>
            </a:r>
            <a:endParaRPr lang="en-AU" sz="4600">
              <a:solidFill>
                <a:srgbClr val="FFFFFF"/>
              </a:solidFill>
              <a:latin typeface="Cambria" panose="02040503050406030204" pitchFamily="18" charset="0"/>
            </a:endParaRPr>
          </a:p>
        </p:txBody>
      </p:sp>
      <p:sp>
        <p:nvSpPr>
          <p:cNvPr id="5" name="TextBox 4">
            <a:extLst>
              <a:ext uri="{FF2B5EF4-FFF2-40B4-BE49-F238E27FC236}">
                <a16:creationId xmlns:a16="http://schemas.microsoft.com/office/drawing/2014/main" id="{DBCDB956-2ACA-71C3-8313-5D8C547BE6B6}"/>
              </a:ext>
            </a:extLst>
          </p:cNvPr>
          <p:cNvSpPr txBox="1"/>
          <p:nvPr/>
        </p:nvSpPr>
        <p:spPr>
          <a:xfrm>
            <a:off x="609600" y="3302000"/>
            <a:ext cx="8890000" cy="369332"/>
          </a:xfrm>
          <a:prstGeom prst="rect">
            <a:avLst/>
          </a:prstGeom>
          <a:noFill/>
        </p:spPr>
        <p:txBody>
          <a:bodyPr vert="horz" wrap="square" lIns="0" tIns="0" rIns="0" bIns="0" rtlCol="0">
            <a:noAutofit/>
          </a:bodyPr>
          <a:lstStyle/>
          <a:p>
            <a:pPr>
              <a:spcAft>
                <a:spcPts val="400"/>
              </a:spcAft>
            </a:pPr>
            <a:r>
              <a:rPr lang="en-US">
                <a:solidFill>
                  <a:srgbClr val="CBD5E1"/>
                </a:solidFill>
                <a:latin typeface="Calibri" panose="020F0502020204030204" pitchFamily="34" charset="0"/>
              </a:rPr>
              <a:t>[Practice name] · [Package] · Kickoff [date]</a:t>
            </a:r>
            <a:endParaRPr lang="en-AU">
              <a:solidFill>
                <a:srgbClr val="CBD5E1"/>
              </a:solidFill>
              <a:latin typeface="Calibri" panose="020F0502020204030204" pitchFamily="34" charset="0"/>
            </a:endParaRPr>
          </a:p>
        </p:txBody>
      </p:sp>
      <p:sp>
        <p:nvSpPr>
          <p:cNvPr id="6" name="TextBox 5">
            <a:extLst>
              <a:ext uri="{FF2B5EF4-FFF2-40B4-BE49-F238E27FC236}">
                <a16:creationId xmlns:a16="http://schemas.microsoft.com/office/drawing/2014/main" id="{59C1BBE8-3432-0FC1-8CE2-7FCA1DC48BCF}"/>
              </a:ext>
            </a:extLst>
          </p:cNvPr>
          <p:cNvSpPr txBox="1"/>
          <p:nvPr/>
        </p:nvSpPr>
        <p:spPr>
          <a:xfrm>
            <a:off x="609600" y="4191000"/>
            <a:ext cx="9652000" cy="369332"/>
          </a:xfrm>
          <a:prstGeom prst="rect">
            <a:avLst/>
          </a:prstGeom>
          <a:noFill/>
        </p:spPr>
        <p:txBody>
          <a:bodyPr vert="horz" wrap="square" lIns="0" tIns="0" rIns="0" bIns="0" rtlCol="0">
            <a:noAutofit/>
          </a:bodyPr>
          <a:lstStyle/>
          <a:p>
            <a:pPr>
              <a:spcAft>
                <a:spcPts val="400"/>
              </a:spcAft>
            </a:pPr>
            <a:r>
              <a:rPr lang="en-US" sz="1700">
                <a:solidFill>
                  <a:srgbClr val="E2E8F0"/>
                </a:solidFill>
                <a:latin typeface="Calibri" panose="020F0502020204030204" pitchFamily="34" charset="0"/>
              </a:rPr>
              <a:t>About a week to your first test booking once we have your calendar access and answers. Your booking, routing and texts are set up and tested before they go live.</a:t>
            </a:r>
            <a:endParaRPr lang="en-AU" sz="1700">
              <a:solidFill>
                <a:srgbClr val="E2E8F0"/>
              </a:solidFill>
              <a:latin typeface="Calibri" panose="020F0502020204030204" pitchFamily="34" charset="0"/>
            </a:endParaRPr>
          </a:p>
        </p:txBody>
      </p:sp>
    </p:spTree>
    <p:extLst>
      <p:ext uri="{BB962C8B-B14F-4D97-AF65-F5344CB8AC3E}">
        <p14:creationId xmlns:p14="http://schemas.microsoft.com/office/powerpoint/2010/main" val="671059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729FE2-1CC0-57FE-FA32-13661E17931A}"/>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2</a:t>
            </a:r>
          </a:p>
        </p:txBody>
      </p:sp>
      <p:sp>
        <p:nvSpPr>
          <p:cNvPr id="3" name="TextBox 2">
            <a:extLst>
              <a:ext uri="{FF2B5EF4-FFF2-40B4-BE49-F238E27FC236}">
                <a16:creationId xmlns:a16="http://schemas.microsoft.com/office/drawing/2014/main" id="{508B671B-25DF-64AF-F03E-3DB584B79C59}"/>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AU" sz="3200">
                <a:solidFill>
                  <a:srgbClr val="14213D"/>
                </a:solidFill>
                <a:latin typeface="Cambria" panose="02040503050406030204" pitchFamily="18" charset="0"/>
              </a:rPr>
              <a:t>The plan</a:t>
            </a:r>
          </a:p>
        </p:txBody>
      </p:sp>
      <p:sp>
        <p:nvSpPr>
          <p:cNvPr id="4" name="TextBox 3">
            <a:extLst>
              <a:ext uri="{FF2B5EF4-FFF2-40B4-BE49-F238E27FC236}">
                <a16:creationId xmlns:a16="http://schemas.microsoft.com/office/drawing/2014/main" id="{EDEB3C4A-637E-9412-5985-017662E05457}"/>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Seven working days to Acceptance, then 30 days of close review.</a:t>
            </a:r>
            <a:endParaRPr lang="en-AU" sz="1500">
              <a:solidFill>
                <a:srgbClr val="475569"/>
              </a:solidFill>
              <a:latin typeface="Calibri" panose="020F0502020204030204" pitchFamily="34" charset="0"/>
            </a:endParaRPr>
          </a:p>
        </p:txBody>
      </p:sp>
      <p:graphicFrame>
        <p:nvGraphicFramePr>
          <p:cNvPr id="5" name="Table 4">
            <a:extLst>
              <a:ext uri="{FF2B5EF4-FFF2-40B4-BE49-F238E27FC236}">
                <a16:creationId xmlns:a16="http://schemas.microsoft.com/office/drawing/2014/main" id="{E571D69D-DE21-31A2-FE0C-2756884E4506}"/>
              </a:ext>
            </a:extLst>
          </p:cNvPr>
          <p:cNvGraphicFramePr>
            <a:graphicFrameLocks noGrp="1"/>
          </p:cNvGraphicFramePr>
          <p:nvPr>
            <p:extLst>
              <p:ext uri="{D42A27DB-BD31-4B8C-83A1-F6EECF244321}">
                <p14:modId xmlns:p14="http://schemas.microsoft.com/office/powerpoint/2010/main" val="877529548"/>
              </p:ext>
            </p:extLst>
          </p:nvPr>
        </p:nvGraphicFramePr>
        <p:xfrm>
          <a:off x="609600" y="1587500"/>
          <a:ext cx="10972800" cy="355600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3794072194"/>
                    </a:ext>
                  </a:extLst>
                </a:gridCol>
                <a:gridCol w="2159000">
                  <a:extLst>
                    <a:ext uri="{9D8B030D-6E8A-4147-A177-3AD203B41FA5}">
                      <a16:colId xmlns:a16="http://schemas.microsoft.com/office/drawing/2014/main" val="184531290"/>
                    </a:ext>
                  </a:extLst>
                </a:gridCol>
                <a:gridCol w="5765800">
                  <a:extLst>
                    <a:ext uri="{9D8B030D-6E8A-4147-A177-3AD203B41FA5}">
                      <a16:colId xmlns:a16="http://schemas.microsoft.com/office/drawing/2014/main" val="1388554589"/>
                    </a:ext>
                  </a:extLst>
                </a:gridCol>
                <a:gridCol w="1397000">
                  <a:extLst>
                    <a:ext uri="{9D8B030D-6E8A-4147-A177-3AD203B41FA5}">
                      <a16:colId xmlns:a16="http://schemas.microsoft.com/office/drawing/2014/main" val="1839336289"/>
                    </a:ext>
                  </a:extLst>
                </a:gridCol>
                <a:gridCol w="1193800">
                  <a:extLst>
                    <a:ext uri="{9D8B030D-6E8A-4147-A177-3AD203B41FA5}">
                      <a16:colId xmlns:a16="http://schemas.microsoft.com/office/drawing/2014/main" val="1010705443"/>
                    </a:ext>
                  </a:extLst>
                </a:gridCol>
              </a:tblGrid>
              <a:tr h="508000">
                <a:tc>
                  <a:txBody>
                    <a:bodyPr/>
                    <a:lstStyle/>
                    <a:p>
                      <a:endParaRPr lang="en-AU" sz="1300" b="1">
                        <a:solidFill>
                          <a:srgbClr val="FFFFFF"/>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Step</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What happens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When</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Who</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extLst>
                  <a:ext uri="{0D108BD9-81ED-4DB2-BD59-A6C34878D82A}">
                    <a16:rowId xmlns:a16="http://schemas.microsoft.com/office/drawing/2014/main" val="1004152968"/>
                  </a:ext>
                </a:extLst>
              </a:tr>
              <a:tr h="508000">
                <a:tc>
                  <a:txBody>
                    <a:bodyPr/>
                    <a:lstStyle/>
                    <a:p>
                      <a:r>
                        <a:rPr lang="en-AU" sz="1300" b="0">
                          <a:solidFill>
                            <a:srgbClr val="14213D"/>
                          </a:solidFill>
                          <a:latin typeface="Calibri" panose="020F0502020204030204" pitchFamily="34" charset="0"/>
                        </a:rPr>
                        <a:t>1</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Kickoff</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US" sz="1300" b="0">
                          <a:solidFill>
                            <a:srgbClr val="14213D"/>
                          </a:solidFill>
                          <a:latin typeface="Calibri" panose="020F0502020204030204" pitchFamily="34" charset="0"/>
                        </a:rPr>
                        <a:t>Today: hours, services, what may be booked, urgent wording, alert contacts</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Day 1</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Us + you</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1902426927"/>
                  </a:ext>
                </a:extLst>
              </a:tr>
              <a:tr h="508000">
                <a:tc>
                  <a:txBody>
                    <a:bodyPr/>
                    <a:lstStyle/>
                    <a:p>
                      <a:r>
                        <a:rPr lang="en-AU" sz="1300" b="0">
                          <a:solidFill>
                            <a:srgbClr val="14213D"/>
                          </a:solidFill>
                          <a:latin typeface="Calibri" panose="020F0502020204030204" pitchFamily="34" charset="0"/>
                        </a:rPr>
                        <a:t>2</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Access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US" sz="1300" b="0">
                          <a:solidFill>
                            <a:srgbClr val="14213D"/>
                          </a:solidFill>
                          <a:latin typeface="Calibri" panose="020F0502020204030204" pitchFamily="34" charset="0"/>
                        </a:rPr>
                        <a:t>You connect your calendar and complete the setup checklist</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Days 1–3</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You</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1945269534"/>
                  </a:ext>
                </a:extLst>
              </a:tr>
              <a:tr h="508000">
                <a:tc>
                  <a:txBody>
                    <a:bodyPr/>
                    <a:lstStyle/>
                    <a:p>
                      <a:r>
                        <a:rPr lang="en-AU" sz="1300" b="0">
                          <a:solidFill>
                            <a:srgbClr val="14213D"/>
                          </a:solidFill>
                          <a:latin typeface="Calibri" panose="020F0502020204030204" pitchFamily="34" charset="0"/>
                        </a:rPr>
                        <a:t>3</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Build</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US" sz="1300" b="0">
                          <a:solidFill>
                            <a:srgbClr val="14213D"/>
                          </a:solidFill>
                          <a:latin typeface="Calibri" panose="020F0502020204030204" pitchFamily="34" charset="0"/>
                        </a:rPr>
                        <a:t>We configure the receptionist, knowledge summary, disclosures and SMS wording</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Days 2–5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Us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505886767"/>
                  </a:ext>
                </a:extLst>
              </a:tr>
              <a:tr h="508000">
                <a:tc>
                  <a:txBody>
                    <a:bodyPr/>
                    <a:lstStyle/>
                    <a:p>
                      <a:r>
                        <a:rPr lang="en-AU" sz="1300" b="0">
                          <a:solidFill>
                            <a:srgbClr val="14213D"/>
                          </a:solidFill>
                          <a:latin typeface="Calibri" panose="020F0502020204030204" pitchFamily="34" charset="0"/>
                        </a:rPr>
                        <a:t>4</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Privacy policy</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US" sz="1300" b="0">
                          <a:solidFill>
                            <a:srgbClr val="14213D"/>
                          </a:solidFill>
                          <a:latin typeface="Calibri" panose="020F0502020204030204" pitchFamily="34" charset="0"/>
                        </a:rPr>
                        <a:t>You publish the updated wording (we supply a draft)</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Before go-live</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You</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2429048633"/>
                  </a:ext>
                </a:extLst>
              </a:tr>
              <a:tr h="508000">
                <a:tc>
                  <a:txBody>
                    <a:bodyPr/>
                    <a:lstStyle/>
                    <a:p>
                      <a:r>
                        <a:rPr lang="en-AU" sz="1300" b="0">
                          <a:solidFill>
                            <a:srgbClr val="14213D"/>
                          </a:solidFill>
                          <a:latin typeface="Calibri" panose="020F0502020204030204" pitchFamily="34" charset="0"/>
                        </a:rPr>
                        <a:t>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Test</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US" sz="1300" b="0">
                          <a:solidFill>
                            <a:srgbClr val="14213D"/>
                          </a:solidFill>
                          <a:latin typeface="Calibri" panose="020F0502020204030204" pitchFamily="34" charset="0"/>
                        </a:rPr>
                        <a:t>Five scripted test calls together</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Days 5–7</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Us + you</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900771838"/>
                  </a:ext>
                </a:extLst>
              </a:tr>
              <a:tr h="508000">
                <a:tc>
                  <a:txBody>
                    <a:bodyPr/>
                    <a:lstStyle/>
                    <a:p>
                      <a:r>
                        <a:rPr lang="en-AU" sz="1300" b="0">
                          <a:solidFill>
                            <a:srgbClr val="14213D"/>
                          </a:solidFill>
                          <a:latin typeface="Calibri" panose="020F0502020204030204" pitchFamily="34" charset="0"/>
                        </a:rPr>
                        <a:t>6</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Acceptance + go-live</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US" sz="1300" b="0">
                          <a:solidFill>
                            <a:srgbClr val="14213D"/>
                          </a:solidFill>
                          <a:latin typeface="Calibri" panose="020F0502020204030204" pitchFamily="34" charset="0"/>
                        </a:rPr>
                        <a:t>Test booking confirmed in your calendar; forwarding switched on</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Day 7</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You</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2446312814"/>
                  </a:ext>
                </a:extLst>
              </a:tr>
            </a:tbl>
          </a:graphicData>
        </a:graphic>
      </p:graphicFrame>
    </p:spTree>
    <p:extLst>
      <p:ext uri="{BB962C8B-B14F-4D97-AF65-F5344CB8AC3E}">
        <p14:creationId xmlns:p14="http://schemas.microsoft.com/office/powerpoint/2010/main" val="464373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16EBA1-9228-BED2-BFB4-E7A1B2EF92F8}"/>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3</a:t>
            </a:r>
          </a:p>
        </p:txBody>
      </p:sp>
      <p:sp>
        <p:nvSpPr>
          <p:cNvPr id="3" name="TextBox 2">
            <a:extLst>
              <a:ext uri="{FF2B5EF4-FFF2-40B4-BE49-F238E27FC236}">
                <a16:creationId xmlns:a16="http://schemas.microsoft.com/office/drawing/2014/main" id="{C1CEE82A-4BDC-0D4D-7001-B2F976A6CEFF}"/>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What we need from you</a:t>
            </a:r>
            <a:endParaRPr lang="en-AU" sz="3200">
              <a:solidFill>
                <a:srgbClr val="14213D"/>
              </a:solidFill>
              <a:latin typeface="Cambria" panose="02040503050406030204" pitchFamily="18" charset="0"/>
            </a:endParaRPr>
          </a:p>
        </p:txBody>
      </p:sp>
      <p:sp>
        <p:nvSpPr>
          <p:cNvPr id="4" name="TextBox 3">
            <a:extLst>
              <a:ext uri="{FF2B5EF4-FFF2-40B4-BE49-F238E27FC236}">
                <a16:creationId xmlns:a16="http://schemas.microsoft.com/office/drawing/2014/main" id="{63D34FBD-EFB5-E519-F83E-1C10387F4F83}"/>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The setup checklist takes about 30 minutes. No passwords or patient details, please.</a:t>
            </a:r>
            <a:endParaRPr lang="en-AU" sz="1500">
              <a:solidFill>
                <a:srgbClr val="475569"/>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CC25FF49-C45C-B85A-879B-C4865459A775}"/>
              </a:ext>
            </a:extLst>
          </p:cNvPr>
          <p:cNvSpPr/>
          <p:nvPr/>
        </p:nvSpPr>
        <p:spPr>
          <a:xfrm>
            <a:off x="609600" y="1651000"/>
            <a:ext cx="3454400" cy="3683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4B1DB50E-20AC-0CA7-8468-CE0B585D03BE}"/>
              </a:ext>
            </a:extLst>
          </p:cNvPr>
          <p:cNvSpPr/>
          <p:nvPr/>
        </p:nvSpPr>
        <p:spPr>
          <a:xfrm>
            <a:off x="863600" y="18796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1</a:t>
            </a:r>
          </a:p>
        </p:txBody>
      </p:sp>
      <p:sp>
        <p:nvSpPr>
          <p:cNvPr id="7" name="TextBox 6">
            <a:extLst>
              <a:ext uri="{FF2B5EF4-FFF2-40B4-BE49-F238E27FC236}">
                <a16:creationId xmlns:a16="http://schemas.microsoft.com/office/drawing/2014/main" id="{0DF61B6D-B18A-9F9D-53B6-077EA8610336}"/>
              </a:ext>
            </a:extLst>
          </p:cNvPr>
          <p:cNvSpPr txBox="1"/>
          <p:nvPr/>
        </p:nvSpPr>
        <p:spPr>
          <a:xfrm>
            <a:off x="863600" y="2540000"/>
            <a:ext cx="2946400" cy="369332"/>
          </a:xfrm>
          <a:prstGeom prst="rect">
            <a:avLst/>
          </a:prstGeom>
          <a:noFill/>
        </p:spPr>
        <p:txBody>
          <a:bodyPr vert="horz" wrap="square" lIns="0" tIns="0" rIns="0" bIns="0" rtlCol="0">
            <a:noAutofit/>
          </a:bodyPr>
          <a:lstStyle/>
          <a:p>
            <a:pPr>
              <a:spcAft>
                <a:spcPts val="400"/>
              </a:spcAft>
            </a:pPr>
            <a:r>
              <a:rPr lang="en-AU" sz="1700" b="1">
                <a:solidFill>
                  <a:srgbClr val="14213D"/>
                </a:solidFill>
                <a:latin typeface="Calibri" panose="020F0502020204030204" pitchFamily="34" charset="0"/>
              </a:rPr>
              <a:t>Your practice</a:t>
            </a:r>
          </a:p>
        </p:txBody>
      </p:sp>
      <p:sp>
        <p:nvSpPr>
          <p:cNvPr id="8" name="TextBox 7">
            <a:extLst>
              <a:ext uri="{FF2B5EF4-FFF2-40B4-BE49-F238E27FC236}">
                <a16:creationId xmlns:a16="http://schemas.microsoft.com/office/drawing/2014/main" id="{3D92E485-9E11-6071-D841-376198D00AED}"/>
              </a:ext>
            </a:extLst>
          </p:cNvPr>
          <p:cNvSpPr txBox="1"/>
          <p:nvPr/>
        </p:nvSpPr>
        <p:spPr>
          <a:xfrm>
            <a:off x="863600" y="2997200"/>
            <a:ext cx="2946400" cy="369332"/>
          </a:xfrm>
          <a:prstGeom prst="rect">
            <a:avLst/>
          </a:prstGeom>
          <a:noFill/>
        </p:spPr>
        <p:txBody>
          <a:bodyPr vert="horz" wrap="square" lIns="0" tIns="0" rIns="0" bIns="0" rtlCol="0">
            <a:noAutofit/>
          </a:bodyPr>
          <a:lstStyle/>
          <a:p>
            <a:pPr marL="177800" indent="-177800">
              <a:spcAft>
                <a:spcPts val="700"/>
              </a:spcAft>
              <a:buFont typeface="+mj-lt"/>
              <a:buChar char="•"/>
            </a:pPr>
            <a:r>
              <a:rPr lang="en-US" sz="1400">
                <a:solidFill>
                  <a:srgbClr val="14213D"/>
                </a:solidFill>
                <a:latin typeface="Calibri" panose="020F0502020204030204" pitchFamily="34" charset="0"/>
              </a:rPr>
              <a:t>Name as callers should hear it</a:t>
            </a:r>
          </a:p>
          <a:p>
            <a:pPr marL="177800" indent="-177800">
              <a:spcAft>
                <a:spcPts val="700"/>
              </a:spcAft>
              <a:buFont typeface="+mj-lt"/>
              <a:buChar char="•"/>
            </a:pPr>
            <a:r>
              <a:rPr lang="en-US" sz="1400">
                <a:solidFill>
                  <a:srgbClr val="14213D"/>
                </a:solidFill>
                <a:latin typeface="Calibri" panose="020F0502020204030204" pitchFamily="34" charset="0"/>
              </a:rPr>
              <a:t>Opening hours incl. lunch and public holidays</a:t>
            </a:r>
          </a:p>
          <a:p>
            <a:pPr marL="177800" indent="-177800">
              <a:spcAft>
                <a:spcPts val="700"/>
              </a:spcAft>
              <a:buFont typeface="+mj-lt"/>
              <a:buChar char="•"/>
            </a:pPr>
            <a:r>
              <a:rPr lang="en-US" sz="1400">
                <a:solidFill>
                  <a:srgbClr val="14213D"/>
                </a:solidFill>
                <a:latin typeface="Calibri" panose="020F0502020204030204" pitchFamily="34" charset="0"/>
              </a:rPr>
              <a:t>Appointment types with lengths</a:t>
            </a:r>
          </a:p>
          <a:p>
            <a:pPr marL="177800" indent="-177800">
              <a:spcAft>
                <a:spcPts val="700"/>
              </a:spcAft>
              <a:buFont typeface="+mj-lt"/>
              <a:buChar char="•"/>
            </a:pPr>
            <a:r>
              <a:rPr lang="en-US" sz="1400">
                <a:solidFill>
                  <a:srgbClr val="14213D"/>
                </a:solidFill>
                <a:latin typeface="Calibri" panose="020F0502020204030204" pitchFamily="34" charset="0"/>
              </a:rPr>
              <a:t>What a new patient may book</a:t>
            </a:r>
            <a:endParaRPr lang="en-AU" sz="1400">
              <a:solidFill>
                <a:srgbClr val="14213D"/>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B333627D-62DF-3CA3-D017-063F9CF1F88E}"/>
              </a:ext>
            </a:extLst>
          </p:cNvPr>
          <p:cNvSpPr/>
          <p:nvPr/>
        </p:nvSpPr>
        <p:spPr>
          <a:xfrm>
            <a:off x="4318000" y="1651000"/>
            <a:ext cx="3454400" cy="3683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391A488D-8D03-1D33-E8C1-D0D8E84665AB}"/>
              </a:ext>
            </a:extLst>
          </p:cNvPr>
          <p:cNvSpPr/>
          <p:nvPr/>
        </p:nvSpPr>
        <p:spPr>
          <a:xfrm>
            <a:off x="4572000" y="18796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3213C001-A87F-CE8D-2A03-B28D6DB15BD6}"/>
              </a:ext>
            </a:extLst>
          </p:cNvPr>
          <p:cNvSpPr txBox="1"/>
          <p:nvPr/>
        </p:nvSpPr>
        <p:spPr>
          <a:xfrm>
            <a:off x="4572000" y="2540000"/>
            <a:ext cx="2946400" cy="369332"/>
          </a:xfrm>
          <a:prstGeom prst="rect">
            <a:avLst/>
          </a:prstGeom>
          <a:noFill/>
        </p:spPr>
        <p:txBody>
          <a:bodyPr vert="horz" wrap="square" lIns="0" tIns="0" rIns="0" bIns="0" rtlCol="0">
            <a:noAutofit/>
          </a:bodyPr>
          <a:lstStyle/>
          <a:p>
            <a:pPr>
              <a:spcAft>
                <a:spcPts val="400"/>
              </a:spcAft>
            </a:pPr>
            <a:r>
              <a:rPr lang="en-AU" sz="1700" b="1">
                <a:solidFill>
                  <a:srgbClr val="14213D"/>
                </a:solidFill>
                <a:latin typeface="Calibri" panose="020F0502020204030204" pitchFamily="34" charset="0"/>
              </a:rPr>
              <a:t>Calls and calendar</a:t>
            </a:r>
          </a:p>
        </p:txBody>
      </p:sp>
      <p:sp>
        <p:nvSpPr>
          <p:cNvPr id="12" name="TextBox 11">
            <a:extLst>
              <a:ext uri="{FF2B5EF4-FFF2-40B4-BE49-F238E27FC236}">
                <a16:creationId xmlns:a16="http://schemas.microsoft.com/office/drawing/2014/main" id="{79F043BB-E918-7031-A783-9DD8D469408B}"/>
              </a:ext>
            </a:extLst>
          </p:cNvPr>
          <p:cNvSpPr txBox="1"/>
          <p:nvPr/>
        </p:nvSpPr>
        <p:spPr>
          <a:xfrm>
            <a:off x="4572000" y="2997200"/>
            <a:ext cx="2946400" cy="369332"/>
          </a:xfrm>
          <a:prstGeom prst="rect">
            <a:avLst/>
          </a:prstGeom>
          <a:noFill/>
        </p:spPr>
        <p:txBody>
          <a:bodyPr vert="horz" wrap="square" lIns="0" tIns="0" rIns="0" bIns="0" rtlCol="0">
            <a:noAutofit/>
          </a:bodyPr>
          <a:lstStyle/>
          <a:p>
            <a:pPr marL="177800" indent="-177800">
              <a:spcAft>
                <a:spcPts val="700"/>
              </a:spcAft>
              <a:buFont typeface="+mj-lt"/>
              <a:buChar char="•"/>
            </a:pPr>
            <a:r>
              <a:rPr lang="en-US" sz="1400">
                <a:solidFill>
                  <a:srgbClr val="14213D"/>
                </a:solidFill>
                <a:latin typeface="Calibri" panose="020F0502020204030204" pitchFamily="34" charset="0"/>
              </a:rPr>
              <a:t>Google Calendar or Cal.com access</a:t>
            </a:r>
          </a:p>
          <a:p>
            <a:pPr marL="177800" indent="-177800">
              <a:spcAft>
                <a:spcPts val="700"/>
              </a:spcAft>
              <a:buFont typeface="+mj-lt"/>
              <a:buChar char="•"/>
            </a:pPr>
            <a:r>
              <a:rPr lang="en-US" sz="1400">
                <a:solidFill>
                  <a:srgbClr val="14213D"/>
                </a:solidFill>
                <a:latin typeface="Calibri" panose="020F0502020204030204" pitchFamily="34" charset="0"/>
              </a:rPr>
              <a:t>Cover: after hours, overflow, or all calls</a:t>
            </a:r>
          </a:p>
          <a:p>
            <a:pPr marL="177800" indent="-177800">
              <a:spcAft>
                <a:spcPts val="700"/>
              </a:spcAft>
              <a:buFont typeface="+mj-lt"/>
              <a:buChar char="•"/>
            </a:pPr>
            <a:r>
              <a:rPr lang="en-US" sz="1400">
                <a:solidFill>
                  <a:srgbClr val="14213D"/>
                </a:solidFill>
                <a:latin typeface="Calibri" panose="020F0502020204030204" pitchFamily="34" charset="0"/>
              </a:rPr>
              <a:t>Who can change call forwarding</a:t>
            </a:r>
          </a:p>
          <a:p>
            <a:pPr marL="177800" indent="-177800">
              <a:spcAft>
                <a:spcPts val="700"/>
              </a:spcAft>
              <a:buFont typeface="+mj-lt"/>
              <a:buChar char="•"/>
            </a:pPr>
            <a:r>
              <a:rPr lang="en-US" sz="1400">
                <a:solidFill>
                  <a:srgbClr val="14213D"/>
                </a:solidFill>
                <a:latin typeface="Calibri" panose="020F0502020204030204" pitchFamily="34" charset="0"/>
              </a:rPr>
              <a:t>Voicemail stays as a fallback</a:t>
            </a:r>
            <a:endParaRPr lang="en-AU" sz="1400">
              <a:solidFill>
                <a:srgbClr val="14213D"/>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B45182C4-0824-A6D1-F52D-C646E516BAFD}"/>
              </a:ext>
            </a:extLst>
          </p:cNvPr>
          <p:cNvSpPr/>
          <p:nvPr/>
        </p:nvSpPr>
        <p:spPr>
          <a:xfrm>
            <a:off x="8026400" y="1651000"/>
            <a:ext cx="3454400" cy="3683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8429B15B-1B76-8F94-F939-44782380E4CD}"/>
              </a:ext>
            </a:extLst>
          </p:cNvPr>
          <p:cNvSpPr/>
          <p:nvPr/>
        </p:nvSpPr>
        <p:spPr>
          <a:xfrm>
            <a:off x="8280400" y="18796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3</a:t>
            </a:r>
          </a:p>
        </p:txBody>
      </p:sp>
      <p:sp>
        <p:nvSpPr>
          <p:cNvPr id="15" name="TextBox 14">
            <a:extLst>
              <a:ext uri="{FF2B5EF4-FFF2-40B4-BE49-F238E27FC236}">
                <a16:creationId xmlns:a16="http://schemas.microsoft.com/office/drawing/2014/main" id="{70A09689-4C92-5A38-6AB7-FF585D2718AB}"/>
              </a:ext>
            </a:extLst>
          </p:cNvPr>
          <p:cNvSpPr txBox="1"/>
          <p:nvPr/>
        </p:nvSpPr>
        <p:spPr>
          <a:xfrm>
            <a:off x="8280400" y="2540000"/>
            <a:ext cx="2946400" cy="369332"/>
          </a:xfrm>
          <a:prstGeom prst="rect">
            <a:avLst/>
          </a:prstGeom>
          <a:noFill/>
        </p:spPr>
        <p:txBody>
          <a:bodyPr vert="horz" wrap="square" lIns="0" tIns="0" rIns="0" bIns="0" rtlCol="0">
            <a:noAutofit/>
          </a:bodyPr>
          <a:lstStyle/>
          <a:p>
            <a:pPr>
              <a:spcAft>
                <a:spcPts val="400"/>
              </a:spcAft>
            </a:pPr>
            <a:r>
              <a:rPr lang="en-AU" sz="1700" b="1">
                <a:solidFill>
                  <a:srgbClr val="14213D"/>
                </a:solidFill>
                <a:latin typeface="Calibri" panose="020F0502020204030204" pitchFamily="34" charset="0"/>
              </a:rPr>
              <a:t>Urgent and alerts</a:t>
            </a:r>
          </a:p>
        </p:txBody>
      </p:sp>
      <p:sp>
        <p:nvSpPr>
          <p:cNvPr id="16" name="TextBox 15">
            <a:extLst>
              <a:ext uri="{FF2B5EF4-FFF2-40B4-BE49-F238E27FC236}">
                <a16:creationId xmlns:a16="http://schemas.microsoft.com/office/drawing/2014/main" id="{E3041001-A73F-7E4C-04CE-55D418E7AAA4}"/>
              </a:ext>
            </a:extLst>
          </p:cNvPr>
          <p:cNvSpPr txBox="1"/>
          <p:nvPr/>
        </p:nvSpPr>
        <p:spPr>
          <a:xfrm>
            <a:off x="8280400" y="2997200"/>
            <a:ext cx="2946400" cy="369332"/>
          </a:xfrm>
          <a:prstGeom prst="rect">
            <a:avLst/>
          </a:prstGeom>
          <a:noFill/>
        </p:spPr>
        <p:txBody>
          <a:bodyPr vert="horz" wrap="square" lIns="0" tIns="0" rIns="0" bIns="0" rtlCol="0">
            <a:noAutofit/>
          </a:bodyPr>
          <a:lstStyle/>
          <a:p>
            <a:pPr marL="177800" indent="-177800">
              <a:spcAft>
                <a:spcPts val="700"/>
              </a:spcAft>
              <a:buFont typeface="+mj-lt"/>
              <a:buChar char="•"/>
            </a:pPr>
            <a:r>
              <a:rPr lang="en-US" sz="1400">
                <a:solidFill>
                  <a:srgbClr val="14213D"/>
                </a:solidFill>
                <a:latin typeface="Calibri" panose="020F0502020204030204" pitchFamily="34" charset="0"/>
              </a:rPr>
              <a:t>What urgent callers hear after hours</a:t>
            </a:r>
          </a:p>
          <a:p>
            <a:pPr marL="177800" indent="-177800">
              <a:spcAft>
                <a:spcPts val="700"/>
              </a:spcAft>
              <a:buFont typeface="+mj-lt"/>
              <a:buChar char="•"/>
            </a:pPr>
            <a:r>
              <a:rPr lang="en-US" sz="1400">
                <a:solidFill>
                  <a:srgbClr val="14213D"/>
                </a:solidFill>
                <a:latin typeface="Calibri" panose="020F0502020204030204" pitchFamily="34" charset="0"/>
              </a:rPr>
              <a:t>Alert email address(es)</a:t>
            </a:r>
          </a:p>
          <a:p>
            <a:pPr marL="177800" indent="-177800">
              <a:spcAft>
                <a:spcPts val="700"/>
              </a:spcAft>
              <a:buFont typeface="+mj-lt"/>
              <a:buChar char="•"/>
            </a:pPr>
            <a:r>
              <a:rPr lang="en-US" sz="1400">
                <a:solidFill>
                  <a:srgbClr val="14213D"/>
                </a:solidFill>
                <a:latin typeface="Calibri" panose="020F0502020204030204" pitchFamily="34" charset="0"/>
              </a:rPr>
              <a:t>Day-to-day contact</a:t>
            </a:r>
          </a:p>
          <a:p>
            <a:pPr marL="177800" indent="-177800">
              <a:spcAft>
                <a:spcPts val="700"/>
              </a:spcAft>
              <a:buFont typeface="+mj-lt"/>
              <a:buChar char="•"/>
            </a:pPr>
            <a:r>
              <a:rPr lang="en-US" sz="1400">
                <a:solidFill>
                  <a:srgbClr val="14213D"/>
                </a:solidFill>
                <a:latin typeface="Calibri" panose="020F0502020204030204" pitchFamily="34" charset="0"/>
              </a:rPr>
              <a:t>Retention period: 30, 60 or 90 days</a:t>
            </a:r>
            <a:endParaRPr lang="en-AU" sz="1400">
              <a:solidFill>
                <a:srgbClr val="14213D"/>
              </a:solidFill>
              <a:latin typeface="Calibri" panose="020F0502020204030204" pitchFamily="34" charset="0"/>
            </a:endParaRPr>
          </a:p>
        </p:txBody>
      </p:sp>
    </p:spTree>
    <p:extLst>
      <p:ext uri="{BB962C8B-B14F-4D97-AF65-F5344CB8AC3E}">
        <p14:creationId xmlns:p14="http://schemas.microsoft.com/office/powerpoint/2010/main" val="1729907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6FB8D9-A71E-AD62-7809-487D724F59CC}"/>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4</a:t>
            </a:r>
          </a:p>
        </p:txBody>
      </p:sp>
      <p:sp>
        <p:nvSpPr>
          <p:cNvPr id="3" name="TextBox 2">
            <a:extLst>
              <a:ext uri="{FF2B5EF4-FFF2-40B4-BE49-F238E27FC236}">
                <a16:creationId xmlns:a16="http://schemas.microsoft.com/office/drawing/2014/main" id="{2151BF41-8FB9-BFB2-7BE2-D353776220EA}"/>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AU" sz="3200">
                <a:solidFill>
                  <a:srgbClr val="14213D"/>
                </a:solidFill>
                <a:latin typeface="Cambria" panose="02040503050406030204" pitchFamily="18" charset="0"/>
              </a:rPr>
              <a:t>Booked, or booking request?</a:t>
            </a:r>
          </a:p>
        </p:txBody>
      </p:sp>
      <p:sp>
        <p:nvSpPr>
          <p:cNvPr id="4" name="TextBox 3">
            <a:extLst>
              <a:ext uri="{FF2B5EF4-FFF2-40B4-BE49-F238E27FC236}">
                <a16:creationId xmlns:a16="http://schemas.microsoft.com/office/drawing/2014/main" id="{5E4ECA3F-9A0B-D3FC-19D7-2C8C066E3839}"/>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Booked: Google Calendar or Cal.com. Booking request / lead capture: everyone else.</a:t>
            </a:r>
            <a:endParaRPr lang="en-AU" sz="1500">
              <a:solidFill>
                <a:srgbClr val="475569"/>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E3F03ECD-BDFD-2BF0-EB06-E7B63EE663E9}"/>
              </a:ext>
            </a:extLst>
          </p:cNvPr>
          <p:cNvSpPr/>
          <p:nvPr/>
        </p:nvSpPr>
        <p:spPr>
          <a:xfrm>
            <a:off x="609600" y="1651000"/>
            <a:ext cx="5334000" cy="16510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F4687A78-BEC4-B81A-4DDA-03B2422EDBE4}"/>
              </a:ext>
            </a:extLst>
          </p:cNvPr>
          <p:cNvSpPr/>
          <p:nvPr/>
        </p:nvSpPr>
        <p:spPr>
          <a:xfrm>
            <a:off x="838200" y="18796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1</a:t>
            </a:r>
          </a:p>
        </p:txBody>
      </p:sp>
      <p:sp>
        <p:nvSpPr>
          <p:cNvPr id="7" name="TextBox 6">
            <a:extLst>
              <a:ext uri="{FF2B5EF4-FFF2-40B4-BE49-F238E27FC236}">
                <a16:creationId xmlns:a16="http://schemas.microsoft.com/office/drawing/2014/main" id="{C9B502DE-6290-8A79-26C3-DA5CB281786E}"/>
              </a:ext>
            </a:extLst>
          </p:cNvPr>
          <p:cNvSpPr txBox="1"/>
          <p:nvPr/>
        </p:nvSpPr>
        <p:spPr>
          <a:xfrm>
            <a:off x="1549400" y="1905000"/>
            <a:ext cx="4191000" cy="369332"/>
          </a:xfrm>
          <a:prstGeom prst="rect">
            <a:avLst/>
          </a:prstGeom>
          <a:noFill/>
        </p:spPr>
        <p:txBody>
          <a:bodyPr vert="horz" wrap="square" lIns="0" tIns="0" rIns="0" bIns="0" rtlCol="0">
            <a:noAutofit/>
          </a:bodyPr>
          <a:lstStyle/>
          <a:p>
            <a:pPr>
              <a:spcAft>
                <a:spcPts val="400"/>
              </a:spcAft>
            </a:pPr>
            <a:r>
              <a:rPr lang="en-US" sz="1600" b="1">
                <a:solidFill>
                  <a:srgbClr val="14213D"/>
                </a:solidFill>
                <a:latin typeface="Calibri" panose="020F0502020204030204" pitchFamily="34" charset="0"/>
              </a:rPr>
              <a:t>Booked: create or choose the calendar</a:t>
            </a:r>
            <a:endParaRPr lang="en-AU" sz="1600" b="1">
              <a:solidFill>
                <a:srgbClr val="14213D"/>
              </a:solidFill>
              <a:latin typeface="Calibri" panose="020F0502020204030204" pitchFamily="34" charset="0"/>
            </a:endParaRPr>
          </a:p>
        </p:txBody>
      </p:sp>
      <p:sp>
        <p:nvSpPr>
          <p:cNvPr id="8" name="TextBox 7">
            <a:extLst>
              <a:ext uri="{FF2B5EF4-FFF2-40B4-BE49-F238E27FC236}">
                <a16:creationId xmlns:a16="http://schemas.microsoft.com/office/drawing/2014/main" id="{D051E5C9-6417-2C89-C820-56B88397CDCE}"/>
              </a:ext>
            </a:extLst>
          </p:cNvPr>
          <p:cNvSpPr txBox="1"/>
          <p:nvPr/>
        </p:nvSpPr>
        <p:spPr>
          <a:xfrm>
            <a:off x="1549400" y="2286000"/>
            <a:ext cx="4191000" cy="369332"/>
          </a:xfrm>
          <a:prstGeom prst="rect">
            <a:avLst/>
          </a:prstGeom>
          <a:noFill/>
        </p:spPr>
        <p:txBody>
          <a:bodyPr vert="horz" wrap="square" lIns="0" tIns="0" rIns="0" bIns="0" rtlCol="0">
            <a:noAutofit/>
          </a:bodyPr>
          <a:lstStyle/>
          <a:p>
            <a:pPr>
              <a:spcAft>
                <a:spcPts val="400"/>
              </a:spcAft>
            </a:pPr>
            <a:r>
              <a:rPr lang="en-US" sz="1350">
                <a:solidFill>
                  <a:srgbClr val="475569"/>
                </a:solidFill>
                <a:latin typeface="Calibri" panose="020F0502020204030204" pitchFamily="34" charset="0"/>
              </a:rPr>
              <a:t>Your existing Google or Cal.com calendar, or a new dedicated booking calendar.</a:t>
            </a:r>
            <a:endParaRPr lang="en-AU" sz="1350">
              <a:solidFill>
                <a:srgbClr val="475569"/>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9EE3024A-3B70-9F00-4728-7578EBAF250C}"/>
              </a:ext>
            </a:extLst>
          </p:cNvPr>
          <p:cNvSpPr/>
          <p:nvPr/>
        </p:nvSpPr>
        <p:spPr>
          <a:xfrm>
            <a:off x="6197600" y="1651000"/>
            <a:ext cx="5334000" cy="16510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95FE5E73-41D1-7893-F799-6166AB004C4B}"/>
              </a:ext>
            </a:extLst>
          </p:cNvPr>
          <p:cNvSpPr/>
          <p:nvPr/>
        </p:nvSpPr>
        <p:spPr>
          <a:xfrm>
            <a:off x="6426200" y="18796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2</a:t>
            </a:r>
          </a:p>
        </p:txBody>
      </p:sp>
      <p:sp>
        <p:nvSpPr>
          <p:cNvPr id="11" name="TextBox 10">
            <a:extLst>
              <a:ext uri="{FF2B5EF4-FFF2-40B4-BE49-F238E27FC236}">
                <a16:creationId xmlns:a16="http://schemas.microsoft.com/office/drawing/2014/main" id="{C38D01C6-D5D1-C05B-A764-AF5B9FA25602}"/>
              </a:ext>
            </a:extLst>
          </p:cNvPr>
          <p:cNvSpPr txBox="1"/>
          <p:nvPr/>
        </p:nvSpPr>
        <p:spPr>
          <a:xfrm>
            <a:off x="7137400" y="1905000"/>
            <a:ext cx="4191000" cy="369332"/>
          </a:xfrm>
          <a:prstGeom prst="rect">
            <a:avLst/>
          </a:prstGeom>
          <a:noFill/>
        </p:spPr>
        <p:txBody>
          <a:bodyPr vert="horz" wrap="square" lIns="0" tIns="0" rIns="0" bIns="0" rtlCol="0">
            <a:noAutofit/>
          </a:bodyPr>
          <a:lstStyle/>
          <a:p>
            <a:pPr>
              <a:spcAft>
                <a:spcPts val="400"/>
              </a:spcAft>
            </a:pPr>
            <a:r>
              <a:rPr lang="en-AU" sz="1600" b="1">
                <a:solidFill>
                  <a:srgbClr val="14213D"/>
                </a:solidFill>
                <a:latin typeface="Calibri" panose="020F0502020204030204" pitchFamily="34" charset="0"/>
              </a:rPr>
              <a:t>Booked: release the slots</a:t>
            </a:r>
          </a:p>
        </p:txBody>
      </p:sp>
      <p:sp>
        <p:nvSpPr>
          <p:cNvPr id="12" name="TextBox 11">
            <a:extLst>
              <a:ext uri="{FF2B5EF4-FFF2-40B4-BE49-F238E27FC236}">
                <a16:creationId xmlns:a16="http://schemas.microsoft.com/office/drawing/2014/main" id="{E5287D72-FCFB-9EA6-95D6-B1D2791CA914}"/>
              </a:ext>
            </a:extLst>
          </p:cNvPr>
          <p:cNvSpPr txBox="1"/>
          <p:nvPr/>
        </p:nvSpPr>
        <p:spPr>
          <a:xfrm>
            <a:off x="7137400" y="2286000"/>
            <a:ext cx="4191000" cy="369332"/>
          </a:xfrm>
          <a:prstGeom prst="rect">
            <a:avLst/>
          </a:prstGeom>
          <a:noFill/>
        </p:spPr>
        <p:txBody>
          <a:bodyPr vert="horz" wrap="square" lIns="0" tIns="0" rIns="0" bIns="0" rtlCol="0">
            <a:noAutofit/>
          </a:bodyPr>
          <a:lstStyle/>
          <a:p>
            <a:pPr>
              <a:spcAft>
                <a:spcPts val="400"/>
              </a:spcAft>
            </a:pPr>
            <a:r>
              <a:rPr lang="en-US" sz="1350">
                <a:solidFill>
                  <a:srgbClr val="475569"/>
                </a:solidFill>
                <a:latin typeface="Calibri" panose="020F0502020204030204" pitchFamily="34" charset="0"/>
              </a:rPr>
              <a:t>Add the times and appointment types the receptionist may offer. Everything else stays yours.</a:t>
            </a:r>
            <a:endParaRPr lang="en-AU" sz="1350">
              <a:solidFill>
                <a:srgbClr val="475569"/>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6D9482D9-4E15-2182-3BFC-334FBE1EDD22}"/>
              </a:ext>
            </a:extLst>
          </p:cNvPr>
          <p:cNvSpPr/>
          <p:nvPr/>
        </p:nvSpPr>
        <p:spPr>
          <a:xfrm>
            <a:off x="609600" y="3556000"/>
            <a:ext cx="5334000" cy="16510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35032BF9-A136-C412-3483-96E31DC62979}"/>
              </a:ext>
            </a:extLst>
          </p:cNvPr>
          <p:cNvSpPr/>
          <p:nvPr/>
        </p:nvSpPr>
        <p:spPr>
          <a:xfrm>
            <a:off x="838200" y="37846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3</a:t>
            </a:r>
          </a:p>
        </p:txBody>
      </p:sp>
      <p:sp>
        <p:nvSpPr>
          <p:cNvPr id="15" name="TextBox 14">
            <a:extLst>
              <a:ext uri="{FF2B5EF4-FFF2-40B4-BE49-F238E27FC236}">
                <a16:creationId xmlns:a16="http://schemas.microsoft.com/office/drawing/2014/main" id="{996E6AC5-55D1-3713-49C0-4C792D30BFFD}"/>
              </a:ext>
            </a:extLst>
          </p:cNvPr>
          <p:cNvSpPr txBox="1"/>
          <p:nvPr/>
        </p:nvSpPr>
        <p:spPr>
          <a:xfrm>
            <a:off x="1549400" y="3810000"/>
            <a:ext cx="4191000" cy="369332"/>
          </a:xfrm>
          <a:prstGeom prst="rect">
            <a:avLst/>
          </a:prstGeom>
          <a:noFill/>
        </p:spPr>
        <p:txBody>
          <a:bodyPr vert="horz" wrap="square" lIns="0" tIns="0" rIns="0" bIns="0" rtlCol="0">
            <a:noAutofit/>
          </a:bodyPr>
          <a:lstStyle/>
          <a:p>
            <a:pPr>
              <a:spcAft>
                <a:spcPts val="400"/>
              </a:spcAft>
            </a:pPr>
            <a:r>
              <a:rPr lang="en-US" sz="1600" b="1">
                <a:solidFill>
                  <a:srgbClr val="14213D"/>
                </a:solidFill>
                <a:latin typeface="Calibri" panose="020F0502020204030204" pitchFamily="34" charset="0"/>
              </a:rPr>
              <a:t>Grant access from your account</a:t>
            </a:r>
            <a:endParaRPr lang="en-AU" sz="1600" b="1">
              <a:solidFill>
                <a:srgbClr val="14213D"/>
              </a:solidFill>
              <a:latin typeface="Calibri" panose="020F0502020204030204" pitchFamily="34" charset="0"/>
            </a:endParaRPr>
          </a:p>
        </p:txBody>
      </p:sp>
      <p:sp>
        <p:nvSpPr>
          <p:cNvPr id="16" name="TextBox 15">
            <a:extLst>
              <a:ext uri="{FF2B5EF4-FFF2-40B4-BE49-F238E27FC236}">
                <a16:creationId xmlns:a16="http://schemas.microsoft.com/office/drawing/2014/main" id="{D10F870C-B90A-152D-9D38-0FD850386D1B}"/>
              </a:ext>
            </a:extLst>
          </p:cNvPr>
          <p:cNvSpPr txBox="1"/>
          <p:nvPr/>
        </p:nvSpPr>
        <p:spPr>
          <a:xfrm>
            <a:off x="1549400" y="4191000"/>
            <a:ext cx="4191000" cy="369332"/>
          </a:xfrm>
          <a:prstGeom prst="rect">
            <a:avLst/>
          </a:prstGeom>
          <a:noFill/>
        </p:spPr>
        <p:txBody>
          <a:bodyPr vert="horz" wrap="square" lIns="0" tIns="0" rIns="0" bIns="0" rtlCol="0">
            <a:noAutofit/>
          </a:bodyPr>
          <a:lstStyle/>
          <a:p>
            <a:pPr>
              <a:spcAft>
                <a:spcPts val="400"/>
              </a:spcAft>
            </a:pPr>
            <a:r>
              <a:rPr lang="en-US" sz="1350">
                <a:solidFill>
                  <a:srgbClr val="475569"/>
                </a:solidFill>
                <a:latin typeface="Calibri" panose="020F0502020204030204" pitchFamily="34" charset="0"/>
              </a:rPr>
              <a:t>During kickoff, on your screen. We never ask for a password.</a:t>
            </a:r>
            <a:endParaRPr lang="en-AU" sz="1350">
              <a:solidFill>
                <a:srgbClr val="475569"/>
              </a:solidFill>
              <a:latin typeface="Calibri" panose="020F0502020204030204" pitchFamily="34" charset="0"/>
            </a:endParaRPr>
          </a:p>
        </p:txBody>
      </p:sp>
      <p:sp>
        <p:nvSpPr>
          <p:cNvPr id="17" name="Rectangle: Rounded Corners 16">
            <a:extLst>
              <a:ext uri="{FF2B5EF4-FFF2-40B4-BE49-F238E27FC236}">
                <a16:creationId xmlns:a16="http://schemas.microsoft.com/office/drawing/2014/main" id="{4AA2DC26-1B7E-C8BA-2C4A-1B8A2A2BFFD4}"/>
              </a:ext>
            </a:extLst>
          </p:cNvPr>
          <p:cNvSpPr/>
          <p:nvPr/>
        </p:nvSpPr>
        <p:spPr>
          <a:xfrm>
            <a:off x="6197600" y="3556000"/>
            <a:ext cx="5334000" cy="1651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889A7D70-4132-3161-E92B-7BD386A8523F}"/>
              </a:ext>
            </a:extLst>
          </p:cNvPr>
          <p:cNvSpPr/>
          <p:nvPr/>
        </p:nvSpPr>
        <p:spPr>
          <a:xfrm>
            <a:off x="6426200" y="3784600"/>
            <a:ext cx="508000" cy="508000"/>
          </a:xfrm>
          <a:prstGeom prst="ellipse">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500" b="1">
                <a:solidFill>
                  <a:srgbClr val="FFFFFF"/>
                </a:solidFill>
                <a:latin typeface="Calibri" panose="020F0502020204030204" pitchFamily="34" charset="0"/>
              </a:rPr>
              <a:t>4</a:t>
            </a:r>
          </a:p>
        </p:txBody>
      </p:sp>
      <p:sp>
        <p:nvSpPr>
          <p:cNvPr id="19" name="TextBox 18">
            <a:extLst>
              <a:ext uri="{FF2B5EF4-FFF2-40B4-BE49-F238E27FC236}">
                <a16:creationId xmlns:a16="http://schemas.microsoft.com/office/drawing/2014/main" id="{41B2DAD7-6D3C-9FB2-1D76-EBD7631F98B7}"/>
              </a:ext>
            </a:extLst>
          </p:cNvPr>
          <p:cNvSpPr txBox="1"/>
          <p:nvPr/>
        </p:nvSpPr>
        <p:spPr>
          <a:xfrm>
            <a:off x="7137400" y="3810000"/>
            <a:ext cx="4191000" cy="369332"/>
          </a:xfrm>
          <a:prstGeom prst="rect">
            <a:avLst/>
          </a:prstGeom>
          <a:noFill/>
        </p:spPr>
        <p:txBody>
          <a:bodyPr vert="horz" wrap="square" lIns="0" tIns="0" rIns="0" bIns="0" rtlCol="0">
            <a:noAutofit/>
          </a:bodyPr>
          <a:lstStyle/>
          <a:p>
            <a:pPr>
              <a:spcAft>
                <a:spcPts val="400"/>
              </a:spcAft>
            </a:pPr>
            <a:r>
              <a:rPr lang="en-US" sz="1600" b="1">
                <a:solidFill>
                  <a:srgbClr val="14213D"/>
                </a:solidFill>
                <a:latin typeface="Calibri" panose="020F0502020204030204" pitchFamily="34" charset="0"/>
              </a:rPr>
              <a:t>Booking request: no calendar at all</a:t>
            </a:r>
            <a:endParaRPr lang="en-AU" sz="1600" b="1">
              <a:solidFill>
                <a:srgbClr val="14213D"/>
              </a:solidFill>
              <a:latin typeface="Calibri" panose="020F0502020204030204" pitchFamily="34" charset="0"/>
            </a:endParaRPr>
          </a:p>
        </p:txBody>
      </p:sp>
      <p:sp>
        <p:nvSpPr>
          <p:cNvPr id="20" name="TextBox 19">
            <a:extLst>
              <a:ext uri="{FF2B5EF4-FFF2-40B4-BE49-F238E27FC236}">
                <a16:creationId xmlns:a16="http://schemas.microsoft.com/office/drawing/2014/main" id="{4025A201-19C6-327A-BB42-7B146DFDFAC5}"/>
              </a:ext>
            </a:extLst>
          </p:cNvPr>
          <p:cNvSpPr txBox="1"/>
          <p:nvPr/>
        </p:nvSpPr>
        <p:spPr>
          <a:xfrm>
            <a:off x="7137400" y="4191000"/>
            <a:ext cx="4191000" cy="369332"/>
          </a:xfrm>
          <a:prstGeom prst="rect">
            <a:avLst/>
          </a:prstGeom>
          <a:noFill/>
        </p:spPr>
        <p:txBody>
          <a:bodyPr vert="horz" wrap="square" lIns="0" tIns="0" rIns="0" bIns="0" rtlCol="0">
            <a:noAutofit/>
          </a:bodyPr>
          <a:lstStyle/>
          <a:p>
            <a:pPr>
              <a:spcAft>
                <a:spcPts val="400"/>
              </a:spcAft>
            </a:pPr>
            <a:r>
              <a:rPr lang="en-US" sz="1350">
                <a:solidFill>
                  <a:srgbClr val="475569"/>
                </a:solidFill>
                <a:latin typeface="Calibri" panose="020F0502020204030204" pitchFamily="34" charset="0"/>
              </a:rPr>
              <a:t>We don't book directly into Dentally, Core Practice, D4W or similar (Dentally has an API; possible future direct booking, not built yet): the receptionist takes name, number, reason, preferred time. No reference number. Your desk confirms next business morning.</a:t>
            </a:r>
            <a:endParaRPr lang="en-AU" sz="1350">
              <a:solidFill>
                <a:srgbClr val="475569"/>
              </a:solidFill>
              <a:latin typeface="Calibri" panose="020F0502020204030204" pitchFamily="34" charset="0"/>
            </a:endParaRPr>
          </a:p>
        </p:txBody>
      </p:sp>
      <p:sp>
        <p:nvSpPr>
          <p:cNvPr id="21" name="TextBox 20">
            <a:extLst>
              <a:ext uri="{FF2B5EF4-FFF2-40B4-BE49-F238E27FC236}">
                <a16:creationId xmlns:a16="http://schemas.microsoft.com/office/drawing/2014/main" id="{5A2C4DA0-049E-5681-8AB2-CEA9BE0192FC}"/>
              </a:ext>
            </a:extLst>
          </p:cNvPr>
          <p:cNvSpPr txBox="1"/>
          <p:nvPr/>
        </p:nvSpPr>
        <p:spPr>
          <a:xfrm>
            <a:off x="609600" y="5588000"/>
            <a:ext cx="10972800" cy="369332"/>
          </a:xfrm>
          <a:prstGeom prst="rect">
            <a:avLst/>
          </a:prstGeom>
          <a:noFill/>
        </p:spPr>
        <p:txBody>
          <a:bodyPr vert="horz" wrap="square" lIns="0" tIns="0" rIns="0" bIns="0" rtlCol="0">
            <a:noAutofit/>
          </a:bodyPr>
          <a:lstStyle/>
          <a:p>
            <a:pPr>
              <a:spcAft>
                <a:spcPts val="400"/>
              </a:spcAft>
            </a:pPr>
            <a:r>
              <a:rPr lang="en-US" sz="1250" i="1">
                <a:solidFill>
                  <a:srgbClr val="475569"/>
                </a:solidFill>
                <a:latin typeface="Calibri" panose="020F0502020204030204" pitchFamily="34" charset="0"/>
              </a:rPr>
              <a:t>Dentally publishes a public developer API (developer.dentally.co) — possible future direct booking, not offered today. Rescheduling or cancelling earlier bookings becomes a message.</a:t>
            </a:r>
            <a:endParaRPr lang="en-AU" sz="1250" i="1">
              <a:solidFill>
                <a:srgbClr val="475569"/>
              </a:solidFill>
              <a:latin typeface="Calibri" panose="020F0502020204030204" pitchFamily="34" charset="0"/>
            </a:endParaRPr>
          </a:p>
        </p:txBody>
      </p:sp>
    </p:spTree>
    <p:extLst>
      <p:ext uri="{BB962C8B-B14F-4D97-AF65-F5344CB8AC3E}">
        <p14:creationId xmlns:p14="http://schemas.microsoft.com/office/powerpoint/2010/main" val="305102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594358-B210-2080-C74B-B0C90AE705E7}"/>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5</a:t>
            </a:r>
          </a:p>
        </p:txBody>
      </p:sp>
      <p:sp>
        <p:nvSpPr>
          <p:cNvPr id="3" name="TextBox 2">
            <a:extLst>
              <a:ext uri="{FF2B5EF4-FFF2-40B4-BE49-F238E27FC236}">
                <a16:creationId xmlns:a16="http://schemas.microsoft.com/office/drawing/2014/main" id="{93B3A969-5A43-78B2-DABF-B8F864E57A22}"/>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What your callers will hear</a:t>
            </a:r>
            <a:endParaRPr lang="en-AU" sz="3200">
              <a:solidFill>
                <a:srgbClr val="14213D"/>
              </a:solidFill>
              <a:latin typeface="Cambria" panose="02040503050406030204" pitchFamily="18" charset="0"/>
            </a:endParaRPr>
          </a:p>
        </p:txBody>
      </p:sp>
      <p:sp>
        <p:nvSpPr>
          <p:cNvPr id="4" name="Rectangle: Rounded Corners 3">
            <a:extLst>
              <a:ext uri="{FF2B5EF4-FFF2-40B4-BE49-F238E27FC236}">
                <a16:creationId xmlns:a16="http://schemas.microsoft.com/office/drawing/2014/main" id="{896779F0-352A-8A59-388A-1308AF691511}"/>
              </a:ext>
            </a:extLst>
          </p:cNvPr>
          <p:cNvSpPr/>
          <p:nvPr/>
        </p:nvSpPr>
        <p:spPr>
          <a:xfrm>
            <a:off x="609600" y="1524000"/>
            <a:ext cx="6604000" cy="19050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5CD3A1E7-E594-0ECE-A7FA-1DE63C8AD639}"/>
              </a:ext>
            </a:extLst>
          </p:cNvPr>
          <p:cNvSpPr txBox="1"/>
          <p:nvPr/>
        </p:nvSpPr>
        <p:spPr>
          <a:xfrm>
            <a:off x="863600" y="1752600"/>
            <a:ext cx="6096000" cy="369332"/>
          </a:xfrm>
          <a:prstGeom prst="rect">
            <a:avLst/>
          </a:prstGeom>
          <a:noFill/>
        </p:spPr>
        <p:txBody>
          <a:bodyPr vert="horz" wrap="square" lIns="0" tIns="0" rIns="0" bIns="0" rtlCol="0">
            <a:noAutofit/>
          </a:bodyPr>
          <a:lstStyle/>
          <a:p>
            <a:pPr>
              <a:spcAft>
                <a:spcPts val="400"/>
              </a:spcAft>
            </a:pPr>
            <a:r>
              <a:rPr lang="en-US" sz="1500" b="1">
                <a:solidFill>
                  <a:srgbClr val="0F766E"/>
                </a:solidFill>
                <a:latin typeface="Calibri" panose="020F0502020204030204" pitchFamily="34" charset="0"/>
              </a:rPr>
              <a:t>Greeting (we agree the wording today)</a:t>
            </a:r>
          </a:p>
          <a:p>
            <a:pPr>
              <a:spcAft>
                <a:spcPts val="400"/>
              </a:spcAft>
            </a:pPr>
            <a:r>
              <a:rPr lang="en-US" sz="1500">
                <a:solidFill>
                  <a:srgbClr val="14213D"/>
                </a:solidFill>
                <a:latin typeface="Calibri" panose="020F0502020204030204" pitchFamily="34" charset="0"/>
              </a:rPr>
              <a:t>"Thanks for calling [Practice]. This call is recorded. You're speaking with an automated assistant. How can I help?"</a:t>
            </a:r>
            <a:endParaRPr lang="en-AU" sz="1500">
              <a:solidFill>
                <a:srgbClr val="14213D"/>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555A8FB2-3D43-DA56-2EE1-948B4EF74D41}"/>
              </a:ext>
            </a:extLst>
          </p:cNvPr>
          <p:cNvSpPr/>
          <p:nvPr/>
        </p:nvSpPr>
        <p:spPr>
          <a:xfrm>
            <a:off x="609600" y="3683000"/>
            <a:ext cx="6604000" cy="1905000"/>
          </a:xfrm>
          <a:prstGeom prst="roundRect">
            <a:avLst>
              <a:gd name="adj" fmla="val 8000"/>
            </a:avLst>
          </a:prstGeom>
          <a:solidFill>
            <a:srgbClr val="FFFBEB"/>
          </a:solidFill>
          <a:ln w="12700">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39973FF0-BA80-3DF2-97F9-F9C7BF0640F0}"/>
              </a:ext>
            </a:extLst>
          </p:cNvPr>
          <p:cNvSpPr txBox="1"/>
          <p:nvPr/>
        </p:nvSpPr>
        <p:spPr>
          <a:xfrm>
            <a:off x="863600" y="3911600"/>
            <a:ext cx="6096000" cy="369332"/>
          </a:xfrm>
          <a:prstGeom prst="rect">
            <a:avLst/>
          </a:prstGeom>
          <a:noFill/>
        </p:spPr>
        <p:txBody>
          <a:bodyPr vert="horz" wrap="square" lIns="0" tIns="0" rIns="0" bIns="0" rtlCol="0">
            <a:noAutofit/>
          </a:bodyPr>
          <a:lstStyle/>
          <a:p>
            <a:pPr>
              <a:spcAft>
                <a:spcPts val="400"/>
              </a:spcAft>
            </a:pPr>
            <a:r>
              <a:rPr lang="en-US" sz="1500" b="1">
                <a:solidFill>
                  <a:srgbClr val="B45309"/>
                </a:solidFill>
                <a:latin typeface="Calibri" panose="020F0502020204030204" pitchFamily="34" charset="0"/>
              </a:rPr>
              <a:t>Urgent or life-threatening words</a:t>
            </a:r>
          </a:p>
          <a:p>
            <a:pPr>
              <a:spcAft>
                <a:spcPts val="400"/>
              </a:spcAft>
            </a:pPr>
            <a:r>
              <a:rPr lang="en-US" sz="1500">
                <a:solidFill>
                  <a:srgbClr val="14213D"/>
                </a:solidFill>
                <a:latin typeface="Calibri" panose="020F0502020204030204" pitchFamily="34" charset="0"/>
              </a:rPr>
              <a:t>"If you're having trouble breathing or swallowing, or bleeding that won't stop, please hang up and call triple zero, 000." Then it takes an urgent callback message for your team, with the after-hours wording you choose.</a:t>
            </a:r>
            <a:endParaRPr lang="en-AU" sz="1500">
              <a:solidFill>
                <a:srgbClr val="14213D"/>
              </a:solidFill>
              <a:latin typeface="Calibri" panose="020F0502020204030204" pitchFamily="34" charset="0"/>
            </a:endParaRPr>
          </a:p>
        </p:txBody>
      </p:sp>
      <p:sp>
        <p:nvSpPr>
          <p:cNvPr id="8" name="TextBox 7">
            <a:extLst>
              <a:ext uri="{FF2B5EF4-FFF2-40B4-BE49-F238E27FC236}">
                <a16:creationId xmlns:a16="http://schemas.microsoft.com/office/drawing/2014/main" id="{BE8E6590-591B-C6DB-D6A4-ED8DEEB6D2A9}"/>
              </a:ext>
            </a:extLst>
          </p:cNvPr>
          <p:cNvSpPr txBox="1"/>
          <p:nvPr/>
        </p:nvSpPr>
        <p:spPr>
          <a:xfrm>
            <a:off x="7620000" y="1587500"/>
            <a:ext cx="3962400" cy="369332"/>
          </a:xfrm>
          <a:prstGeom prst="rect">
            <a:avLst/>
          </a:prstGeom>
          <a:noFill/>
        </p:spPr>
        <p:txBody>
          <a:bodyPr vert="horz" wrap="square" lIns="0" tIns="0" rIns="0" bIns="0" rtlCol="0">
            <a:noAutofit/>
          </a:bodyPr>
          <a:lstStyle/>
          <a:p>
            <a:pPr marL="177800" indent="-177800">
              <a:spcAft>
                <a:spcPts val="1000"/>
              </a:spcAft>
              <a:buFont typeface="+mj-lt"/>
              <a:buChar char="•"/>
            </a:pPr>
            <a:r>
              <a:rPr lang="en-US" sz="1400">
                <a:solidFill>
                  <a:srgbClr val="14213D"/>
                </a:solidFill>
                <a:latin typeface="Calibri" panose="020F0502020204030204" pitchFamily="34" charset="0"/>
              </a:rPr>
              <a:t>It books only the appointment types and times you release</a:t>
            </a:r>
          </a:p>
          <a:p>
            <a:pPr marL="177800" indent="-177800">
              <a:spcAft>
                <a:spcPts val="1000"/>
              </a:spcAft>
              <a:buFont typeface="+mj-lt"/>
              <a:buChar char="•"/>
            </a:pPr>
            <a:r>
              <a:rPr lang="en-US" sz="1400">
                <a:solidFill>
                  <a:srgbClr val="14213D"/>
                </a:solidFill>
                <a:latin typeface="Calibri" panose="020F0502020204030204" pitchFamily="34" charset="0"/>
              </a:rPr>
              <a:t>It confirms only when your calendar confirms, and reads back a reference</a:t>
            </a:r>
          </a:p>
          <a:p>
            <a:pPr marL="177800" indent="-177800">
              <a:spcAft>
                <a:spcPts val="1000"/>
              </a:spcAft>
              <a:buFont typeface="+mj-lt"/>
              <a:buChar char="•"/>
            </a:pPr>
            <a:r>
              <a:rPr lang="en-US" sz="1400">
                <a:solidFill>
                  <a:srgbClr val="14213D"/>
                </a:solidFill>
                <a:latin typeface="Calibri" panose="020F0502020204030204" pitchFamily="34" charset="0"/>
              </a:rPr>
              <a:t>It asks before sending a text; every text says Reply STOP to opt out</a:t>
            </a:r>
          </a:p>
          <a:p>
            <a:pPr marL="177800" indent="-177800">
              <a:spcAft>
                <a:spcPts val="1000"/>
              </a:spcAft>
              <a:buFont typeface="+mj-lt"/>
              <a:buChar char="•"/>
            </a:pPr>
            <a:r>
              <a:rPr lang="en-US" sz="1400">
                <a:solidFill>
                  <a:srgbClr val="14213D"/>
                </a:solidFill>
                <a:latin typeface="Calibri" panose="020F0502020204030204" pitchFamily="34" charset="0"/>
              </a:rPr>
              <a:t>No clinical advice, no triage, no fees you haven't published</a:t>
            </a:r>
          </a:p>
          <a:p>
            <a:pPr marL="177800" indent="-177800">
              <a:spcAft>
                <a:spcPts val="1000"/>
              </a:spcAft>
              <a:buFont typeface="+mj-lt"/>
              <a:buChar char="•"/>
            </a:pPr>
            <a:r>
              <a:rPr lang="en-US" sz="1400">
                <a:solidFill>
                  <a:srgbClr val="14213D"/>
                </a:solidFill>
                <a:latin typeface="Calibri" panose="020F0502020204030204" pitchFamily="34" charset="0"/>
              </a:rPr>
              <a:t>Asked for a person: it takes a message (no live transfer)</a:t>
            </a:r>
            <a:endParaRPr lang="en-AU" sz="1400">
              <a:solidFill>
                <a:srgbClr val="14213D"/>
              </a:solidFill>
              <a:latin typeface="Calibri" panose="020F0502020204030204" pitchFamily="34" charset="0"/>
            </a:endParaRPr>
          </a:p>
        </p:txBody>
      </p:sp>
    </p:spTree>
    <p:extLst>
      <p:ext uri="{BB962C8B-B14F-4D97-AF65-F5344CB8AC3E}">
        <p14:creationId xmlns:p14="http://schemas.microsoft.com/office/powerpoint/2010/main" val="131997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432738-F536-C7EE-947C-4419729243C0}"/>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6</a:t>
            </a:r>
          </a:p>
        </p:txBody>
      </p:sp>
      <p:sp>
        <p:nvSpPr>
          <p:cNvPr id="3" name="TextBox 2">
            <a:extLst>
              <a:ext uri="{FF2B5EF4-FFF2-40B4-BE49-F238E27FC236}">
                <a16:creationId xmlns:a16="http://schemas.microsoft.com/office/drawing/2014/main" id="{5FAC5F1A-785C-9C00-7D39-54E45673FA2C}"/>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Your privacy policy: suggested wording</a:t>
            </a:r>
            <a:endParaRPr lang="en-AU" sz="3200">
              <a:solidFill>
                <a:srgbClr val="14213D"/>
              </a:solidFill>
              <a:latin typeface="Cambria" panose="02040503050406030204" pitchFamily="18" charset="0"/>
            </a:endParaRPr>
          </a:p>
        </p:txBody>
      </p:sp>
      <p:sp>
        <p:nvSpPr>
          <p:cNvPr id="4" name="TextBox 3">
            <a:extLst>
              <a:ext uri="{FF2B5EF4-FFF2-40B4-BE49-F238E27FC236}">
                <a16:creationId xmlns:a16="http://schemas.microsoft.com/office/drawing/2014/main" id="{581693DC-4DF4-DB8B-5EA0-DCC7D6510084}"/>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Publish before go-live. You own your policy; please have it checked.</a:t>
            </a:r>
            <a:endParaRPr lang="en-AU" sz="1500">
              <a:solidFill>
                <a:srgbClr val="475569"/>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4EEEFD3C-6275-84E6-3D4F-0ACA57E37990}"/>
              </a:ext>
            </a:extLst>
          </p:cNvPr>
          <p:cNvSpPr/>
          <p:nvPr/>
        </p:nvSpPr>
        <p:spPr>
          <a:xfrm>
            <a:off x="609600" y="1524000"/>
            <a:ext cx="10972800" cy="27305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5805D989-02C8-15D3-14D0-C2A75FF5E8C1}"/>
              </a:ext>
            </a:extLst>
          </p:cNvPr>
          <p:cNvSpPr txBox="1"/>
          <p:nvPr/>
        </p:nvSpPr>
        <p:spPr>
          <a:xfrm>
            <a:off x="914400" y="1778000"/>
            <a:ext cx="10363200" cy="369332"/>
          </a:xfrm>
          <a:prstGeom prst="rect">
            <a:avLst/>
          </a:prstGeom>
          <a:noFill/>
        </p:spPr>
        <p:txBody>
          <a:bodyPr vert="horz" wrap="square" lIns="0" tIns="0" rIns="0" bIns="0" rtlCol="0">
            <a:noAutofit/>
          </a:bodyPr>
          <a:lstStyle/>
          <a:p>
            <a:pPr>
              <a:spcAft>
                <a:spcPts val="1000"/>
              </a:spcAft>
            </a:pPr>
            <a:r>
              <a:rPr lang="en-US" sz="1400">
                <a:solidFill>
                  <a:srgbClr val="14213D"/>
                </a:solidFill>
                <a:latin typeface="Calibri" panose="020F0502020204030204" pitchFamily="34" charset="0"/>
              </a:rPr>
              <a:t>"We use an AI receptionist service, provided by M&amp;U Ventures, to answer some phone calls and to book appointments. Calls to that service are recorded and transcribed. We collect only what we need to book or respond to your enquiry, such as your name, phone number and the appointment you want.</a:t>
            </a:r>
          </a:p>
          <a:p>
            <a:pPr>
              <a:spcAft>
                <a:spcPts val="1000"/>
              </a:spcAft>
            </a:pPr>
            <a:r>
              <a:rPr lang="en-US" sz="1400">
                <a:solidFill>
                  <a:srgbClr val="14213D"/>
                </a:solidFill>
                <a:latin typeface="Calibri" panose="020F0502020204030204" pitchFamily="34" charset="0"/>
              </a:rPr>
              <a:t>Your call and booking details are processed by our service providers, some of which are located overseas, including in the United States (Retell AI, Twilio and Anthropic) and [other providers]. Booking records are stored in Australia. We keep call recordings and transcripts for [30/60/90] days.</a:t>
            </a:r>
          </a:p>
          <a:p>
            <a:pPr>
              <a:spcAft>
                <a:spcPts val="1000"/>
              </a:spcAft>
            </a:pPr>
            <a:r>
              <a:rPr lang="en-US" sz="1400">
                <a:solidFill>
                  <a:srgbClr val="14213D"/>
                </a:solidFill>
                <a:latin typeface="Calibri" panose="020F0502020204030204" pitchFamily="34" charset="0"/>
              </a:rPr>
              <a:t>If you agree on the call, we may send you an SMS about your booking. Reply STOP at any time to opt out."</a:t>
            </a:r>
            <a:endParaRPr lang="en-AU" sz="1400">
              <a:solidFill>
                <a:srgbClr val="14213D"/>
              </a:solidFill>
              <a:latin typeface="Calibri" panose="020F0502020204030204" pitchFamily="34" charset="0"/>
            </a:endParaRPr>
          </a:p>
        </p:txBody>
      </p:sp>
      <p:sp>
        <p:nvSpPr>
          <p:cNvPr id="7" name="TextBox 6">
            <a:extLst>
              <a:ext uri="{FF2B5EF4-FFF2-40B4-BE49-F238E27FC236}">
                <a16:creationId xmlns:a16="http://schemas.microsoft.com/office/drawing/2014/main" id="{7E952DEB-0A75-0C81-7755-A40007BD1894}"/>
              </a:ext>
            </a:extLst>
          </p:cNvPr>
          <p:cNvSpPr txBox="1"/>
          <p:nvPr/>
        </p:nvSpPr>
        <p:spPr>
          <a:xfrm>
            <a:off x="609600" y="4445000"/>
            <a:ext cx="10972800" cy="369332"/>
          </a:xfrm>
          <a:prstGeom prst="rect">
            <a:avLst/>
          </a:prstGeom>
          <a:noFill/>
        </p:spPr>
        <p:txBody>
          <a:bodyPr vert="horz" wrap="square" lIns="0" tIns="0" rIns="0" bIns="0" rtlCol="0">
            <a:noAutofit/>
          </a:bodyPr>
          <a:lstStyle/>
          <a:p>
            <a:pPr>
              <a:spcAft>
                <a:spcPts val="400"/>
              </a:spcAft>
            </a:pPr>
            <a:r>
              <a:rPr lang="en-US" sz="1250" i="1">
                <a:solidFill>
                  <a:srgbClr val="475569"/>
                </a:solidFill>
                <a:latin typeface="Calibri" panose="020F0502020204030204" pitchFamily="34" charset="0"/>
              </a:rPr>
              <a:t>Relevant principles: APP 1 (open and transparent management), APP 5 (notification of collection), APP 8 (cross-border disclosure). This is not legal advice.</a:t>
            </a:r>
            <a:endParaRPr lang="en-AU" sz="1250" i="1">
              <a:solidFill>
                <a:srgbClr val="475569"/>
              </a:solidFill>
              <a:latin typeface="Calibri" panose="020F0502020204030204" pitchFamily="34" charset="0"/>
            </a:endParaRPr>
          </a:p>
        </p:txBody>
      </p:sp>
    </p:spTree>
    <p:extLst>
      <p:ext uri="{BB962C8B-B14F-4D97-AF65-F5344CB8AC3E}">
        <p14:creationId xmlns:p14="http://schemas.microsoft.com/office/powerpoint/2010/main" val="530329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3DDE68-0C3B-EAC3-4CA3-8955133D1B3A}"/>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7</a:t>
            </a:r>
          </a:p>
        </p:txBody>
      </p:sp>
      <p:sp>
        <p:nvSpPr>
          <p:cNvPr id="3" name="TextBox 2">
            <a:extLst>
              <a:ext uri="{FF2B5EF4-FFF2-40B4-BE49-F238E27FC236}">
                <a16:creationId xmlns:a16="http://schemas.microsoft.com/office/drawing/2014/main" id="{5A0195F5-AA5C-92F0-32E6-A0CC1BFDBD0D}"/>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Five test calls, then Acceptance</a:t>
            </a:r>
            <a:endParaRPr lang="en-AU" sz="3200">
              <a:solidFill>
                <a:srgbClr val="14213D"/>
              </a:solidFill>
              <a:latin typeface="Cambria" panose="02040503050406030204" pitchFamily="18" charset="0"/>
            </a:endParaRPr>
          </a:p>
        </p:txBody>
      </p:sp>
      <p:graphicFrame>
        <p:nvGraphicFramePr>
          <p:cNvPr id="4" name="Table 3">
            <a:extLst>
              <a:ext uri="{FF2B5EF4-FFF2-40B4-BE49-F238E27FC236}">
                <a16:creationId xmlns:a16="http://schemas.microsoft.com/office/drawing/2014/main" id="{37504405-F7DF-CBE2-456A-407688B10BFC}"/>
              </a:ext>
            </a:extLst>
          </p:cNvPr>
          <p:cNvGraphicFramePr>
            <a:graphicFrameLocks noGrp="1"/>
          </p:cNvGraphicFramePr>
          <p:nvPr>
            <p:extLst>
              <p:ext uri="{D42A27DB-BD31-4B8C-83A1-F6EECF244321}">
                <p14:modId xmlns:p14="http://schemas.microsoft.com/office/powerpoint/2010/main" val="3766783501"/>
              </p:ext>
            </p:extLst>
          </p:nvPr>
        </p:nvGraphicFramePr>
        <p:xfrm>
          <a:off x="609600" y="1460500"/>
          <a:ext cx="10972800" cy="3352800"/>
        </p:xfrm>
        <a:graphic>
          <a:graphicData uri="http://schemas.openxmlformats.org/drawingml/2006/table">
            <a:tbl>
              <a:tblPr firstRow="1" bandRow="1">
                <a:tableStyleId>{5C22544A-7EE6-4342-B048-85BDC9FD1C3A}</a:tableStyleId>
              </a:tblPr>
              <a:tblGrid>
                <a:gridCol w="508000">
                  <a:extLst>
                    <a:ext uri="{9D8B030D-6E8A-4147-A177-3AD203B41FA5}">
                      <a16:colId xmlns:a16="http://schemas.microsoft.com/office/drawing/2014/main" val="1130566474"/>
                    </a:ext>
                  </a:extLst>
                </a:gridCol>
                <a:gridCol w="4191000">
                  <a:extLst>
                    <a:ext uri="{9D8B030D-6E8A-4147-A177-3AD203B41FA5}">
                      <a16:colId xmlns:a16="http://schemas.microsoft.com/office/drawing/2014/main" val="4053249101"/>
                    </a:ext>
                  </a:extLst>
                </a:gridCol>
                <a:gridCol w="6273800">
                  <a:extLst>
                    <a:ext uri="{9D8B030D-6E8A-4147-A177-3AD203B41FA5}">
                      <a16:colId xmlns:a16="http://schemas.microsoft.com/office/drawing/2014/main" val="4288018013"/>
                    </a:ext>
                  </a:extLst>
                </a:gridCol>
              </a:tblGrid>
              <a:tr h="558800">
                <a:tc>
                  <a:txBody>
                    <a:bodyPr/>
                    <a:lstStyle/>
                    <a:p>
                      <a:r>
                        <a:rPr lang="en-AU" sz="1300" b="1">
                          <a:solidFill>
                            <a:srgbClr val="FFFFFF"/>
                          </a:solidFill>
                          <a:latin typeface="Calibri" panose="020F0502020204030204" pitchFamily="34" charset="0"/>
                        </a:rPr>
                        <a:t>#</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Test call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Pass when</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extLst>
                  <a:ext uri="{0D108BD9-81ED-4DB2-BD59-A6C34878D82A}">
                    <a16:rowId xmlns:a16="http://schemas.microsoft.com/office/drawing/2014/main" val="1236333769"/>
                  </a:ext>
                </a:extLst>
              </a:tr>
              <a:tr h="558800">
                <a:tc>
                  <a:txBody>
                    <a:bodyPr/>
                    <a:lstStyle/>
                    <a:p>
                      <a:r>
                        <a:rPr lang="en-AU" sz="1300" b="0">
                          <a:solidFill>
                            <a:srgbClr val="14213D"/>
                          </a:solidFill>
                          <a:latin typeface="Calibri" panose="020F0502020204030204" pitchFamily="34" charset="0"/>
                        </a:rPr>
                        <a:t>1</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Book a new-patient check-up</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US" sz="1300" b="0">
                          <a:solidFill>
                            <a:srgbClr val="14213D"/>
                          </a:solidFill>
                          <a:latin typeface="Calibri" panose="020F0502020204030204" pitchFamily="34" charset="0"/>
                        </a:rPr>
                        <a:t>Booking appears in your calendar with the right time and details; reference read back</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3421773508"/>
                  </a:ext>
                </a:extLst>
              </a:tr>
              <a:tr h="558800">
                <a:tc>
                  <a:txBody>
                    <a:bodyPr/>
                    <a:lstStyle/>
                    <a:p>
                      <a:r>
                        <a:rPr lang="en-AU" sz="1300" b="0">
                          <a:solidFill>
                            <a:srgbClr val="14213D"/>
                          </a:solidFill>
                          <a:latin typeface="Calibri" panose="020F0502020204030204" pitchFamily="34" charset="0"/>
                        </a:rPr>
                        <a:t>2</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US" sz="1300" b="0">
                          <a:solidFill>
                            <a:srgbClr val="14213D"/>
                          </a:solidFill>
                          <a:latin typeface="Calibri" panose="020F0502020204030204" pitchFamily="34" charset="0"/>
                        </a:rPr>
                        <a:t>Ask for a time with no free slots</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US" sz="1300" b="0">
                          <a:solidFill>
                            <a:srgbClr val="14213D"/>
                          </a:solidFill>
                          <a:latin typeface="Calibri" panose="020F0502020204030204" pitchFamily="34" charset="0"/>
                        </a:rPr>
                        <a:t>It offers alternatives or takes a message; never claims a booking</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541651382"/>
                  </a:ext>
                </a:extLst>
              </a:tr>
              <a:tr h="558800">
                <a:tc>
                  <a:txBody>
                    <a:bodyPr/>
                    <a:lstStyle/>
                    <a:p>
                      <a:r>
                        <a:rPr lang="en-AU" sz="1300" b="0">
                          <a:solidFill>
                            <a:srgbClr val="14213D"/>
                          </a:solidFill>
                          <a:latin typeface="Calibri" panose="020F0502020204030204" pitchFamily="34" charset="0"/>
                        </a:rPr>
                        <a:t>3</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US" sz="1300" b="0">
                          <a:solidFill>
                            <a:srgbClr val="14213D"/>
                          </a:solidFill>
                          <a:latin typeface="Calibri" panose="020F0502020204030204" pitchFamily="34" charset="0"/>
                        </a:rPr>
                        <a:t>Say an urgent phrase (e.g. "I can't breathe")</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US" sz="1300" b="0">
                          <a:solidFill>
                            <a:srgbClr val="14213D"/>
                          </a:solidFill>
                          <a:latin typeface="Calibri" panose="020F0502020204030204" pitchFamily="34" charset="0"/>
                        </a:rPr>
                        <a:t>000 line first, then an urgent message and alert</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2776197378"/>
                  </a:ext>
                </a:extLst>
              </a:tr>
              <a:tr h="558800">
                <a:tc>
                  <a:txBody>
                    <a:bodyPr/>
                    <a:lstStyle/>
                    <a:p>
                      <a:r>
                        <a:rPr lang="en-AU" sz="1300" b="0">
                          <a:solidFill>
                            <a:srgbClr val="14213D"/>
                          </a:solidFill>
                          <a:latin typeface="Calibri" panose="020F0502020204030204" pitchFamily="34" charset="0"/>
                        </a:rPr>
                        <a:t>4</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Ask for a person</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US" sz="1300" b="0">
                          <a:solidFill>
                            <a:srgbClr val="14213D"/>
                          </a:solidFill>
                          <a:latin typeface="Calibri" panose="020F0502020204030204" pitchFamily="34" charset="0"/>
                        </a:rPr>
                        <a:t>It takes a message; no transfer promised</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675763661"/>
                  </a:ext>
                </a:extLst>
              </a:tr>
              <a:tr h="558800">
                <a:tc>
                  <a:txBody>
                    <a:bodyPr/>
                    <a:lstStyle/>
                    <a:p>
                      <a:r>
                        <a:rPr lang="en-AU" sz="1300" b="0">
                          <a:solidFill>
                            <a:srgbClr val="14213D"/>
                          </a:solidFill>
                          <a:latin typeface="Calibri" panose="020F0502020204030204" pitchFamily="34" charset="0"/>
                        </a:rPr>
                        <a:t>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US" sz="1300" b="0">
                          <a:solidFill>
                            <a:srgbClr val="14213D"/>
                          </a:solidFill>
                          <a:latin typeface="Calibri" panose="020F0502020204030204" pitchFamily="34" charset="0"/>
                        </a:rPr>
                        <a:t>Change your mind about the time</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US" sz="1300" b="0">
                          <a:solidFill>
                            <a:srgbClr val="14213D"/>
                          </a:solidFill>
                          <a:latin typeface="Calibri" panose="020F0502020204030204" pitchFamily="34" charset="0"/>
                        </a:rPr>
                        <a:t>The same-call booking is moved, not duplicated</a:t>
                      </a:r>
                      <a:endParaRPr lang="en-AU" sz="1300" b="0">
                        <a:solidFill>
                          <a:srgbClr val="14213D"/>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1279507667"/>
                  </a:ext>
                </a:extLst>
              </a:tr>
            </a:tbl>
          </a:graphicData>
        </a:graphic>
      </p:graphicFrame>
      <p:sp>
        <p:nvSpPr>
          <p:cNvPr id="5" name="Rectangle: Rounded Corners 4">
            <a:extLst>
              <a:ext uri="{FF2B5EF4-FFF2-40B4-BE49-F238E27FC236}">
                <a16:creationId xmlns:a16="http://schemas.microsoft.com/office/drawing/2014/main" id="{AA43FBBE-AC7B-42E8-D3A6-DF26DD6A0AC8}"/>
              </a:ext>
            </a:extLst>
          </p:cNvPr>
          <p:cNvSpPr/>
          <p:nvPr/>
        </p:nvSpPr>
        <p:spPr>
          <a:xfrm>
            <a:off x="609600" y="5080000"/>
            <a:ext cx="10972800" cy="7112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BB7F365F-2657-2BC3-67BD-9F9BF64ABC71}"/>
              </a:ext>
            </a:extLst>
          </p:cNvPr>
          <p:cNvSpPr txBox="1"/>
          <p:nvPr/>
        </p:nvSpPr>
        <p:spPr>
          <a:xfrm>
            <a:off x="812800" y="5295900"/>
            <a:ext cx="10566400" cy="381000"/>
          </a:xfrm>
          <a:prstGeom prst="rect">
            <a:avLst/>
          </a:prstGeom>
          <a:noFill/>
        </p:spPr>
        <p:txBody>
          <a:bodyPr vert="horz" wrap="square" lIns="0" tIns="0" rIns="0" bIns="0" rtlCol="0">
            <a:noAutofit/>
          </a:bodyPr>
          <a:lstStyle/>
          <a:p>
            <a:pPr>
              <a:spcAft>
                <a:spcPts val="400"/>
              </a:spcAft>
            </a:pPr>
            <a:r>
              <a:rPr lang="en-US" sz="1500">
                <a:solidFill>
                  <a:srgbClr val="14213D"/>
                </a:solidFill>
                <a:latin typeface="Calibri" panose="020F0502020204030204" pitchFamily="34" charset="0"/>
              </a:rPr>
              <a:t>Acceptance = you confirm calls 1 and 3 in writing. Monthly billing and the minimum term start from that day.</a:t>
            </a:r>
            <a:endParaRPr lang="en-AU" sz="1500">
              <a:solidFill>
                <a:srgbClr val="14213D"/>
              </a:solidFill>
              <a:latin typeface="Calibri" panose="020F0502020204030204" pitchFamily="34" charset="0"/>
            </a:endParaRPr>
          </a:p>
        </p:txBody>
      </p:sp>
    </p:spTree>
    <p:extLst>
      <p:ext uri="{BB962C8B-B14F-4D97-AF65-F5344CB8AC3E}">
        <p14:creationId xmlns:p14="http://schemas.microsoft.com/office/powerpoint/2010/main" val="1640694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6E241C-3452-7A4A-0FF3-119326A05428}"/>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8</a:t>
            </a:r>
          </a:p>
        </p:txBody>
      </p:sp>
      <p:sp>
        <p:nvSpPr>
          <p:cNvPr id="3" name="TextBox 2">
            <a:extLst>
              <a:ext uri="{FF2B5EF4-FFF2-40B4-BE49-F238E27FC236}">
                <a16:creationId xmlns:a16="http://schemas.microsoft.com/office/drawing/2014/main" id="{4EB4140D-1924-B693-CF59-95ACB3BC82DC}"/>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Go-live: you switch on call forwarding</a:t>
            </a:r>
            <a:endParaRPr lang="en-AU" sz="3200">
              <a:solidFill>
                <a:srgbClr val="14213D"/>
              </a:solidFill>
              <a:latin typeface="Cambria" panose="02040503050406030204" pitchFamily="18" charset="0"/>
            </a:endParaRPr>
          </a:p>
        </p:txBody>
      </p:sp>
      <p:sp>
        <p:nvSpPr>
          <p:cNvPr id="4" name="Rectangle: Rounded Corners 3">
            <a:extLst>
              <a:ext uri="{FF2B5EF4-FFF2-40B4-BE49-F238E27FC236}">
                <a16:creationId xmlns:a16="http://schemas.microsoft.com/office/drawing/2014/main" id="{10B1EEC5-FD34-E9C7-F307-506714C9C4AD}"/>
              </a:ext>
            </a:extLst>
          </p:cNvPr>
          <p:cNvSpPr/>
          <p:nvPr/>
        </p:nvSpPr>
        <p:spPr>
          <a:xfrm>
            <a:off x="609600" y="1587500"/>
            <a:ext cx="3454400" cy="2667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D71DCFF5-CB8B-4A9A-12F5-B4E9D00147B1}"/>
              </a:ext>
            </a:extLst>
          </p:cNvPr>
          <p:cNvSpPr txBox="1"/>
          <p:nvPr/>
        </p:nvSpPr>
        <p:spPr>
          <a:xfrm>
            <a:off x="863600" y="1841500"/>
            <a:ext cx="2946400" cy="369332"/>
          </a:xfrm>
          <a:prstGeom prst="rect">
            <a:avLst/>
          </a:prstGeom>
          <a:noFill/>
        </p:spPr>
        <p:txBody>
          <a:bodyPr vert="horz" wrap="square" lIns="0" tIns="0" rIns="0" bIns="0" rtlCol="0">
            <a:noAutofit/>
          </a:bodyPr>
          <a:lstStyle/>
          <a:p>
            <a:pPr>
              <a:spcAft>
                <a:spcPts val="400"/>
              </a:spcAft>
            </a:pPr>
            <a:r>
              <a:rPr lang="en-AU" b="1">
                <a:solidFill>
                  <a:srgbClr val="14213D"/>
                </a:solidFill>
                <a:latin typeface="Calibri" panose="020F0502020204030204" pitchFamily="34" charset="0"/>
              </a:rPr>
              <a:t>After hours</a:t>
            </a:r>
          </a:p>
        </p:txBody>
      </p:sp>
      <p:sp>
        <p:nvSpPr>
          <p:cNvPr id="6" name="TextBox 5">
            <a:extLst>
              <a:ext uri="{FF2B5EF4-FFF2-40B4-BE49-F238E27FC236}">
                <a16:creationId xmlns:a16="http://schemas.microsoft.com/office/drawing/2014/main" id="{11E2D44C-6D96-9769-EFA9-378BE9274430}"/>
              </a:ext>
            </a:extLst>
          </p:cNvPr>
          <p:cNvSpPr txBox="1"/>
          <p:nvPr/>
        </p:nvSpPr>
        <p:spPr>
          <a:xfrm>
            <a:off x="863600" y="2286000"/>
            <a:ext cx="2946400" cy="369332"/>
          </a:xfrm>
          <a:prstGeom prst="rect">
            <a:avLst/>
          </a:prstGeom>
          <a:noFill/>
        </p:spPr>
        <p:txBody>
          <a:bodyPr vert="horz" wrap="square" lIns="0" tIns="0" rIns="0" bIns="0" rtlCol="0">
            <a:noAutofit/>
          </a:bodyPr>
          <a:lstStyle/>
          <a:p>
            <a:pPr>
              <a:spcAft>
                <a:spcPts val="400"/>
              </a:spcAft>
            </a:pPr>
            <a:r>
              <a:rPr lang="en-US" sz="1400">
                <a:solidFill>
                  <a:srgbClr val="475569"/>
                </a:solidFill>
                <a:latin typeface="Calibri" panose="020F0502020204030204" pitchFamily="34" charset="0"/>
              </a:rPr>
              <a:t>Calls outside your opening hours go to the receptionist.</a:t>
            </a:r>
            <a:endParaRPr lang="en-AU" sz="1400">
              <a:solidFill>
                <a:srgbClr val="475569"/>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D9436451-E38B-34B5-062E-95E9FC5CE902}"/>
              </a:ext>
            </a:extLst>
          </p:cNvPr>
          <p:cNvSpPr/>
          <p:nvPr/>
        </p:nvSpPr>
        <p:spPr>
          <a:xfrm>
            <a:off x="863600" y="3619500"/>
            <a:ext cx="1905000" cy="3302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9D26C778-A21B-EFFA-ED74-C0FC4702917A}"/>
              </a:ext>
            </a:extLst>
          </p:cNvPr>
          <p:cNvSpPr txBox="1"/>
          <p:nvPr/>
        </p:nvSpPr>
        <p:spPr>
          <a:xfrm>
            <a:off x="863600" y="3683000"/>
            <a:ext cx="1905000" cy="369332"/>
          </a:xfrm>
          <a:prstGeom prst="rect">
            <a:avLst/>
          </a:prstGeom>
          <a:noFill/>
        </p:spPr>
        <p:txBody>
          <a:bodyPr vert="horz" wrap="square" lIns="0" tIns="0" rIns="0" bIns="0" rtlCol="0">
            <a:noAutofit/>
          </a:bodyPr>
          <a:lstStyle/>
          <a:p>
            <a:pPr algn="ctr">
              <a:spcAft>
                <a:spcPts val="400"/>
              </a:spcAft>
            </a:pPr>
            <a:r>
              <a:rPr lang="en-AU" sz="1100" b="1">
                <a:solidFill>
                  <a:srgbClr val="0F766E"/>
                </a:solidFill>
                <a:latin typeface="Calibri" panose="020F0502020204030204" pitchFamily="34" charset="0"/>
              </a:rPr>
              <a:t>All packages</a:t>
            </a:r>
          </a:p>
        </p:txBody>
      </p:sp>
      <p:sp>
        <p:nvSpPr>
          <p:cNvPr id="9" name="Rectangle: Rounded Corners 8">
            <a:extLst>
              <a:ext uri="{FF2B5EF4-FFF2-40B4-BE49-F238E27FC236}">
                <a16:creationId xmlns:a16="http://schemas.microsoft.com/office/drawing/2014/main" id="{48087748-E71E-2580-7742-0BEA1BB43E32}"/>
              </a:ext>
            </a:extLst>
          </p:cNvPr>
          <p:cNvSpPr/>
          <p:nvPr/>
        </p:nvSpPr>
        <p:spPr>
          <a:xfrm>
            <a:off x="4318000" y="1587500"/>
            <a:ext cx="3454400" cy="2667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24829E2C-C7CF-53EB-03B2-693E5E66F399}"/>
              </a:ext>
            </a:extLst>
          </p:cNvPr>
          <p:cNvSpPr txBox="1"/>
          <p:nvPr/>
        </p:nvSpPr>
        <p:spPr>
          <a:xfrm>
            <a:off x="4572000" y="1841500"/>
            <a:ext cx="2946400" cy="369332"/>
          </a:xfrm>
          <a:prstGeom prst="rect">
            <a:avLst/>
          </a:prstGeom>
          <a:noFill/>
        </p:spPr>
        <p:txBody>
          <a:bodyPr vert="horz" wrap="square" lIns="0" tIns="0" rIns="0" bIns="0" rtlCol="0">
            <a:noAutofit/>
          </a:bodyPr>
          <a:lstStyle/>
          <a:p>
            <a:pPr>
              <a:spcAft>
                <a:spcPts val="400"/>
              </a:spcAft>
            </a:pPr>
            <a:r>
              <a:rPr lang="en-AU" b="1">
                <a:solidFill>
                  <a:srgbClr val="14213D"/>
                </a:solidFill>
                <a:latin typeface="Calibri" panose="020F0502020204030204" pitchFamily="34" charset="0"/>
              </a:rPr>
              <a:t>Overflow: busy / no answer</a:t>
            </a:r>
          </a:p>
        </p:txBody>
      </p:sp>
      <p:sp>
        <p:nvSpPr>
          <p:cNvPr id="11" name="TextBox 10">
            <a:extLst>
              <a:ext uri="{FF2B5EF4-FFF2-40B4-BE49-F238E27FC236}">
                <a16:creationId xmlns:a16="http://schemas.microsoft.com/office/drawing/2014/main" id="{CC0305E9-3F35-B5C8-B69D-72923D51855E}"/>
              </a:ext>
            </a:extLst>
          </p:cNvPr>
          <p:cNvSpPr txBox="1"/>
          <p:nvPr/>
        </p:nvSpPr>
        <p:spPr>
          <a:xfrm>
            <a:off x="4572000" y="2286000"/>
            <a:ext cx="2946400" cy="369332"/>
          </a:xfrm>
          <a:prstGeom prst="rect">
            <a:avLst/>
          </a:prstGeom>
          <a:noFill/>
        </p:spPr>
        <p:txBody>
          <a:bodyPr vert="horz" wrap="square" lIns="0" tIns="0" rIns="0" bIns="0" rtlCol="0">
            <a:noAutofit/>
          </a:bodyPr>
          <a:lstStyle/>
          <a:p>
            <a:pPr>
              <a:spcAft>
                <a:spcPts val="400"/>
              </a:spcAft>
            </a:pPr>
            <a:r>
              <a:rPr lang="en-US" sz="1400">
                <a:solidFill>
                  <a:srgbClr val="475569"/>
                </a:solidFill>
                <a:latin typeface="Calibri" panose="020F0502020204030204" pitchFamily="34" charset="0"/>
              </a:rPr>
              <a:t>Calls you can't pick up within a few rings go to the receptionist.</a:t>
            </a:r>
            <a:endParaRPr lang="en-AU" sz="1400">
              <a:solidFill>
                <a:srgbClr val="475569"/>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BFF80035-CBD1-A9FC-E88D-4367D7825A73}"/>
              </a:ext>
            </a:extLst>
          </p:cNvPr>
          <p:cNvSpPr/>
          <p:nvPr/>
        </p:nvSpPr>
        <p:spPr>
          <a:xfrm>
            <a:off x="4572000" y="3619500"/>
            <a:ext cx="1905000" cy="3302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256E8AAD-32E0-19B0-130F-22396E44698D}"/>
              </a:ext>
            </a:extLst>
          </p:cNvPr>
          <p:cNvSpPr txBox="1"/>
          <p:nvPr/>
        </p:nvSpPr>
        <p:spPr>
          <a:xfrm>
            <a:off x="4572000" y="3683000"/>
            <a:ext cx="1905000" cy="369332"/>
          </a:xfrm>
          <a:prstGeom prst="rect">
            <a:avLst/>
          </a:prstGeom>
          <a:noFill/>
        </p:spPr>
        <p:txBody>
          <a:bodyPr vert="horz" wrap="square" lIns="0" tIns="0" rIns="0" bIns="0" rtlCol="0">
            <a:noAutofit/>
          </a:bodyPr>
          <a:lstStyle/>
          <a:p>
            <a:pPr algn="ctr">
              <a:spcAft>
                <a:spcPts val="400"/>
              </a:spcAft>
            </a:pPr>
            <a:r>
              <a:rPr lang="en-AU" sz="1100" b="1">
                <a:solidFill>
                  <a:srgbClr val="0F766E"/>
                </a:solidFill>
                <a:latin typeface="Calibri" panose="020F0502020204030204" pitchFamily="34" charset="0"/>
              </a:rPr>
              <a:t>All packages</a:t>
            </a:r>
          </a:p>
        </p:txBody>
      </p:sp>
      <p:sp>
        <p:nvSpPr>
          <p:cNvPr id="14" name="Rectangle: Rounded Corners 13">
            <a:extLst>
              <a:ext uri="{FF2B5EF4-FFF2-40B4-BE49-F238E27FC236}">
                <a16:creationId xmlns:a16="http://schemas.microsoft.com/office/drawing/2014/main" id="{62D00056-5150-6ED2-2271-8F043B947FE5}"/>
              </a:ext>
            </a:extLst>
          </p:cNvPr>
          <p:cNvSpPr/>
          <p:nvPr/>
        </p:nvSpPr>
        <p:spPr>
          <a:xfrm>
            <a:off x="8026400" y="1587500"/>
            <a:ext cx="3454400" cy="2667000"/>
          </a:xfrm>
          <a:prstGeom prst="roundRect">
            <a:avLst>
              <a:gd name="adj" fmla="val 8000"/>
            </a:avLst>
          </a:prstGeom>
          <a:solidFill>
            <a:srgbClr val="F1F5F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8578E87F-98B1-4B63-8114-0077D04157F9}"/>
              </a:ext>
            </a:extLst>
          </p:cNvPr>
          <p:cNvSpPr txBox="1"/>
          <p:nvPr/>
        </p:nvSpPr>
        <p:spPr>
          <a:xfrm>
            <a:off x="8280400" y="1841500"/>
            <a:ext cx="2946400" cy="369332"/>
          </a:xfrm>
          <a:prstGeom prst="rect">
            <a:avLst/>
          </a:prstGeom>
          <a:noFill/>
        </p:spPr>
        <p:txBody>
          <a:bodyPr vert="horz" wrap="square" lIns="0" tIns="0" rIns="0" bIns="0" rtlCol="0">
            <a:noAutofit/>
          </a:bodyPr>
          <a:lstStyle/>
          <a:p>
            <a:pPr>
              <a:spcAft>
                <a:spcPts val="400"/>
              </a:spcAft>
            </a:pPr>
            <a:r>
              <a:rPr lang="en-US" b="1">
                <a:solidFill>
                  <a:srgbClr val="14213D"/>
                </a:solidFill>
                <a:latin typeface="Calibri" panose="020F0502020204030204" pitchFamily="34" charset="0"/>
              </a:rPr>
              <a:t>All calls, alongside your team</a:t>
            </a:r>
            <a:endParaRPr lang="en-AU" b="1">
              <a:solidFill>
                <a:srgbClr val="14213D"/>
              </a:solidFill>
              <a:latin typeface="Calibri" panose="020F0502020204030204" pitchFamily="34" charset="0"/>
            </a:endParaRPr>
          </a:p>
        </p:txBody>
      </p:sp>
      <p:sp>
        <p:nvSpPr>
          <p:cNvPr id="16" name="TextBox 15">
            <a:extLst>
              <a:ext uri="{FF2B5EF4-FFF2-40B4-BE49-F238E27FC236}">
                <a16:creationId xmlns:a16="http://schemas.microsoft.com/office/drawing/2014/main" id="{74359A1F-CDF1-7823-8859-D3394D5115CD}"/>
              </a:ext>
            </a:extLst>
          </p:cNvPr>
          <p:cNvSpPr txBox="1"/>
          <p:nvPr/>
        </p:nvSpPr>
        <p:spPr>
          <a:xfrm>
            <a:off x="8280400" y="2286000"/>
            <a:ext cx="2946400" cy="369332"/>
          </a:xfrm>
          <a:prstGeom prst="rect">
            <a:avLst/>
          </a:prstGeom>
          <a:noFill/>
        </p:spPr>
        <p:txBody>
          <a:bodyPr vert="horz" wrap="square" lIns="0" tIns="0" rIns="0" bIns="0" rtlCol="0">
            <a:noAutofit/>
          </a:bodyPr>
          <a:lstStyle/>
          <a:p>
            <a:pPr>
              <a:spcAft>
                <a:spcPts val="400"/>
              </a:spcAft>
            </a:pPr>
            <a:r>
              <a:rPr lang="en-US" sz="1400">
                <a:solidFill>
                  <a:srgbClr val="475569"/>
                </a:solidFill>
                <a:latin typeface="Calibri" panose="020F0502020204030204" pitchFamily="34" charset="0"/>
              </a:rPr>
              <a:t>Every call is answered by the receptionist first.</a:t>
            </a:r>
            <a:endParaRPr lang="en-AU" sz="1400">
              <a:solidFill>
                <a:srgbClr val="475569"/>
              </a:solidFill>
              <a:latin typeface="Calibri" panose="020F0502020204030204" pitchFamily="34" charset="0"/>
            </a:endParaRPr>
          </a:p>
        </p:txBody>
      </p:sp>
      <p:sp>
        <p:nvSpPr>
          <p:cNvPr id="17" name="Rectangle: Rounded Corners 16">
            <a:extLst>
              <a:ext uri="{FF2B5EF4-FFF2-40B4-BE49-F238E27FC236}">
                <a16:creationId xmlns:a16="http://schemas.microsoft.com/office/drawing/2014/main" id="{C638AE05-B120-B458-0E8E-3ECACC718DB9}"/>
              </a:ext>
            </a:extLst>
          </p:cNvPr>
          <p:cNvSpPr/>
          <p:nvPr/>
        </p:nvSpPr>
        <p:spPr>
          <a:xfrm>
            <a:off x="8280400" y="3619500"/>
            <a:ext cx="1905000" cy="3302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A54CA4CE-E1FC-827B-0FF7-A66FE2B2DDB8}"/>
              </a:ext>
            </a:extLst>
          </p:cNvPr>
          <p:cNvSpPr txBox="1"/>
          <p:nvPr/>
        </p:nvSpPr>
        <p:spPr>
          <a:xfrm>
            <a:off x="8280400" y="3683000"/>
            <a:ext cx="1905000" cy="369332"/>
          </a:xfrm>
          <a:prstGeom prst="rect">
            <a:avLst/>
          </a:prstGeom>
          <a:noFill/>
        </p:spPr>
        <p:txBody>
          <a:bodyPr vert="horz" wrap="square" lIns="0" tIns="0" rIns="0" bIns="0" rtlCol="0">
            <a:noAutofit/>
          </a:bodyPr>
          <a:lstStyle/>
          <a:p>
            <a:pPr algn="ctr">
              <a:spcAft>
                <a:spcPts val="400"/>
              </a:spcAft>
            </a:pPr>
            <a:r>
              <a:rPr lang="en-AU" sz="1100" b="1">
                <a:solidFill>
                  <a:srgbClr val="0F766E"/>
                </a:solidFill>
                <a:latin typeface="Calibri" panose="020F0502020204030204" pitchFamily="34" charset="0"/>
              </a:rPr>
              <a:t>Professional, Premium</a:t>
            </a:r>
          </a:p>
        </p:txBody>
      </p:sp>
      <p:sp>
        <p:nvSpPr>
          <p:cNvPr id="19" name="Rectangle: Rounded Corners 18">
            <a:extLst>
              <a:ext uri="{FF2B5EF4-FFF2-40B4-BE49-F238E27FC236}">
                <a16:creationId xmlns:a16="http://schemas.microsoft.com/office/drawing/2014/main" id="{F60BE583-594E-D7A8-D2DC-AA8CA3A54B6E}"/>
              </a:ext>
            </a:extLst>
          </p:cNvPr>
          <p:cNvSpPr/>
          <p:nvPr/>
        </p:nvSpPr>
        <p:spPr>
          <a:xfrm>
            <a:off x="609600" y="4572000"/>
            <a:ext cx="10972800" cy="1016000"/>
          </a:xfrm>
          <a:prstGeom prst="roundRect">
            <a:avLst>
              <a:gd name="adj" fmla="val 8000"/>
            </a:avLst>
          </a:prstGeom>
          <a:solidFill>
            <a:srgbClr val="FFFBEB"/>
          </a:solidFill>
          <a:ln w="12700">
            <a:solidFill>
              <a:srgbClr val="B453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TextBox 19">
            <a:extLst>
              <a:ext uri="{FF2B5EF4-FFF2-40B4-BE49-F238E27FC236}">
                <a16:creationId xmlns:a16="http://schemas.microsoft.com/office/drawing/2014/main" id="{AF252C2E-2C44-65E5-480B-8C68B563A259}"/>
              </a:ext>
            </a:extLst>
          </p:cNvPr>
          <p:cNvSpPr txBox="1"/>
          <p:nvPr/>
        </p:nvSpPr>
        <p:spPr>
          <a:xfrm>
            <a:off x="812800" y="4762500"/>
            <a:ext cx="10566400" cy="369332"/>
          </a:xfrm>
          <a:prstGeom prst="rect">
            <a:avLst/>
          </a:prstGeom>
          <a:noFill/>
        </p:spPr>
        <p:txBody>
          <a:bodyPr vert="horz" wrap="square" lIns="0" tIns="0" rIns="0" bIns="0" rtlCol="0">
            <a:noAutofit/>
          </a:bodyPr>
          <a:lstStyle/>
          <a:p>
            <a:pPr>
              <a:spcAft>
                <a:spcPts val="400"/>
              </a:spcAft>
            </a:pPr>
            <a:r>
              <a:rPr lang="en-US" sz="1400">
                <a:solidFill>
                  <a:srgbClr val="14213D"/>
                </a:solidFill>
                <a:latin typeface="Calibri" panose="020F0502020204030204" pitchFamily="34" charset="0"/>
              </a:rPr>
              <a:t>Cover is set for your practice and tested before it goes live. Rollback, any time: switch forwarding off with your phone provider (exact codes in call-forwarding-guide.md) and your phones work exactly as before. Your number is never changed or ported. Keep your voicemail on as a fallback.</a:t>
            </a:r>
            <a:endParaRPr lang="en-AU" sz="1400">
              <a:solidFill>
                <a:srgbClr val="14213D"/>
              </a:solidFill>
              <a:latin typeface="Calibri" panose="020F0502020204030204" pitchFamily="34" charset="0"/>
            </a:endParaRPr>
          </a:p>
        </p:txBody>
      </p:sp>
    </p:spTree>
    <p:extLst>
      <p:ext uri="{BB962C8B-B14F-4D97-AF65-F5344CB8AC3E}">
        <p14:creationId xmlns:p14="http://schemas.microsoft.com/office/powerpoint/2010/main" val="341703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3AE8BD-CF58-3BE6-C97A-5D2A3947564C}"/>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9</a:t>
            </a:r>
          </a:p>
        </p:txBody>
      </p:sp>
      <p:sp>
        <p:nvSpPr>
          <p:cNvPr id="3" name="TextBox 2">
            <a:extLst>
              <a:ext uri="{FF2B5EF4-FFF2-40B4-BE49-F238E27FC236}">
                <a16:creationId xmlns:a16="http://schemas.microsoft.com/office/drawing/2014/main" id="{ABF8A0B9-3BEE-C273-C118-0A11AC278FFA}"/>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US" sz="3200">
                <a:solidFill>
                  <a:srgbClr val="14213D"/>
                </a:solidFill>
                <a:latin typeface="Cambria" panose="02040503050406030204" pitchFamily="18" charset="0"/>
              </a:rPr>
              <a:t>The first 30 days, and support after that</a:t>
            </a:r>
            <a:endParaRPr lang="en-AU" sz="3200">
              <a:solidFill>
                <a:srgbClr val="14213D"/>
              </a:solidFill>
              <a:latin typeface="Cambria" panose="02040503050406030204" pitchFamily="18" charset="0"/>
            </a:endParaRPr>
          </a:p>
        </p:txBody>
      </p:sp>
      <p:sp>
        <p:nvSpPr>
          <p:cNvPr id="4" name="TextBox 3">
            <a:extLst>
              <a:ext uri="{FF2B5EF4-FFF2-40B4-BE49-F238E27FC236}">
                <a16:creationId xmlns:a16="http://schemas.microsoft.com/office/drawing/2014/main" id="{BF4A6751-0C46-DAD8-1C64-0E7DAF36C74A}"/>
              </a:ext>
            </a:extLst>
          </p:cNvPr>
          <p:cNvSpPr txBox="1"/>
          <p:nvPr/>
        </p:nvSpPr>
        <p:spPr>
          <a:xfrm>
            <a:off x="609600" y="1524000"/>
            <a:ext cx="5080000" cy="369332"/>
          </a:xfrm>
          <a:prstGeom prst="rect">
            <a:avLst/>
          </a:prstGeom>
          <a:noFill/>
        </p:spPr>
        <p:txBody>
          <a:bodyPr vert="horz" wrap="square" lIns="0" tIns="0" rIns="0" bIns="0" rtlCol="0">
            <a:noAutofit/>
          </a:bodyPr>
          <a:lstStyle/>
          <a:p>
            <a:pPr>
              <a:spcAft>
                <a:spcPts val="400"/>
              </a:spcAft>
            </a:pPr>
            <a:r>
              <a:rPr lang="en-AU" b="1">
                <a:solidFill>
                  <a:srgbClr val="0F766E"/>
                </a:solidFill>
                <a:latin typeface="Calibri" panose="020F0502020204030204" pitchFamily="34" charset="0"/>
              </a:rPr>
              <a:t>First 30 days</a:t>
            </a:r>
          </a:p>
        </p:txBody>
      </p:sp>
      <p:sp>
        <p:nvSpPr>
          <p:cNvPr id="5" name="TextBox 4">
            <a:extLst>
              <a:ext uri="{FF2B5EF4-FFF2-40B4-BE49-F238E27FC236}">
                <a16:creationId xmlns:a16="http://schemas.microsoft.com/office/drawing/2014/main" id="{69C4321B-16AC-1807-0230-7D2A91B08E07}"/>
              </a:ext>
            </a:extLst>
          </p:cNvPr>
          <p:cNvSpPr txBox="1"/>
          <p:nvPr/>
        </p:nvSpPr>
        <p:spPr>
          <a:xfrm>
            <a:off x="609600" y="1968500"/>
            <a:ext cx="5080000" cy="369332"/>
          </a:xfrm>
          <a:prstGeom prst="rect">
            <a:avLst/>
          </a:prstGeom>
          <a:noFill/>
        </p:spPr>
        <p:txBody>
          <a:bodyPr vert="horz" wrap="square" lIns="0" tIns="0" rIns="0" bIns="0" rtlCol="0">
            <a:noAutofit/>
          </a:bodyPr>
          <a:lstStyle/>
          <a:p>
            <a:pPr marL="177800" indent="-177800">
              <a:spcAft>
                <a:spcPts val="1000"/>
              </a:spcAft>
              <a:buFont typeface="+mj-lt"/>
              <a:buChar char="•"/>
            </a:pPr>
            <a:r>
              <a:rPr lang="en-US" sz="1400">
                <a:solidFill>
                  <a:srgbClr val="14213D"/>
                </a:solidFill>
                <a:latin typeface="Calibri" panose="020F0502020204030204" pitchFamily="34" charset="0"/>
              </a:rPr>
              <a:t>Days 1–14 after go-live: we review flagged calls daily and send you fix notes</a:t>
            </a:r>
          </a:p>
          <a:p>
            <a:pPr marL="177800" indent="-177800">
              <a:spcAft>
                <a:spcPts val="1000"/>
              </a:spcAft>
              <a:buFont typeface="+mj-lt"/>
              <a:buChar char="•"/>
            </a:pPr>
            <a:r>
              <a:rPr lang="en-US" sz="1400">
                <a:solidFill>
                  <a:srgbClr val="14213D"/>
                </a:solidFill>
                <a:latin typeface="Calibri" panose="020F0502020204030204" pitchFamily="34" charset="0"/>
              </a:rPr>
              <a:t>Week 3: setup review; we tune wording, slots and knowledge</a:t>
            </a:r>
          </a:p>
          <a:p>
            <a:pPr marL="177800" indent="-177800">
              <a:spcAft>
                <a:spcPts val="1000"/>
              </a:spcAft>
              <a:buFont typeface="+mj-lt"/>
              <a:buChar char="•"/>
            </a:pPr>
            <a:r>
              <a:rPr lang="en-US" sz="1400">
                <a:solidFill>
                  <a:srgbClr val="14213D"/>
                </a:solidFill>
                <a:latin typeface="Calibri" panose="020F0502020204030204" pitchFamily="34" charset="0"/>
              </a:rPr>
              <a:t>Premium: 30-day hypercare, then weekly call review</a:t>
            </a:r>
          </a:p>
          <a:p>
            <a:pPr marL="177800" indent="-177800">
              <a:spcAft>
                <a:spcPts val="1000"/>
              </a:spcAft>
              <a:buFont typeface="+mj-lt"/>
              <a:buChar char="•"/>
            </a:pPr>
            <a:r>
              <a:rPr lang="en-US" sz="1400">
                <a:solidFill>
                  <a:srgbClr val="14213D"/>
                </a:solidFill>
                <a:latin typeface="Calibri" panose="020F0502020204030204" pitchFamily="34" charset="0"/>
              </a:rPr>
              <a:t>Monthly usage summary: minutes used, remaining, any extra</a:t>
            </a:r>
            <a:endParaRPr lang="en-AU" sz="1400">
              <a:solidFill>
                <a:srgbClr val="14213D"/>
              </a:solidFill>
              <a:latin typeface="Calibri" panose="020F0502020204030204" pitchFamily="34" charset="0"/>
            </a:endParaRPr>
          </a:p>
        </p:txBody>
      </p:sp>
      <p:graphicFrame>
        <p:nvGraphicFramePr>
          <p:cNvPr id="6" name="Table 5">
            <a:extLst>
              <a:ext uri="{FF2B5EF4-FFF2-40B4-BE49-F238E27FC236}">
                <a16:creationId xmlns:a16="http://schemas.microsoft.com/office/drawing/2014/main" id="{D4E45B6A-1EA9-D074-D8CD-533F5723A3C8}"/>
              </a:ext>
            </a:extLst>
          </p:cNvPr>
          <p:cNvGraphicFramePr>
            <a:graphicFrameLocks noGrp="1"/>
          </p:cNvGraphicFramePr>
          <p:nvPr>
            <p:extLst>
              <p:ext uri="{D42A27DB-BD31-4B8C-83A1-F6EECF244321}">
                <p14:modId xmlns:p14="http://schemas.microsoft.com/office/powerpoint/2010/main" val="4110204751"/>
              </p:ext>
            </p:extLst>
          </p:nvPr>
        </p:nvGraphicFramePr>
        <p:xfrm>
          <a:off x="6096000" y="1587500"/>
          <a:ext cx="5486400" cy="279400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653226064"/>
                    </a:ext>
                  </a:extLst>
                </a:gridCol>
                <a:gridCol w="1397000">
                  <a:extLst>
                    <a:ext uri="{9D8B030D-6E8A-4147-A177-3AD203B41FA5}">
                      <a16:colId xmlns:a16="http://schemas.microsoft.com/office/drawing/2014/main" val="585801500"/>
                    </a:ext>
                  </a:extLst>
                </a:gridCol>
                <a:gridCol w="1397000">
                  <a:extLst>
                    <a:ext uri="{9D8B030D-6E8A-4147-A177-3AD203B41FA5}">
                      <a16:colId xmlns:a16="http://schemas.microsoft.com/office/drawing/2014/main" val="3371949518"/>
                    </a:ext>
                  </a:extLst>
                </a:gridCol>
                <a:gridCol w="1397000">
                  <a:extLst>
                    <a:ext uri="{9D8B030D-6E8A-4147-A177-3AD203B41FA5}">
                      <a16:colId xmlns:a16="http://schemas.microsoft.com/office/drawing/2014/main" val="646522700"/>
                    </a:ext>
                  </a:extLst>
                </a:gridCol>
              </a:tblGrid>
              <a:tr h="558800">
                <a:tc>
                  <a:txBody>
                    <a:bodyPr/>
                    <a:lstStyle/>
                    <a:p>
                      <a:endParaRPr lang="en-AU" sz="1200" b="1">
                        <a:solidFill>
                          <a:srgbClr val="FFFFFF"/>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200" b="1">
                          <a:solidFill>
                            <a:srgbClr val="FFFFFF"/>
                          </a:solidFill>
                          <a:latin typeface="Calibri" panose="020F0502020204030204" pitchFamily="34" charset="0"/>
                        </a:rPr>
                        <a:t>Essential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200" b="1">
                          <a:solidFill>
                            <a:srgbClr val="FFFFFF"/>
                          </a:solidFill>
                          <a:latin typeface="Calibri" panose="020F0502020204030204" pitchFamily="34" charset="0"/>
                        </a:rPr>
                        <a:t>Professional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200" b="1">
                          <a:solidFill>
                            <a:srgbClr val="FFFFFF"/>
                          </a:solidFill>
                          <a:latin typeface="Calibri" panose="020F0502020204030204" pitchFamily="34" charset="0"/>
                        </a:rPr>
                        <a:t>Premium</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extLst>
                  <a:ext uri="{0D108BD9-81ED-4DB2-BD59-A6C34878D82A}">
                    <a16:rowId xmlns:a16="http://schemas.microsoft.com/office/drawing/2014/main" val="4197619989"/>
                  </a:ext>
                </a:extLst>
              </a:tr>
              <a:tr h="558800">
                <a:tc>
                  <a:txBody>
                    <a:bodyPr/>
                    <a:lstStyle/>
                    <a:p>
                      <a:r>
                        <a:rPr lang="en-AU" sz="1200" b="1">
                          <a:solidFill>
                            <a:srgbClr val="14213D"/>
                          </a:solidFill>
                          <a:latin typeface="Calibri" panose="020F0502020204030204" pitchFamily="34" charset="0"/>
                        </a:rPr>
                        <a:t>Hours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00" b="0">
                          <a:solidFill>
                            <a:srgbClr val="14213D"/>
                          </a:solidFill>
                          <a:latin typeface="Calibri" panose="020F0502020204030204" pitchFamily="34" charset="0"/>
                        </a:rPr>
                        <a:t>Mon–Fri 9–5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00" b="0">
                          <a:solidFill>
                            <a:srgbClr val="14213D"/>
                          </a:solidFill>
                          <a:latin typeface="Calibri" panose="020F0502020204030204" pitchFamily="34" charset="0"/>
                        </a:rPr>
                        <a:t>Mon–Fri 9–5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00" b="0">
                          <a:solidFill>
                            <a:srgbClr val="14213D"/>
                          </a:solidFill>
                          <a:latin typeface="Calibri" panose="020F0502020204030204" pitchFamily="34" charset="0"/>
                        </a:rPr>
                        <a:t>Mon–Fri 9–5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781999028"/>
                  </a:ext>
                </a:extLst>
              </a:tr>
              <a:tr h="558800">
                <a:tc>
                  <a:txBody>
                    <a:bodyPr/>
                    <a:lstStyle/>
                    <a:p>
                      <a:r>
                        <a:rPr lang="en-AU" sz="1200" b="1">
                          <a:solidFill>
                            <a:srgbClr val="14213D"/>
                          </a:solidFill>
                          <a:latin typeface="Calibri" panose="020F0502020204030204" pitchFamily="34" charset="0"/>
                        </a:rPr>
                        <a:t>First response</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00" b="0">
                          <a:solidFill>
                            <a:srgbClr val="14213D"/>
                          </a:solidFill>
                          <a:latin typeface="Calibri" panose="020F0502020204030204" pitchFamily="34" charset="0"/>
                        </a:rPr>
                        <a:t>Next business day</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00" b="0">
                          <a:solidFill>
                            <a:srgbClr val="14213D"/>
                          </a:solidFill>
                          <a:latin typeface="Calibri" panose="020F0502020204030204" pitchFamily="34" charset="0"/>
                        </a:rPr>
                        <a:t>Within 4 business hours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00" b="0">
                          <a:solidFill>
                            <a:srgbClr val="14213D"/>
                          </a:solidFill>
                          <a:latin typeface="Calibri" panose="020F0502020204030204" pitchFamily="34" charset="0"/>
                        </a:rPr>
                        <a:t>Within 2 business hours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2575349209"/>
                  </a:ext>
                </a:extLst>
              </a:tr>
              <a:tr h="558800">
                <a:tc>
                  <a:txBody>
                    <a:bodyPr/>
                    <a:lstStyle/>
                    <a:p>
                      <a:r>
                        <a:rPr lang="en-AU" sz="1200" b="1">
                          <a:solidFill>
                            <a:srgbClr val="14213D"/>
                          </a:solidFill>
                          <a:latin typeface="Calibri" panose="020F0502020204030204" pitchFamily="34" charset="0"/>
                        </a:rPr>
                        <a:t>Reviews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00" b="0">
                          <a:solidFill>
                            <a:srgbClr val="14213D"/>
                          </a:solidFill>
                          <a:latin typeface="Calibri" panose="020F0502020204030204" pitchFamily="34" charset="0"/>
                        </a:rPr>
                        <a:t>After 2 weeks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00" b="0">
                          <a:solidFill>
                            <a:srgbClr val="14213D"/>
                          </a:solidFill>
                          <a:latin typeface="Calibri" panose="020F0502020204030204" pitchFamily="34" charset="0"/>
                        </a:rPr>
                        <a:t>Monthly check-in</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200" b="0">
                          <a:solidFill>
                            <a:srgbClr val="14213D"/>
                          </a:solidFill>
                          <a:latin typeface="Calibri" panose="020F0502020204030204" pitchFamily="34" charset="0"/>
                        </a:rPr>
                        <a:t>Monthly optimisation</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4175132397"/>
                  </a:ext>
                </a:extLst>
              </a:tr>
              <a:tr h="558800">
                <a:tc>
                  <a:txBody>
                    <a:bodyPr/>
                    <a:lstStyle/>
                    <a:p>
                      <a:r>
                        <a:rPr lang="en-AU" sz="1200" b="1">
                          <a:solidFill>
                            <a:srgbClr val="14213D"/>
                          </a:solidFill>
                          <a:latin typeface="Calibri" panose="020F0502020204030204" pitchFamily="34" charset="0"/>
                        </a:rPr>
                        <a:t>Channels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00" b="0">
                          <a:solidFill>
                            <a:srgbClr val="14213D"/>
                          </a:solidFill>
                          <a:latin typeface="Calibri" panose="020F0502020204030204" pitchFamily="34" charset="0"/>
                        </a:rPr>
                        <a:t>Email, phone</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00" b="0">
                          <a:solidFill>
                            <a:srgbClr val="14213D"/>
                          </a:solidFill>
                          <a:latin typeface="Calibri" panose="020F0502020204030204" pitchFamily="34" charset="0"/>
                        </a:rPr>
                        <a:t>Email, phone</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200" b="0">
                          <a:solidFill>
                            <a:srgbClr val="14213D"/>
                          </a:solidFill>
                          <a:latin typeface="Calibri" panose="020F0502020204030204" pitchFamily="34" charset="0"/>
                        </a:rPr>
                        <a:t>Email, phone, named contact</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3727677013"/>
                  </a:ext>
                </a:extLst>
              </a:tr>
            </a:tbl>
          </a:graphicData>
        </a:graphic>
      </p:graphicFrame>
      <p:sp>
        <p:nvSpPr>
          <p:cNvPr id="7" name="TextBox 6">
            <a:extLst>
              <a:ext uri="{FF2B5EF4-FFF2-40B4-BE49-F238E27FC236}">
                <a16:creationId xmlns:a16="http://schemas.microsoft.com/office/drawing/2014/main" id="{C5D3EB96-7F2A-9214-D400-29E586FEA736}"/>
              </a:ext>
            </a:extLst>
          </p:cNvPr>
          <p:cNvSpPr txBox="1"/>
          <p:nvPr/>
        </p:nvSpPr>
        <p:spPr>
          <a:xfrm>
            <a:off x="6096000" y="4572000"/>
            <a:ext cx="5486400" cy="369332"/>
          </a:xfrm>
          <a:prstGeom prst="rect">
            <a:avLst/>
          </a:prstGeom>
          <a:noFill/>
        </p:spPr>
        <p:txBody>
          <a:bodyPr vert="horz" wrap="square" lIns="0" tIns="0" rIns="0" bIns="0" rtlCol="0">
            <a:noAutofit/>
          </a:bodyPr>
          <a:lstStyle/>
          <a:p>
            <a:pPr>
              <a:spcAft>
                <a:spcPts val="400"/>
              </a:spcAft>
            </a:pPr>
            <a:r>
              <a:rPr lang="en-US" sz="1200" i="1">
                <a:solidFill>
                  <a:srgbClr val="475569"/>
                </a:solidFill>
                <a:latin typeface="Calibri" panose="020F0502020204030204" pitchFamily="34" charset="0"/>
              </a:rPr>
              <a:t>Sydney time, excluding NSW public holidays. Response targets are targets, not guarantees.</a:t>
            </a:r>
            <a:endParaRPr lang="en-AU" sz="1200" i="1">
              <a:solidFill>
                <a:srgbClr val="475569"/>
              </a:solidFill>
              <a:latin typeface="Calibri" panose="020F0502020204030204" pitchFamily="34" charset="0"/>
            </a:endParaRPr>
          </a:p>
        </p:txBody>
      </p:sp>
    </p:spTree>
    <p:extLst>
      <p:ext uri="{BB962C8B-B14F-4D97-AF65-F5344CB8AC3E}">
        <p14:creationId xmlns:p14="http://schemas.microsoft.com/office/powerpoint/2010/main" val="694902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D3DA3F-9CBD-046E-5EC2-C0965F9DB1D9}"/>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475569"/>
                </a:solidFill>
                <a:latin typeface="Calibri" panose="020F0502020204030204" pitchFamily="34" charset="0"/>
              </a:rPr>
              <a:t>M&amp;U Ventures · 10</a:t>
            </a:r>
          </a:p>
        </p:txBody>
      </p:sp>
      <p:sp>
        <p:nvSpPr>
          <p:cNvPr id="3" name="TextBox 2">
            <a:extLst>
              <a:ext uri="{FF2B5EF4-FFF2-40B4-BE49-F238E27FC236}">
                <a16:creationId xmlns:a16="http://schemas.microsoft.com/office/drawing/2014/main" id="{F34DA62C-4B33-DA15-24AD-3D32101DFB2A}"/>
              </a:ext>
            </a:extLst>
          </p:cNvPr>
          <p:cNvSpPr txBox="1"/>
          <p:nvPr/>
        </p:nvSpPr>
        <p:spPr>
          <a:xfrm>
            <a:off x="609600" y="431800"/>
            <a:ext cx="10972800" cy="369332"/>
          </a:xfrm>
          <a:prstGeom prst="rect">
            <a:avLst/>
          </a:prstGeom>
          <a:noFill/>
        </p:spPr>
        <p:txBody>
          <a:bodyPr vert="horz" wrap="square" lIns="0" tIns="0" rIns="0" bIns="0" rtlCol="0">
            <a:noAutofit/>
          </a:bodyPr>
          <a:lstStyle/>
          <a:p>
            <a:pPr>
              <a:spcAft>
                <a:spcPts val="400"/>
              </a:spcAft>
            </a:pPr>
            <a:r>
              <a:rPr lang="en-AU" sz="3200">
                <a:solidFill>
                  <a:srgbClr val="14213D"/>
                </a:solidFill>
                <a:latin typeface="Cambria" panose="02040503050406030204" pitchFamily="18" charset="0"/>
              </a:rPr>
              <a:t>How your bill works</a:t>
            </a:r>
          </a:p>
        </p:txBody>
      </p:sp>
      <p:sp>
        <p:nvSpPr>
          <p:cNvPr id="4" name="TextBox 3">
            <a:extLst>
              <a:ext uri="{FF2B5EF4-FFF2-40B4-BE49-F238E27FC236}">
                <a16:creationId xmlns:a16="http://schemas.microsoft.com/office/drawing/2014/main" id="{BD3CB40B-FDF2-8DFA-BAA6-47CE49B450B5}"/>
              </a:ext>
            </a:extLst>
          </p:cNvPr>
          <p:cNvSpPr txBox="1"/>
          <p:nvPr/>
        </p:nvSpPr>
        <p:spPr>
          <a:xfrm>
            <a:off x="609600" y="1092200"/>
            <a:ext cx="10972800" cy="369332"/>
          </a:xfrm>
          <a:prstGeom prst="rect">
            <a:avLst/>
          </a:prstGeom>
          <a:noFill/>
        </p:spPr>
        <p:txBody>
          <a:bodyPr vert="horz" wrap="square" lIns="0" tIns="0" rIns="0" bIns="0" rtlCol="0">
            <a:noAutofit/>
          </a:bodyPr>
          <a:lstStyle/>
          <a:p>
            <a:pPr>
              <a:spcAft>
                <a:spcPts val="400"/>
              </a:spcAft>
            </a:pPr>
            <a:r>
              <a:rPr lang="en-US" sz="1500">
                <a:solidFill>
                  <a:srgbClr val="475569"/>
                </a:solidFill>
                <a:latin typeface="Calibri" panose="020F0502020204030204" pitchFamily="34" charset="0"/>
              </a:rPr>
              <a:t>Prices ex GST, + 10% GST (M&amp;U is GST registered). Setup: quoted separately once approved.</a:t>
            </a:r>
            <a:endParaRPr lang="en-AU" sz="1500">
              <a:solidFill>
                <a:srgbClr val="475569"/>
              </a:solidFill>
              <a:latin typeface="Calibri" panose="020F0502020204030204" pitchFamily="34" charset="0"/>
            </a:endParaRPr>
          </a:p>
        </p:txBody>
      </p:sp>
      <p:graphicFrame>
        <p:nvGraphicFramePr>
          <p:cNvPr id="5" name="Table 4">
            <a:extLst>
              <a:ext uri="{FF2B5EF4-FFF2-40B4-BE49-F238E27FC236}">
                <a16:creationId xmlns:a16="http://schemas.microsoft.com/office/drawing/2014/main" id="{17C3D409-A1F1-FE86-DC27-C482AFA7C5FE}"/>
              </a:ext>
            </a:extLst>
          </p:cNvPr>
          <p:cNvGraphicFramePr>
            <a:graphicFrameLocks noGrp="1"/>
          </p:cNvGraphicFramePr>
          <p:nvPr>
            <p:extLst>
              <p:ext uri="{D42A27DB-BD31-4B8C-83A1-F6EECF244321}">
                <p14:modId xmlns:p14="http://schemas.microsoft.com/office/powerpoint/2010/main" val="4013326036"/>
              </p:ext>
            </p:extLst>
          </p:nvPr>
        </p:nvGraphicFramePr>
        <p:xfrm>
          <a:off x="609600" y="1498600"/>
          <a:ext cx="6604000" cy="2159000"/>
        </p:xfrm>
        <a:graphic>
          <a:graphicData uri="http://schemas.openxmlformats.org/drawingml/2006/table">
            <a:tbl>
              <a:tblPr firstRow="1" bandRow="1">
                <a:tableStyleId>{5C22544A-7EE6-4342-B048-85BDC9FD1C3A}</a:tableStyleId>
              </a:tblPr>
              <a:tblGrid>
                <a:gridCol w="2159000">
                  <a:extLst>
                    <a:ext uri="{9D8B030D-6E8A-4147-A177-3AD203B41FA5}">
                      <a16:colId xmlns:a16="http://schemas.microsoft.com/office/drawing/2014/main" val="3763128332"/>
                    </a:ext>
                  </a:extLst>
                </a:gridCol>
                <a:gridCol w="1473200">
                  <a:extLst>
                    <a:ext uri="{9D8B030D-6E8A-4147-A177-3AD203B41FA5}">
                      <a16:colId xmlns:a16="http://schemas.microsoft.com/office/drawing/2014/main" val="712078544"/>
                    </a:ext>
                  </a:extLst>
                </a:gridCol>
                <a:gridCol w="1498600">
                  <a:extLst>
                    <a:ext uri="{9D8B030D-6E8A-4147-A177-3AD203B41FA5}">
                      <a16:colId xmlns:a16="http://schemas.microsoft.com/office/drawing/2014/main" val="3216568742"/>
                    </a:ext>
                  </a:extLst>
                </a:gridCol>
                <a:gridCol w="1473200">
                  <a:extLst>
                    <a:ext uri="{9D8B030D-6E8A-4147-A177-3AD203B41FA5}">
                      <a16:colId xmlns:a16="http://schemas.microsoft.com/office/drawing/2014/main" val="3476969530"/>
                    </a:ext>
                  </a:extLst>
                </a:gridCol>
              </a:tblGrid>
              <a:tr h="431800">
                <a:tc>
                  <a:txBody>
                    <a:bodyPr/>
                    <a:lstStyle/>
                    <a:p>
                      <a:endParaRPr lang="en-AU" sz="1300" b="1">
                        <a:solidFill>
                          <a:srgbClr val="FFFFFF"/>
                        </a:solidFill>
                        <a:latin typeface="Calibri" panose="020F0502020204030204" pitchFamily="34" charset="0"/>
                      </a:endParaRP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Essential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Professional</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tc>
                  <a:txBody>
                    <a:bodyPr/>
                    <a:lstStyle/>
                    <a:p>
                      <a:r>
                        <a:rPr lang="en-AU" sz="1300" b="1">
                          <a:solidFill>
                            <a:srgbClr val="FFFFFF"/>
                          </a:solidFill>
                          <a:latin typeface="Calibri" panose="020F0502020204030204" pitchFamily="34" charset="0"/>
                        </a:rPr>
                        <a:t>Premium</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14213D"/>
                    </a:solidFill>
                  </a:tcPr>
                </a:tc>
                <a:extLst>
                  <a:ext uri="{0D108BD9-81ED-4DB2-BD59-A6C34878D82A}">
                    <a16:rowId xmlns:a16="http://schemas.microsoft.com/office/drawing/2014/main" val="228048226"/>
                  </a:ext>
                </a:extLst>
              </a:tr>
              <a:tr h="431800">
                <a:tc>
                  <a:txBody>
                    <a:bodyPr/>
                    <a:lstStyle/>
                    <a:p>
                      <a:r>
                        <a:rPr lang="en-AU" sz="1300" b="1">
                          <a:solidFill>
                            <a:srgbClr val="14213D"/>
                          </a:solidFill>
                          <a:latin typeface="Calibri" panose="020F0502020204030204" pitchFamily="34" charset="0"/>
                        </a:rPr>
                        <a:t>Monthly (in advance)</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A$699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A$1,099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A$1,999</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184615585"/>
                  </a:ext>
                </a:extLst>
              </a:tr>
              <a:tr h="431800">
                <a:tc>
                  <a:txBody>
                    <a:bodyPr/>
                    <a:lstStyle/>
                    <a:p>
                      <a:r>
                        <a:rPr lang="en-AU" sz="1300" b="1">
                          <a:solidFill>
                            <a:srgbClr val="14213D"/>
                          </a:solidFill>
                          <a:latin typeface="Calibri" panose="020F0502020204030204" pitchFamily="34" charset="0"/>
                        </a:rPr>
                        <a:t>Included minutes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400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1,000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1,800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51236579"/>
                  </a:ext>
                </a:extLst>
              </a:tr>
              <a:tr h="431800">
                <a:tc>
                  <a:txBody>
                    <a:bodyPr/>
                    <a:lstStyle/>
                    <a:p>
                      <a:r>
                        <a:rPr lang="en-AU" sz="1300" b="1">
                          <a:solidFill>
                            <a:srgbClr val="14213D"/>
                          </a:solidFill>
                          <a:latin typeface="Calibri" panose="020F0502020204030204" pitchFamily="34" charset="0"/>
                        </a:rPr>
                        <a:t>Extra minute (in arrears)</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A$0.80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A$0.75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tc>
                  <a:txBody>
                    <a:bodyPr/>
                    <a:lstStyle/>
                    <a:p>
                      <a:r>
                        <a:rPr lang="en-AU" sz="1300" b="0">
                          <a:solidFill>
                            <a:srgbClr val="14213D"/>
                          </a:solidFill>
                          <a:latin typeface="Calibri" panose="020F0502020204030204" pitchFamily="34" charset="0"/>
                        </a:rPr>
                        <a:t>A$0.70</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1F5F9"/>
                    </a:solidFill>
                  </a:tcPr>
                </a:tc>
                <a:extLst>
                  <a:ext uri="{0D108BD9-81ED-4DB2-BD59-A6C34878D82A}">
                    <a16:rowId xmlns:a16="http://schemas.microsoft.com/office/drawing/2014/main" val="215765248"/>
                  </a:ext>
                </a:extLst>
              </a:tr>
              <a:tr h="431800">
                <a:tc>
                  <a:txBody>
                    <a:bodyPr/>
                    <a:lstStyle/>
                    <a:p>
                      <a:r>
                        <a:rPr lang="en-AU" sz="1300" b="1">
                          <a:solidFill>
                            <a:srgbClr val="14213D"/>
                          </a:solidFill>
                          <a:latin typeface="Calibri" panose="020F0502020204030204" pitchFamily="34" charset="0"/>
                        </a:rPr>
                        <a:t>Included SMS / extra</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200 / A$0.15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600 / A$0.15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tc>
                  <a:txBody>
                    <a:bodyPr/>
                    <a:lstStyle/>
                    <a:p>
                      <a:r>
                        <a:rPr lang="en-AU" sz="1300" b="0">
                          <a:solidFill>
                            <a:srgbClr val="14213D"/>
                          </a:solidFill>
                          <a:latin typeface="Calibri" panose="020F0502020204030204" pitchFamily="34" charset="0"/>
                        </a:rPr>
                        <a:t>1,200 / A$0.15</a:t>
                      </a:r>
                    </a:p>
                  </a:txBody>
                  <a:tcPr marL="76200" marR="76200" marT="38100" marB="38100">
                    <a:lnL w="9525" cmpd="sng">
                      <a:solidFill>
                        <a:srgbClr val="CBD5E1"/>
                      </a:solidFill>
                    </a:lnL>
                    <a:lnR w="9525" cmpd="sng">
                      <a:solidFill>
                        <a:srgbClr val="CBD5E1"/>
                      </a:solidFill>
                    </a:lnR>
                    <a:lnT w="9525" cmpd="sng">
                      <a:solidFill>
                        <a:srgbClr val="CBD5E1"/>
                      </a:solidFill>
                    </a:lnT>
                    <a:lnB w="9525" cmpd="sng">
                      <a:solidFill>
                        <a:srgbClr val="CBD5E1"/>
                      </a:solidFill>
                    </a:lnB>
                    <a:solidFill>
                      <a:srgbClr val="FFFFFF"/>
                    </a:solidFill>
                  </a:tcPr>
                </a:tc>
                <a:extLst>
                  <a:ext uri="{0D108BD9-81ED-4DB2-BD59-A6C34878D82A}">
                    <a16:rowId xmlns:a16="http://schemas.microsoft.com/office/drawing/2014/main" val="1279856834"/>
                  </a:ext>
                </a:extLst>
              </a:tr>
            </a:tbl>
          </a:graphicData>
        </a:graphic>
      </p:graphicFrame>
      <p:sp>
        <p:nvSpPr>
          <p:cNvPr id="6" name="Rectangle: Rounded Corners 5">
            <a:extLst>
              <a:ext uri="{FF2B5EF4-FFF2-40B4-BE49-F238E27FC236}">
                <a16:creationId xmlns:a16="http://schemas.microsoft.com/office/drawing/2014/main" id="{77CE10A5-28C3-A9CC-CC44-6D796264C567}"/>
              </a:ext>
            </a:extLst>
          </p:cNvPr>
          <p:cNvSpPr/>
          <p:nvPr/>
        </p:nvSpPr>
        <p:spPr>
          <a:xfrm>
            <a:off x="609600" y="3810000"/>
            <a:ext cx="6604000" cy="1905000"/>
          </a:xfrm>
          <a:prstGeom prst="roundRect">
            <a:avLst>
              <a:gd name="adj" fmla="val 8000"/>
            </a:avLst>
          </a:prstGeom>
          <a:solidFill>
            <a:srgbClr val="CCFBF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610AC57C-05D8-E37A-B981-2A4AD815BE13}"/>
              </a:ext>
            </a:extLst>
          </p:cNvPr>
          <p:cNvSpPr txBox="1"/>
          <p:nvPr/>
        </p:nvSpPr>
        <p:spPr>
          <a:xfrm>
            <a:off x="812800" y="3937000"/>
            <a:ext cx="6197600" cy="369332"/>
          </a:xfrm>
          <a:prstGeom prst="rect">
            <a:avLst/>
          </a:prstGeom>
          <a:noFill/>
        </p:spPr>
        <p:txBody>
          <a:bodyPr vert="horz" wrap="square" lIns="0" tIns="0" rIns="0" bIns="0" rtlCol="0">
            <a:noAutofit/>
          </a:bodyPr>
          <a:lstStyle/>
          <a:p>
            <a:pPr>
              <a:spcAft>
                <a:spcPts val="400"/>
              </a:spcAft>
            </a:pPr>
            <a:r>
              <a:rPr lang="en-AU" sz="1400" b="1">
                <a:solidFill>
                  <a:srgbClr val="14213D"/>
                </a:solidFill>
                <a:latin typeface="Calibri" panose="020F0502020204030204" pitchFamily="34" charset="0"/>
              </a:rPr>
              <a:t>Invoice example: Professional, 1,200 billable minutes</a:t>
            </a:r>
          </a:p>
        </p:txBody>
      </p:sp>
      <p:sp>
        <p:nvSpPr>
          <p:cNvPr id="8" name="TextBox 7">
            <a:extLst>
              <a:ext uri="{FF2B5EF4-FFF2-40B4-BE49-F238E27FC236}">
                <a16:creationId xmlns:a16="http://schemas.microsoft.com/office/drawing/2014/main" id="{C9103183-DCAA-16FF-F31B-5347FEFAF5B3}"/>
              </a:ext>
            </a:extLst>
          </p:cNvPr>
          <p:cNvSpPr txBox="1"/>
          <p:nvPr/>
        </p:nvSpPr>
        <p:spPr>
          <a:xfrm>
            <a:off x="812800" y="4267200"/>
            <a:ext cx="6197600" cy="369332"/>
          </a:xfrm>
          <a:prstGeom prst="rect">
            <a:avLst/>
          </a:prstGeom>
          <a:noFill/>
        </p:spPr>
        <p:txBody>
          <a:bodyPr vert="horz" wrap="square" lIns="0" tIns="0" rIns="0" bIns="0" rtlCol="0">
            <a:noAutofit/>
          </a:bodyPr>
          <a:lstStyle/>
          <a:p>
            <a:pPr marL="177800" indent="-177800">
              <a:spcAft>
                <a:spcPts val="400"/>
              </a:spcAft>
              <a:buFont typeface="+mj-lt"/>
              <a:buChar char="•"/>
            </a:pPr>
            <a:r>
              <a:rPr lang="en-US" sz="1300">
                <a:solidFill>
                  <a:srgbClr val="14213D"/>
                </a:solidFill>
                <a:latin typeface="Calibri" panose="020F0502020204030204" pitchFamily="34" charset="0"/>
              </a:rPr>
              <a:t>Monthly fee A$1,099.00 + extra minutes 200 × A$0.75 = A$1,249.00 ex GST</a:t>
            </a:r>
          </a:p>
          <a:p>
            <a:pPr marL="177800" indent="-177800">
              <a:spcAft>
                <a:spcPts val="400"/>
              </a:spcAft>
              <a:buFont typeface="+mj-lt"/>
              <a:buChar char="•"/>
            </a:pPr>
            <a:r>
              <a:rPr lang="en-US" sz="1300">
                <a:solidFill>
                  <a:srgbClr val="14213D"/>
                </a:solidFill>
                <a:latin typeface="Calibri" panose="020F0502020204030204" pitchFamily="34" charset="0"/>
              </a:rPr>
              <a:t>GST A$124.90 · total A$1,373.90 incl. GST</a:t>
            </a:r>
          </a:p>
          <a:p>
            <a:pPr marL="177800" indent="-177800">
              <a:spcAft>
                <a:spcPts val="400"/>
              </a:spcAft>
              <a:buFont typeface="+mj-lt"/>
              <a:buChar char="•"/>
            </a:pPr>
            <a:r>
              <a:rPr lang="en-US" sz="1300">
                <a:solidFill>
                  <a:srgbClr val="14213D"/>
                </a:solidFill>
                <a:latin typeface="Calibri" panose="020F0502020204030204" pitchFamily="34" charset="0"/>
              </a:rPr>
              <a:t>No setup line. Transfer minutes are not charged.</a:t>
            </a:r>
            <a:endParaRPr lang="en-AU" sz="1300">
              <a:solidFill>
                <a:srgbClr val="14213D"/>
              </a:solidFill>
              <a:latin typeface="Calibri" panose="020F0502020204030204" pitchFamily="34" charset="0"/>
            </a:endParaRPr>
          </a:p>
        </p:txBody>
      </p:sp>
      <p:sp>
        <p:nvSpPr>
          <p:cNvPr id="9" name="TextBox 8">
            <a:extLst>
              <a:ext uri="{FF2B5EF4-FFF2-40B4-BE49-F238E27FC236}">
                <a16:creationId xmlns:a16="http://schemas.microsoft.com/office/drawing/2014/main" id="{0C0AC872-FE4C-34FC-00B8-58ABAC5E0214}"/>
              </a:ext>
            </a:extLst>
          </p:cNvPr>
          <p:cNvSpPr txBox="1"/>
          <p:nvPr/>
        </p:nvSpPr>
        <p:spPr>
          <a:xfrm>
            <a:off x="7620000" y="1498600"/>
            <a:ext cx="3962400" cy="369332"/>
          </a:xfrm>
          <a:prstGeom prst="rect">
            <a:avLst/>
          </a:prstGeom>
          <a:noFill/>
        </p:spPr>
        <p:txBody>
          <a:bodyPr vert="horz" wrap="square" lIns="0" tIns="0" rIns="0" bIns="0" rtlCol="0">
            <a:noAutofit/>
          </a:bodyPr>
          <a:lstStyle/>
          <a:p>
            <a:pPr marL="177800" indent="-177800">
              <a:spcAft>
                <a:spcPts val="900"/>
              </a:spcAft>
              <a:buFont typeface="+mj-lt"/>
              <a:buChar char="•"/>
            </a:pPr>
            <a:r>
              <a:rPr lang="en-US" sz="1350">
                <a:solidFill>
                  <a:srgbClr val="14213D"/>
                </a:solidFill>
                <a:latin typeface="Calibri" panose="020F0502020204030204" pitchFamily="34" charset="0"/>
              </a:rPr>
              <a:t>Minutes are counted by the second, added up over the month and rounded up to a whole minute once</a:t>
            </a:r>
          </a:p>
          <a:p>
            <a:pPr marL="177800" indent="-177800">
              <a:spcAft>
                <a:spcPts val="900"/>
              </a:spcAft>
              <a:buFont typeface="+mj-lt"/>
              <a:buChar char="•"/>
            </a:pPr>
            <a:r>
              <a:rPr lang="en-US" sz="1350">
                <a:solidFill>
                  <a:srgbClr val="14213D"/>
                </a:solidFill>
                <a:latin typeface="Calibri" panose="020F0502020204030204" pitchFamily="34" charset="0"/>
              </a:rPr>
              <a:t>Calls under 5 seconds and our test calls don't count</a:t>
            </a:r>
          </a:p>
          <a:p>
            <a:pPr marL="177800" indent="-177800">
              <a:spcAft>
                <a:spcPts val="900"/>
              </a:spcAft>
              <a:buFont typeface="+mj-lt"/>
              <a:buChar char="•"/>
            </a:pPr>
            <a:r>
              <a:rPr lang="en-US" sz="1350">
                <a:solidFill>
                  <a:srgbClr val="14213D"/>
                </a:solidFill>
                <a:latin typeface="Calibri" panose="020F0502020204030204" pitchFamily="34" charset="0"/>
              </a:rPr>
              <a:t>Minutes and SMS reset monthly; no rollover</a:t>
            </a:r>
          </a:p>
          <a:p>
            <a:pPr marL="177800" indent="-177800">
              <a:spcAft>
                <a:spcPts val="900"/>
              </a:spcAft>
              <a:buFont typeface="+mj-lt"/>
              <a:buChar char="•"/>
            </a:pPr>
            <a:r>
              <a:rPr lang="en-US" sz="1350">
                <a:solidFill>
                  <a:srgbClr val="14213D"/>
                </a:solidFill>
                <a:latin typeface="Calibri" panose="020F0502020204030204" pitchFamily="34" charset="0"/>
              </a:rPr>
              <a:t>Your monthly usage summary shows minutes used and remaining</a:t>
            </a:r>
          </a:p>
          <a:p>
            <a:pPr marL="177800" indent="-177800">
              <a:spcAft>
                <a:spcPts val="900"/>
              </a:spcAft>
              <a:buFont typeface="+mj-lt"/>
              <a:buChar char="•"/>
            </a:pPr>
            <a:r>
              <a:rPr lang="en-US" sz="1350">
                <a:solidFill>
                  <a:srgbClr val="14213D"/>
                </a:solidFill>
                <a:latin typeface="Calibri" panose="020F0502020204030204" pitchFamily="34" charset="0"/>
              </a:rPr>
              <a:t>If your usage is regularly above your included minutes, we'll suggest the package that fits before extra charges build up</a:t>
            </a:r>
            <a:endParaRPr lang="en-AU" sz="1350">
              <a:solidFill>
                <a:srgbClr val="14213D"/>
              </a:solidFill>
              <a:latin typeface="Calibri" panose="020F0502020204030204" pitchFamily="34" charset="0"/>
            </a:endParaRPr>
          </a:p>
        </p:txBody>
      </p:sp>
    </p:spTree>
    <p:extLst>
      <p:ext uri="{BB962C8B-B14F-4D97-AF65-F5344CB8AC3E}">
        <p14:creationId xmlns:p14="http://schemas.microsoft.com/office/powerpoint/2010/main" val="1173904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03E21F-8366-43EF-9E9C-C54DED6538C9}"/>
              </a:ext>
            </a:extLst>
          </p:cNvPr>
          <p:cNvSpPr txBox="1"/>
          <p:nvPr/>
        </p:nvSpPr>
        <p:spPr>
          <a:xfrm>
            <a:off x="609600" y="6477000"/>
            <a:ext cx="10972800" cy="369332"/>
          </a:xfrm>
          <a:prstGeom prst="rect">
            <a:avLst/>
          </a:prstGeom>
          <a:noFill/>
        </p:spPr>
        <p:txBody>
          <a:bodyPr vert="horz" wrap="square" lIns="0" tIns="0" rIns="0" bIns="0" rtlCol="0">
            <a:noAutofit/>
          </a:bodyPr>
          <a:lstStyle/>
          <a:p>
            <a:pPr>
              <a:spcAft>
                <a:spcPts val="400"/>
              </a:spcAft>
            </a:pPr>
            <a:r>
              <a:rPr lang="en-AU" sz="900">
                <a:solidFill>
                  <a:srgbClr val="94A3B8"/>
                </a:solidFill>
                <a:latin typeface="Calibri" panose="020F0502020204030204" pitchFamily="34" charset="0"/>
              </a:rPr>
              <a:t>M&amp;U Ventures · 11</a:t>
            </a:r>
          </a:p>
        </p:txBody>
      </p:sp>
      <p:sp>
        <p:nvSpPr>
          <p:cNvPr id="3" name="TextBox 2">
            <a:extLst>
              <a:ext uri="{FF2B5EF4-FFF2-40B4-BE49-F238E27FC236}">
                <a16:creationId xmlns:a16="http://schemas.microsoft.com/office/drawing/2014/main" id="{2107BE03-B632-888A-FF52-AFD0B9E6E439}"/>
              </a:ext>
            </a:extLst>
          </p:cNvPr>
          <p:cNvSpPr txBox="1"/>
          <p:nvPr/>
        </p:nvSpPr>
        <p:spPr>
          <a:xfrm>
            <a:off x="609600" y="1143000"/>
            <a:ext cx="9652000" cy="369332"/>
          </a:xfrm>
          <a:prstGeom prst="rect">
            <a:avLst/>
          </a:prstGeom>
          <a:noFill/>
        </p:spPr>
        <p:txBody>
          <a:bodyPr vert="horz" wrap="square" lIns="0" tIns="0" rIns="0" bIns="0" rtlCol="0">
            <a:noAutofit/>
          </a:bodyPr>
          <a:lstStyle/>
          <a:p>
            <a:pPr>
              <a:spcAft>
                <a:spcPts val="400"/>
              </a:spcAft>
            </a:pPr>
            <a:r>
              <a:rPr lang="en-US" sz="3400">
                <a:solidFill>
                  <a:srgbClr val="FFFFFF"/>
                </a:solidFill>
                <a:latin typeface="Cambria" panose="02040503050406030204" pitchFamily="18" charset="0"/>
              </a:rPr>
              <a:t>Next: your setup checklist and calendar access</a:t>
            </a:r>
            <a:endParaRPr lang="en-AU" sz="3400">
              <a:solidFill>
                <a:srgbClr val="FFFFFF"/>
              </a:solidFill>
              <a:latin typeface="Cambria" panose="02040503050406030204" pitchFamily="18" charset="0"/>
            </a:endParaRPr>
          </a:p>
        </p:txBody>
      </p:sp>
      <p:sp>
        <p:nvSpPr>
          <p:cNvPr id="4" name="TextBox 3">
            <a:extLst>
              <a:ext uri="{FF2B5EF4-FFF2-40B4-BE49-F238E27FC236}">
                <a16:creationId xmlns:a16="http://schemas.microsoft.com/office/drawing/2014/main" id="{149F68F5-F521-9223-B14F-9601682C8030}"/>
              </a:ext>
            </a:extLst>
          </p:cNvPr>
          <p:cNvSpPr txBox="1"/>
          <p:nvPr/>
        </p:nvSpPr>
        <p:spPr>
          <a:xfrm>
            <a:off x="609600" y="2540000"/>
            <a:ext cx="9652000" cy="369332"/>
          </a:xfrm>
          <a:prstGeom prst="rect">
            <a:avLst/>
          </a:prstGeom>
          <a:noFill/>
        </p:spPr>
        <p:txBody>
          <a:bodyPr vert="horz" wrap="square" lIns="0" tIns="0" rIns="0" bIns="0" rtlCol="0">
            <a:noAutofit/>
          </a:bodyPr>
          <a:lstStyle/>
          <a:p>
            <a:pPr marL="177800" indent="-177800">
              <a:spcAft>
                <a:spcPts val="1000"/>
              </a:spcAft>
              <a:buFont typeface="+mj-lt"/>
              <a:buChar char="•"/>
            </a:pPr>
            <a:r>
              <a:rPr lang="en-US">
                <a:solidFill>
                  <a:srgbClr val="E2E8F0"/>
                </a:solidFill>
                <a:latin typeface="Calibri" panose="020F0502020204030204" pitchFamily="34" charset="0"/>
              </a:rPr>
              <a:t>Setup checklist back by: [date]</a:t>
            </a:r>
          </a:p>
          <a:p>
            <a:pPr marL="177800" indent="-177800">
              <a:spcAft>
                <a:spcPts val="1000"/>
              </a:spcAft>
              <a:buFont typeface="+mj-lt"/>
              <a:buChar char="•"/>
            </a:pPr>
            <a:r>
              <a:rPr lang="en-US">
                <a:solidFill>
                  <a:srgbClr val="E2E8F0"/>
                </a:solidFill>
                <a:latin typeface="Calibri" panose="020F0502020204030204" pitchFamily="34" charset="0"/>
              </a:rPr>
              <a:t>Calendar access granted during kickoff</a:t>
            </a:r>
          </a:p>
          <a:p>
            <a:pPr marL="177800" indent="-177800">
              <a:spcAft>
                <a:spcPts val="1000"/>
              </a:spcAft>
              <a:buFont typeface="+mj-lt"/>
              <a:buChar char="•"/>
            </a:pPr>
            <a:r>
              <a:rPr lang="en-US">
                <a:solidFill>
                  <a:srgbClr val="E2E8F0"/>
                </a:solidFill>
                <a:latin typeface="Calibri" panose="020F0502020204030204" pitchFamily="34" charset="0"/>
              </a:rPr>
              <a:t>Privacy policy updated by: [date]</a:t>
            </a:r>
          </a:p>
          <a:p>
            <a:pPr marL="177800" indent="-177800">
              <a:spcAft>
                <a:spcPts val="1000"/>
              </a:spcAft>
              <a:buFont typeface="+mj-lt"/>
              <a:buChar char="•"/>
            </a:pPr>
            <a:r>
              <a:rPr lang="en-US">
                <a:solidFill>
                  <a:srgbClr val="E2E8F0"/>
                </a:solidFill>
                <a:latin typeface="Calibri" panose="020F0502020204030204" pitchFamily="34" charset="0"/>
              </a:rPr>
              <a:t>Test-call session: [date, time]</a:t>
            </a:r>
            <a:endParaRPr lang="en-AU">
              <a:solidFill>
                <a:srgbClr val="E2E8F0"/>
              </a:solidFill>
              <a:latin typeface="Calibri" panose="020F0502020204030204" pitchFamily="34" charset="0"/>
            </a:endParaRPr>
          </a:p>
        </p:txBody>
      </p:sp>
      <p:sp>
        <p:nvSpPr>
          <p:cNvPr id="5" name="TextBox 4">
            <a:extLst>
              <a:ext uri="{FF2B5EF4-FFF2-40B4-BE49-F238E27FC236}">
                <a16:creationId xmlns:a16="http://schemas.microsoft.com/office/drawing/2014/main" id="{F4AE4E46-242D-4398-988D-E5D70EB74BC0}"/>
              </a:ext>
            </a:extLst>
          </p:cNvPr>
          <p:cNvSpPr txBox="1"/>
          <p:nvPr/>
        </p:nvSpPr>
        <p:spPr>
          <a:xfrm>
            <a:off x="609600" y="5080000"/>
            <a:ext cx="9652000" cy="381000"/>
          </a:xfrm>
          <a:prstGeom prst="rect">
            <a:avLst/>
          </a:prstGeom>
          <a:noFill/>
        </p:spPr>
        <p:txBody>
          <a:bodyPr vert="horz" wrap="square" lIns="0" tIns="0" rIns="0" bIns="0" rtlCol="0">
            <a:noAutofit/>
          </a:bodyPr>
          <a:lstStyle/>
          <a:p>
            <a:pPr>
              <a:spcAft>
                <a:spcPts val="400"/>
              </a:spcAft>
            </a:pPr>
            <a:r>
              <a:rPr lang="en-US" sz="1500">
                <a:solidFill>
                  <a:srgbClr val="94A3B8"/>
                </a:solidFill>
                <a:latin typeface="Calibri" panose="020F0502020204030204" pitchFamily="34" charset="0"/>
              </a:rPr>
              <a:t>Usman Khan · M&amp;U Ventures · [business phone] · [email]</a:t>
            </a:r>
            <a:endParaRPr lang="en-AU" sz="1500">
              <a:solidFill>
                <a:srgbClr val="94A3B8"/>
              </a:solidFill>
              <a:latin typeface="Calibri" panose="020F0502020204030204" pitchFamily="34" charset="0"/>
            </a:endParaRPr>
          </a:p>
        </p:txBody>
      </p:sp>
    </p:spTree>
    <p:extLst>
      <p:ext uri="{BB962C8B-B14F-4D97-AF65-F5344CB8AC3E}">
        <p14:creationId xmlns:p14="http://schemas.microsoft.com/office/powerpoint/2010/main" val="2540680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1966</Words>
  <Application>Microsoft Office PowerPoint</Application>
  <PresentationFormat>Custom</PresentationFormat>
  <Paragraphs>217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Usman Khan</dc:creator>
  <cp:lastModifiedBy>Usman Khan</cp:lastModifiedBy>
  <cp:revision>1</cp:revision>
  <dcterms:created xsi:type="dcterms:W3CDTF">2026-09-27T14:56:52Z</dcterms:created>
  <dcterms:modified xsi:type="dcterms:W3CDTF">2026-09-27T14:56:52Z</dcterms:modified>
</cp:coreProperties>
</file>