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2B7901-5E24-4FC5-8EEF-A0D0EAE08E60}" type="datetimeFigureOut">
              <a:rPr lang="en-AU" smtClean="0"/>
              <a:t>28/09/2026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38BB9D-D088-48F0-9561-68EE966517FC}" type="slidenum">
              <a:rPr lang="en-AU" smtClean="0"/>
              <a:t>‹#›</a:t>
            </a:fld>
            <a:endParaRPr lang="en-AU"/>
          </a:p>
        </p:txBody>
      </p:sp>
    </p:spTree>
    <p:extLst>
      <p:ext uri="{BB962C8B-B14F-4D97-AF65-F5344CB8AC3E}">
        <p14:creationId xmlns:p14="http://schemas.microsoft.com/office/powerpoint/2010/main" val="280882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by naming what you saw on their site. This deck is for a 15-minute demo. Before presenting, check the receptionist readiness file: if booking is not live on the demo line, run the booking section as the labelled simulated video or the narrated call flow (Mode A). Never present the live line as booking until go-live has been approved and retested.</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1</a:t>
            </a:fld>
            <a:endParaRPr lang="en-AU"/>
          </a:p>
        </p:txBody>
      </p:sp>
    </p:spTree>
    <p:extLst>
      <p:ext uri="{BB962C8B-B14F-4D97-AF65-F5344CB8AC3E}">
        <p14:creationId xmlns:p14="http://schemas.microsoft.com/office/powerpoint/2010/main" val="288222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their numbers only. Ask, write them in live, and leave blanks blank. We never supply sector averages or claim how many calls they get or lose. Cover is per configuration: after hours, overflow when the desk is busy, or all calls alongside the team (Professional and Premium). Never pitch it as missed-call cover.</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2</a:t>
            </a:fld>
            <a:endParaRPr lang="en-AU"/>
          </a:p>
        </p:txBody>
      </p:sp>
    </p:spTree>
    <p:extLst>
      <p:ext uri="{BB962C8B-B14F-4D97-AF65-F5344CB8AC3E}">
        <p14:creationId xmlns:p14="http://schemas.microsoft.com/office/powerpoint/2010/main" val="4224014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flow left to right. Say clearly: steps 1 and 2 are live on our demo line today; booking, the text and the email switch on at go-live, after acceptance tests and the owner's approval. It only says 'you're booked' when the calendar confirms. No live transfer to a person in any package.</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3</a:t>
            </a:fld>
            <a:endParaRPr lang="en-AU"/>
          </a:p>
        </p:txBody>
      </p:sp>
    </p:spTree>
    <p:extLst>
      <p:ext uri="{BB962C8B-B14F-4D97-AF65-F5344CB8AC3E}">
        <p14:creationId xmlns:p14="http://schemas.microsoft.com/office/powerpoint/2010/main" val="2750423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honesty slide. Read the left column as 'what you'd hear if you rang our demo line today'. If asked for a date: we don't promise one until booking has passed acceptance testing on our own line. Each business's booking, routing and texts are set up and tested before they go live.</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4</a:t>
            </a:fld>
            <a:endParaRPr lang="en-AU"/>
          </a:p>
        </p:txBody>
      </p:sp>
    </p:spTree>
    <p:extLst>
      <p:ext uri="{BB962C8B-B14F-4D97-AF65-F5344CB8AC3E}">
        <p14:creationId xmlns:p14="http://schemas.microsoft.com/office/powerpoint/2010/main" val="3706208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 A (before go-live): play the receptionist-edition booking video labelled 'simulated: fictional practice', or narrate these lines. Mode B (after go-live): ring the demo line on speaker and book, then show the SMS on your own phone. Then show the dashboard with synthetic calls only. Never show a real caller.</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5</a:t>
            </a:fld>
            <a:endParaRPr lang="en-AU"/>
          </a:p>
        </p:txBody>
      </p:sp>
    </p:spTree>
    <p:extLst>
      <p:ext uri="{BB962C8B-B14F-4D97-AF65-F5344CB8AC3E}">
        <p14:creationId xmlns:p14="http://schemas.microsoft.com/office/powerpoint/2010/main" val="2298747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Qualify here: ask which system they use before describing either mode. It books into Google Calendar or Cal.com (Booked mode). Most dental practices run Dentally, Core Practice or similar, and we don't book into any of those directly today: that's Booking request / lead capture mode, not a lesser version of Booked — no reference number, no promised time, front desk confirms next business morning. Dentally does publish a public developer API (developer.dentally.co, checked 27 Sep 2026): say 'possible future direct booking, not offered today', never 'coming soon'.</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6</a:t>
            </a:fld>
            <a:endParaRPr lang="en-AU"/>
          </a:p>
        </p:txBody>
      </p:sp>
    </p:spTree>
    <p:extLst>
      <p:ext uri="{BB962C8B-B14F-4D97-AF65-F5344CB8AC3E}">
        <p14:creationId xmlns:p14="http://schemas.microsoft.com/office/powerpoint/2010/main" val="154919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exact. Calls are recorded and transcribed. Retell, Twilio and the language model provider process calls in the United States; the database is in Sydney. Their privacy policy must say so before go-live (APP 1, 5, 8); we supply wording but they own their policy. Health information is sensitive: the receptionist asks only what a booking needs.</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7</a:t>
            </a:fld>
            <a:endParaRPr lang="en-AU"/>
          </a:p>
        </p:txBody>
      </p:sp>
    </p:spTree>
    <p:extLst>
      <p:ext uri="{BB962C8B-B14F-4D97-AF65-F5344CB8AC3E}">
        <p14:creationId xmlns:p14="http://schemas.microsoft.com/office/powerpoint/2010/main" val="3090051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Recommend one package from what they told you; don't read all three. Monthly prices are approved and quoted ex GST; M&amp;U is GST registered, so 10% GST is added. Setup: quoted separately once approved. Never quote a setup amount. Essential suits one location with after-hours/overflow cover; Professional several practitioners, all calls alongside the team, reminders and the weekly report; Premium multi-site or high volume with weekly call review.</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8</a:t>
            </a:fld>
            <a:endParaRPr lang="en-AU"/>
          </a:p>
        </p:txBody>
      </p:sp>
    </p:spTree>
    <p:extLst>
      <p:ext uri="{BB962C8B-B14F-4D97-AF65-F5344CB8AC3E}">
        <p14:creationId xmlns:p14="http://schemas.microsoft.com/office/powerpoint/2010/main" val="1681641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Client-facing economics. Minutes are counted per second, summed over the month and rounded up once; under-5-second calls and our test calls don't count; no rollover. Walk the invoice example once so they can see how extra minutes and GST land. Work the value worksheet with THEIR numbers only and always show the zero-benefit row. Label every figure 'illustration, not a forecast'. Never promise bookings or revenue.</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9</a:t>
            </a:fld>
            <a:endParaRPr lang="en-AU"/>
          </a:p>
        </p:txBody>
      </p:sp>
    </p:spTree>
    <p:extLst>
      <p:ext uri="{BB962C8B-B14F-4D97-AF65-F5344CB8AC3E}">
        <p14:creationId xmlns:p14="http://schemas.microsoft.com/office/powerpoint/2010/main" val="192424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the promise exactly. There is no pilot or trial offer: don't offer one, and don't promise a setup waiver. Setup is quoted separately once approved; never quote a setup amount. Direct booking depends on their system: confirm compatibility in setup, or agree a booking-request / lead workflow. The service agreement is a draft until qualified legal review is done: don't send it before Usman confirms.</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10</a:t>
            </a:fld>
            <a:endParaRPr lang="en-AU"/>
          </a:p>
        </p:txBody>
      </p:sp>
    </p:spTree>
    <p:extLst>
      <p:ext uri="{BB962C8B-B14F-4D97-AF65-F5344CB8AC3E}">
        <p14:creationId xmlns:p14="http://schemas.microsoft.com/office/powerpoint/2010/main" val="2022710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a week from kickoff to the first test booking, once booking has passed acceptance on our own line and we have calendar access. Don't promise a calendar date before that.</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11</a:t>
            </a:fld>
            <a:endParaRPr lang="en-AU"/>
          </a:p>
        </p:txBody>
      </p:sp>
    </p:spTree>
    <p:extLst>
      <p:ext uri="{BB962C8B-B14F-4D97-AF65-F5344CB8AC3E}">
        <p14:creationId xmlns:p14="http://schemas.microsoft.com/office/powerpoint/2010/main" val="1344294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for the proposal. Every email is a draft until Usman approves it. Book the follow-up before you hang up.</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12</a:t>
            </a:fld>
            <a:endParaRPr lang="en-AU"/>
          </a:p>
        </p:txBody>
      </p:sp>
    </p:spTree>
    <p:extLst>
      <p:ext uri="{BB962C8B-B14F-4D97-AF65-F5344CB8AC3E}">
        <p14:creationId xmlns:p14="http://schemas.microsoft.com/office/powerpoint/2010/main" val="3979225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Hidden in slideshow; delete before sending the file to a client. Estimates from official rates in package-economics.json (as of 2026-09-28: Retell, Twilio, Vercel, Stripe, RBA 0.7019). Measured and invoice-reconciled costs are empty: no client traffic yet. Neon, alert email, Retell concurrency and other subscriptions are unknown and excluded, not zero.</a:t>
            </a:r>
            <a:endParaRPr lang="en-AU"/>
          </a:p>
        </p:txBody>
      </p:sp>
      <p:sp>
        <p:nvSpPr>
          <p:cNvPr id="4" name="Slide Number Placeholder 3"/>
          <p:cNvSpPr>
            <a:spLocks noGrp="1"/>
          </p:cNvSpPr>
          <p:nvPr>
            <p:ph type="sldNum" sz="quarter" idx="5"/>
          </p:nvPr>
        </p:nvSpPr>
        <p:spPr/>
        <p:txBody>
          <a:bodyPr/>
          <a:lstStyle/>
          <a:p>
            <a:fld id="{4138BB9D-D088-48F0-9561-68EE966517FC}" type="slidenum">
              <a:rPr lang="en-AU" smtClean="0"/>
              <a:t>13</a:t>
            </a:fld>
            <a:endParaRPr lang="en-AU"/>
          </a:p>
        </p:txBody>
      </p:sp>
    </p:spTree>
    <p:extLst>
      <p:ext uri="{BB962C8B-B14F-4D97-AF65-F5344CB8AC3E}">
        <p14:creationId xmlns:p14="http://schemas.microsoft.com/office/powerpoint/2010/main" val="2444188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922E8-BB30-5949-CFE9-A90682BC8E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AD87381-C875-9070-71FC-EF1533F2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1D8EEDD-7003-386E-6F54-BDD00CB13C31}"/>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5" name="Footer Placeholder 4">
            <a:extLst>
              <a:ext uri="{FF2B5EF4-FFF2-40B4-BE49-F238E27FC236}">
                <a16:creationId xmlns:a16="http://schemas.microsoft.com/office/drawing/2014/main" id="{3BD13E8C-E02F-F28F-81B6-3A1F7FCB79D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5AEF2B2-1D3A-F265-0B24-F8351453C5F4}"/>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1876918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AC79D-7AD2-65D9-6766-5424770C992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1828D0F-2643-4648-0001-3E81785D8B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ACE93E6-2A04-D35D-D4B8-2C60769E80FE}"/>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5" name="Footer Placeholder 4">
            <a:extLst>
              <a:ext uri="{FF2B5EF4-FFF2-40B4-BE49-F238E27FC236}">
                <a16:creationId xmlns:a16="http://schemas.microsoft.com/office/drawing/2014/main" id="{C6CF68A0-8578-CA5F-5734-423771653B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BF6BB20-BFE3-CF53-EB6C-FCEBB20D752A}"/>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1383346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D448-6EA6-9CF7-9199-BFB00D1238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A5872F5-0344-4B2B-1BD8-42FA33F8F7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CD08B3-254D-4329-4830-4B77B04F1A1E}"/>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5" name="Footer Placeholder 4">
            <a:extLst>
              <a:ext uri="{FF2B5EF4-FFF2-40B4-BE49-F238E27FC236}">
                <a16:creationId xmlns:a16="http://schemas.microsoft.com/office/drawing/2014/main" id="{FA5C86DA-F269-B610-2EF1-B484F2A280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B0CF1B8-D030-76C7-1C52-13918A7F264E}"/>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156830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E10A5-D174-6729-DA2F-69915D3640B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60ABDED-5282-2D5E-9E59-76AC784695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45503D0C-30D5-3985-E2D8-985EC17514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B067F53D-6B11-F1CE-167B-0FA02AE49ED5}"/>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6" name="Footer Placeholder 5">
            <a:extLst>
              <a:ext uri="{FF2B5EF4-FFF2-40B4-BE49-F238E27FC236}">
                <a16:creationId xmlns:a16="http://schemas.microsoft.com/office/drawing/2014/main" id="{41F65DA4-7745-3621-1407-9CA605ABFD1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49DEA77-EA32-848D-03F6-9AFCC3DB6CBD}"/>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2105023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91753-B1E6-23C1-E745-E80962BB6E3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42641CF-F623-DEE0-93A3-A720C0EF7E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AE9168-5DF8-62E2-F9D7-CBEB95922C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CF9C183-0873-C83F-20A8-AEB04A975C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92676C-28E5-3350-E296-7E86BD465E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0EE090F-9679-A23D-415A-EEB47AABEF75}"/>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8" name="Footer Placeholder 7">
            <a:extLst>
              <a:ext uri="{FF2B5EF4-FFF2-40B4-BE49-F238E27FC236}">
                <a16:creationId xmlns:a16="http://schemas.microsoft.com/office/drawing/2014/main" id="{03C3A36F-B2F9-BC81-8BFD-FC400E51288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DE44AAAA-7DA3-7D2B-3769-38186FE9CCA4}"/>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3366371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9C0F-9171-3352-4474-2F98C3B5548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4BBD995-17B0-F5B9-7481-D7297A878B6C}"/>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4" name="Footer Placeholder 3">
            <a:extLst>
              <a:ext uri="{FF2B5EF4-FFF2-40B4-BE49-F238E27FC236}">
                <a16:creationId xmlns:a16="http://schemas.microsoft.com/office/drawing/2014/main" id="{DBD7934C-7284-6E04-0151-DE720E852BF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74B63EA-A8E4-5745-0DFE-B99C11A7D240}"/>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4028635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83E579-573C-E058-475E-62E205D1E387}"/>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3" name="Footer Placeholder 2">
            <a:extLst>
              <a:ext uri="{FF2B5EF4-FFF2-40B4-BE49-F238E27FC236}">
                <a16:creationId xmlns:a16="http://schemas.microsoft.com/office/drawing/2014/main" id="{945190D1-16C9-7519-1552-488D8F170C6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8E55D54-1B87-345B-6C3A-5BBEEAED1A81}"/>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1629596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66E1-F4DD-1B63-AF8B-F88E13746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3B4DAF1-0636-1F4D-37AF-59261D20D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06FEA37-7872-945F-B623-3BC4B9053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1F29C8-D00F-809B-A869-93A96B603C61}"/>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6" name="Footer Placeholder 5">
            <a:extLst>
              <a:ext uri="{FF2B5EF4-FFF2-40B4-BE49-F238E27FC236}">
                <a16:creationId xmlns:a16="http://schemas.microsoft.com/office/drawing/2014/main" id="{28FF4B0C-F396-C756-C8D5-F69EBDB12DD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6D2F159-6730-04CC-A5E3-F6C6C1E06C01}"/>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360997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EBB5-298F-3218-B541-DC1E587D7E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D870F1B-3155-384D-5DE1-4DB71C8203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83C5FB2-8F44-F06B-5D65-FA5B62C5D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5ABE58-62D6-CA33-DBD1-7151EE333821}"/>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6" name="Footer Placeholder 5">
            <a:extLst>
              <a:ext uri="{FF2B5EF4-FFF2-40B4-BE49-F238E27FC236}">
                <a16:creationId xmlns:a16="http://schemas.microsoft.com/office/drawing/2014/main" id="{7BE93532-458D-9B4F-832C-06A76B0EED7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E0FC83-B6B4-923B-A988-2B49BBCCE524}"/>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3081196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95F58-246E-D777-F467-958E2320692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356510-3B15-A99C-A87D-5B79A0BF4B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836D309-D11D-A192-9335-9966659FDE02}"/>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5" name="Footer Placeholder 4">
            <a:extLst>
              <a:ext uri="{FF2B5EF4-FFF2-40B4-BE49-F238E27FC236}">
                <a16:creationId xmlns:a16="http://schemas.microsoft.com/office/drawing/2014/main" id="{A3C8FC33-1403-E9A4-21D8-1A98B82060B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C0DE2F4-4805-233E-4C26-F3066CDD235F}"/>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2746392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BDDCA2-0569-78F9-79E6-7F7C06C608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899A5A9-D3CF-C3B3-0BFF-2150F60692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AC8DEE8-D9C6-E5DB-AEEB-49DF90F1AD59}"/>
              </a:ext>
            </a:extLst>
          </p:cNvPr>
          <p:cNvSpPr>
            <a:spLocks noGrp="1"/>
          </p:cNvSpPr>
          <p:nvPr>
            <p:ph type="dt" sz="half" idx="10"/>
          </p:nvPr>
        </p:nvSpPr>
        <p:spPr/>
        <p:txBody>
          <a:bodyPr/>
          <a:lstStyle/>
          <a:p>
            <a:fld id="{C3F406F5-C57E-4985-A518-CA5BC2495099}" type="datetimeFigureOut">
              <a:rPr lang="en-AU" smtClean="0"/>
              <a:t>28/09/2026</a:t>
            </a:fld>
            <a:endParaRPr lang="en-AU"/>
          </a:p>
        </p:txBody>
      </p:sp>
      <p:sp>
        <p:nvSpPr>
          <p:cNvPr id="5" name="Footer Placeholder 4">
            <a:extLst>
              <a:ext uri="{FF2B5EF4-FFF2-40B4-BE49-F238E27FC236}">
                <a16:creationId xmlns:a16="http://schemas.microsoft.com/office/drawing/2014/main" id="{67449732-8A9F-7C37-13F8-8BB644E5301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939CB6D-6A7F-04FB-BAA6-C51FAA9F6060}"/>
              </a:ext>
            </a:extLst>
          </p:cNvPr>
          <p:cNvSpPr>
            <a:spLocks noGrp="1"/>
          </p:cNvSpPr>
          <p:nvPr>
            <p:ph type="sldNum" sz="quarter" idx="12"/>
          </p:nvPr>
        </p:nvSpPr>
        <p:spPr/>
        <p:txBody>
          <a:bodyPr/>
          <a:lstStyle/>
          <a:p>
            <a:fld id="{AF946F56-AC87-4A74-B473-8B97523FA2E6}" type="slidenum">
              <a:rPr lang="en-AU" smtClean="0"/>
              <a:t>‹#›</a:t>
            </a:fld>
            <a:endParaRPr lang="en-AU"/>
          </a:p>
        </p:txBody>
      </p:sp>
    </p:spTree>
    <p:extLst>
      <p:ext uri="{BB962C8B-B14F-4D97-AF65-F5344CB8AC3E}">
        <p14:creationId xmlns:p14="http://schemas.microsoft.com/office/powerpoint/2010/main" val="751165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F649ED-69C0-2319-C18A-0700773AAA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6481007-06CA-D50B-2272-5402CAC1F5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DD9F8BC-4863-3608-0485-63AF1025F1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406F5-C57E-4985-A518-CA5BC2495099}" type="datetimeFigureOut">
              <a:rPr lang="en-AU" smtClean="0"/>
              <a:t>28/09/2026</a:t>
            </a:fld>
            <a:endParaRPr lang="en-AU"/>
          </a:p>
        </p:txBody>
      </p:sp>
      <p:sp>
        <p:nvSpPr>
          <p:cNvPr id="5" name="Footer Placeholder 4">
            <a:extLst>
              <a:ext uri="{FF2B5EF4-FFF2-40B4-BE49-F238E27FC236}">
                <a16:creationId xmlns:a16="http://schemas.microsoft.com/office/drawing/2014/main" id="{0AC25CC8-E403-4802-8E85-3B26B96CF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B759FEDA-C3C1-E4CD-2DF5-9FF837D195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946F56-AC87-4A74-B473-8B97523FA2E6}" type="slidenum">
              <a:rPr lang="en-AU" smtClean="0"/>
              <a:t>‹#›</a:t>
            </a:fld>
            <a:endParaRPr lang="en-AU"/>
          </a:p>
        </p:txBody>
      </p:sp>
    </p:spTree>
    <p:extLst>
      <p:ext uri="{BB962C8B-B14F-4D97-AF65-F5344CB8AC3E}">
        <p14:creationId xmlns:p14="http://schemas.microsoft.com/office/powerpoint/2010/main" val="11484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527F62-B08B-1752-A3B7-DC633839686A}"/>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fr-FR" sz="900">
                <a:solidFill>
                  <a:srgbClr val="94A3B8"/>
                </a:solidFill>
                <a:latin typeface="Calibri" panose="020F0502020204030204" pitchFamily="34" charset="0"/>
              </a:rPr>
              <a:t>M&amp;U Ventures · Mount Druitt NSW · Packages approved 28 Sep 2026, catalogue 2026-09-27</a:t>
            </a:r>
            <a:endParaRPr lang="en-AU" sz="900">
              <a:solidFill>
                <a:srgbClr val="94A3B8"/>
              </a:solidFill>
              <a:latin typeface="Calibri" panose="020F0502020204030204" pitchFamily="34" charset="0"/>
            </a:endParaRPr>
          </a:p>
        </p:txBody>
      </p:sp>
      <p:sp>
        <p:nvSpPr>
          <p:cNvPr id="3" name="TextBox 2">
            <a:extLst>
              <a:ext uri="{FF2B5EF4-FFF2-40B4-BE49-F238E27FC236}">
                <a16:creationId xmlns:a16="http://schemas.microsoft.com/office/drawing/2014/main" id="{F83698AF-D9EC-17D4-3C91-C0D53AD3EE66}"/>
              </a:ext>
            </a:extLst>
          </p:cNvPr>
          <p:cNvSpPr txBox="1"/>
          <p:nvPr/>
        </p:nvSpPr>
        <p:spPr>
          <a:xfrm>
            <a:off x="609600" y="889000"/>
            <a:ext cx="7620000" cy="381000"/>
          </a:xfrm>
          <a:prstGeom prst="rect">
            <a:avLst/>
          </a:prstGeom>
          <a:noFill/>
        </p:spPr>
        <p:txBody>
          <a:bodyPr vert="horz" wrap="square" lIns="0" tIns="0" rIns="0" bIns="0" rtlCol="0">
            <a:noAutofit/>
          </a:bodyPr>
          <a:lstStyle/>
          <a:p>
            <a:pPr>
              <a:spcAft>
                <a:spcPts val="400"/>
              </a:spcAft>
            </a:pPr>
            <a:r>
              <a:rPr lang="en-AU" sz="1300" b="1">
                <a:solidFill>
                  <a:srgbClr val="5EEAD4"/>
                </a:solidFill>
                <a:latin typeface="Calibri" panose="020F0502020204030204" pitchFamily="34" charset="0"/>
              </a:rPr>
              <a:t>AI RECEPTIONIST FOR DENTAL PRACTICES</a:t>
            </a:r>
          </a:p>
        </p:txBody>
      </p:sp>
      <p:sp>
        <p:nvSpPr>
          <p:cNvPr id="4" name="TextBox 3">
            <a:extLst>
              <a:ext uri="{FF2B5EF4-FFF2-40B4-BE49-F238E27FC236}">
                <a16:creationId xmlns:a16="http://schemas.microsoft.com/office/drawing/2014/main" id="{6832CB4D-5EA9-51B2-0247-0C198F033ECA}"/>
              </a:ext>
            </a:extLst>
          </p:cNvPr>
          <p:cNvSpPr txBox="1"/>
          <p:nvPr/>
        </p:nvSpPr>
        <p:spPr>
          <a:xfrm>
            <a:off x="609600" y="1397000"/>
            <a:ext cx="8128000" cy="369332"/>
          </a:xfrm>
          <a:prstGeom prst="rect">
            <a:avLst/>
          </a:prstGeom>
          <a:noFill/>
        </p:spPr>
        <p:txBody>
          <a:bodyPr vert="horz" wrap="square" lIns="0" tIns="0" rIns="0" bIns="0" rtlCol="0">
            <a:noAutofit/>
          </a:bodyPr>
          <a:lstStyle/>
          <a:p>
            <a:pPr>
              <a:spcAft>
                <a:spcPts val="400"/>
              </a:spcAft>
            </a:pPr>
            <a:r>
              <a:rPr lang="en-US" sz="5000">
                <a:solidFill>
                  <a:srgbClr val="FFFFFF"/>
                </a:solidFill>
                <a:latin typeface="Cambria" panose="02040503050406030204" pitchFamily="18" charset="0"/>
              </a:rPr>
              <a:t>Your calls, answered and booked.</a:t>
            </a:r>
            <a:endParaRPr lang="en-AU" sz="5000">
              <a:solidFill>
                <a:srgbClr val="FFFFFF"/>
              </a:solidFill>
              <a:latin typeface="Cambria" panose="02040503050406030204" pitchFamily="18" charset="0"/>
            </a:endParaRPr>
          </a:p>
        </p:txBody>
      </p:sp>
      <p:sp>
        <p:nvSpPr>
          <p:cNvPr id="5" name="TextBox 4">
            <a:extLst>
              <a:ext uri="{FF2B5EF4-FFF2-40B4-BE49-F238E27FC236}">
                <a16:creationId xmlns:a16="http://schemas.microsoft.com/office/drawing/2014/main" id="{8D565E8E-37CC-ABD6-63D6-F70869FC2CDD}"/>
              </a:ext>
            </a:extLst>
          </p:cNvPr>
          <p:cNvSpPr txBox="1"/>
          <p:nvPr/>
        </p:nvSpPr>
        <p:spPr>
          <a:xfrm>
            <a:off x="609600" y="3429000"/>
            <a:ext cx="7620000" cy="369332"/>
          </a:xfrm>
          <a:prstGeom prst="rect">
            <a:avLst/>
          </a:prstGeom>
          <a:noFill/>
        </p:spPr>
        <p:txBody>
          <a:bodyPr vert="horz" wrap="square" lIns="0" tIns="0" rIns="0" bIns="0" rtlCol="0">
            <a:noAutofit/>
          </a:bodyPr>
          <a:lstStyle/>
          <a:p>
            <a:pPr>
              <a:spcAft>
                <a:spcPts val="400"/>
              </a:spcAft>
            </a:pPr>
            <a:r>
              <a:rPr lang="en-US">
                <a:solidFill>
                  <a:srgbClr val="CBD5E1"/>
                </a:solidFill>
                <a:latin typeface="Calibri" panose="020F0502020204030204" pitchFamily="34" charset="0"/>
              </a:rPr>
              <a:t>In the cover you choose (after hours, overflow, or alongside your team), the receptionist answers, books into your calendar and texts the patient a confirmation. Your team gets an email for every booking.</a:t>
            </a:r>
            <a:endParaRPr lang="en-AU">
              <a:solidFill>
                <a:srgbClr val="CBD5E1"/>
              </a:solidFill>
              <a:latin typeface="Calibri" panose="020F0502020204030204" pitchFamily="34" charset="0"/>
            </a:endParaRPr>
          </a:p>
        </p:txBody>
      </p:sp>
      <p:sp>
        <p:nvSpPr>
          <p:cNvPr id="6" name="TextBox 5">
            <a:extLst>
              <a:ext uri="{FF2B5EF4-FFF2-40B4-BE49-F238E27FC236}">
                <a16:creationId xmlns:a16="http://schemas.microsoft.com/office/drawing/2014/main" id="{58958EFA-958C-B79B-9C43-41EA332296B7}"/>
              </a:ext>
            </a:extLst>
          </p:cNvPr>
          <p:cNvSpPr txBox="1"/>
          <p:nvPr/>
        </p:nvSpPr>
        <p:spPr>
          <a:xfrm>
            <a:off x="609600" y="4699000"/>
            <a:ext cx="7620000" cy="369332"/>
          </a:xfrm>
          <a:prstGeom prst="rect">
            <a:avLst/>
          </a:prstGeom>
          <a:noFill/>
        </p:spPr>
        <p:txBody>
          <a:bodyPr vert="horz" wrap="square" lIns="0" tIns="0" rIns="0" bIns="0" rtlCol="0">
            <a:noAutofit/>
          </a:bodyPr>
          <a:lstStyle/>
          <a:p>
            <a:pPr>
              <a:spcAft>
                <a:spcPts val="400"/>
              </a:spcAft>
            </a:pPr>
            <a:r>
              <a:rPr lang="en-US" sz="1400">
                <a:solidFill>
                  <a:srgbClr val="94A3B8"/>
                </a:solidFill>
                <a:latin typeface="Calibri" panose="020F0502020204030204" pitchFamily="34" charset="0"/>
              </a:rPr>
              <a:t>Prepared for [Practice name] · [Date]</a:t>
            </a:r>
            <a:endParaRPr lang="en-AU" sz="1400">
              <a:solidFill>
                <a:srgbClr val="94A3B8"/>
              </a:solidFill>
              <a:latin typeface="Calibri" panose="020F0502020204030204" pitchFamily="34" charset="0"/>
            </a:endParaRPr>
          </a:p>
        </p:txBody>
      </p:sp>
      <p:sp>
        <p:nvSpPr>
          <p:cNvPr id="7" name="Oval 6">
            <a:extLst>
              <a:ext uri="{FF2B5EF4-FFF2-40B4-BE49-F238E27FC236}">
                <a16:creationId xmlns:a16="http://schemas.microsoft.com/office/drawing/2014/main" id="{3FDAAD5A-9258-E60C-754A-B8712022763A}"/>
              </a:ext>
            </a:extLst>
          </p:cNvPr>
          <p:cNvSpPr/>
          <p:nvPr/>
        </p:nvSpPr>
        <p:spPr>
          <a:xfrm>
            <a:off x="9398000" y="1524000"/>
            <a:ext cx="812800" cy="8128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2200" b="1">
                <a:solidFill>
                  <a:srgbClr val="FFFFFF"/>
                </a:solidFill>
                <a:latin typeface="Calibri" panose="020F0502020204030204" pitchFamily="34" charset="0"/>
              </a:rPr>
              <a:t>1</a:t>
            </a:r>
          </a:p>
        </p:txBody>
      </p:sp>
      <p:sp>
        <p:nvSpPr>
          <p:cNvPr id="8" name="TextBox 7">
            <a:extLst>
              <a:ext uri="{FF2B5EF4-FFF2-40B4-BE49-F238E27FC236}">
                <a16:creationId xmlns:a16="http://schemas.microsoft.com/office/drawing/2014/main" id="{6D8CA503-0465-CE76-2F1F-22B300720F90}"/>
              </a:ext>
            </a:extLst>
          </p:cNvPr>
          <p:cNvSpPr txBox="1"/>
          <p:nvPr/>
        </p:nvSpPr>
        <p:spPr>
          <a:xfrm>
            <a:off x="10414000" y="1752600"/>
            <a:ext cx="1524000" cy="381000"/>
          </a:xfrm>
          <a:prstGeom prst="rect">
            <a:avLst/>
          </a:prstGeom>
          <a:noFill/>
        </p:spPr>
        <p:txBody>
          <a:bodyPr vert="horz" wrap="square" lIns="0" tIns="0" rIns="0" bIns="0" rtlCol="0">
            <a:noAutofit/>
          </a:bodyPr>
          <a:lstStyle/>
          <a:p>
            <a:pPr>
              <a:spcAft>
                <a:spcPts val="400"/>
              </a:spcAft>
            </a:pPr>
            <a:r>
              <a:rPr lang="en-AU" sz="2000" b="1">
                <a:solidFill>
                  <a:srgbClr val="FFFFFF"/>
                </a:solidFill>
                <a:latin typeface="Calibri" panose="020F0502020204030204" pitchFamily="34" charset="0"/>
              </a:rPr>
              <a:t>Answers</a:t>
            </a:r>
          </a:p>
        </p:txBody>
      </p:sp>
      <p:sp>
        <p:nvSpPr>
          <p:cNvPr id="9" name="Oval 8">
            <a:extLst>
              <a:ext uri="{FF2B5EF4-FFF2-40B4-BE49-F238E27FC236}">
                <a16:creationId xmlns:a16="http://schemas.microsoft.com/office/drawing/2014/main" id="{ABFF39E4-8ADE-96F4-2ABB-0948984C8A1F}"/>
              </a:ext>
            </a:extLst>
          </p:cNvPr>
          <p:cNvSpPr/>
          <p:nvPr/>
        </p:nvSpPr>
        <p:spPr>
          <a:xfrm>
            <a:off x="9398000" y="2667000"/>
            <a:ext cx="812800" cy="8128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2200"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0B0DEF01-6C84-0A33-2B96-8B3BC9E3C495}"/>
              </a:ext>
            </a:extLst>
          </p:cNvPr>
          <p:cNvSpPr txBox="1"/>
          <p:nvPr/>
        </p:nvSpPr>
        <p:spPr>
          <a:xfrm>
            <a:off x="10414000" y="2895600"/>
            <a:ext cx="1524000" cy="381000"/>
          </a:xfrm>
          <a:prstGeom prst="rect">
            <a:avLst/>
          </a:prstGeom>
          <a:noFill/>
        </p:spPr>
        <p:txBody>
          <a:bodyPr vert="horz" wrap="square" lIns="0" tIns="0" rIns="0" bIns="0" rtlCol="0">
            <a:noAutofit/>
          </a:bodyPr>
          <a:lstStyle/>
          <a:p>
            <a:pPr>
              <a:spcAft>
                <a:spcPts val="400"/>
              </a:spcAft>
            </a:pPr>
            <a:r>
              <a:rPr lang="en-AU" sz="2000" b="1">
                <a:solidFill>
                  <a:srgbClr val="FFFFFF"/>
                </a:solidFill>
                <a:latin typeface="Calibri" panose="020F0502020204030204" pitchFamily="34" charset="0"/>
              </a:rPr>
              <a:t>Books</a:t>
            </a:r>
          </a:p>
        </p:txBody>
      </p:sp>
      <p:sp>
        <p:nvSpPr>
          <p:cNvPr id="11" name="Oval 10">
            <a:extLst>
              <a:ext uri="{FF2B5EF4-FFF2-40B4-BE49-F238E27FC236}">
                <a16:creationId xmlns:a16="http://schemas.microsoft.com/office/drawing/2014/main" id="{FFEE5654-3061-1CA1-B202-E7774A151108}"/>
              </a:ext>
            </a:extLst>
          </p:cNvPr>
          <p:cNvSpPr/>
          <p:nvPr/>
        </p:nvSpPr>
        <p:spPr>
          <a:xfrm>
            <a:off x="9398000" y="3810000"/>
            <a:ext cx="812800" cy="8128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2200" b="1">
                <a:solidFill>
                  <a:srgbClr val="FFFFFF"/>
                </a:solidFill>
                <a:latin typeface="Calibri" panose="020F0502020204030204" pitchFamily="34" charset="0"/>
              </a:rPr>
              <a:t>3</a:t>
            </a:r>
          </a:p>
        </p:txBody>
      </p:sp>
      <p:sp>
        <p:nvSpPr>
          <p:cNvPr id="12" name="TextBox 11">
            <a:extLst>
              <a:ext uri="{FF2B5EF4-FFF2-40B4-BE49-F238E27FC236}">
                <a16:creationId xmlns:a16="http://schemas.microsoft.com/office/drawing/2014/main" id="{5CB36ED0-6E1D-B006-46B3-38475200FF60}"/>
              </a:ext>
            </a:extLst>
          </p:cNvPr>
          <p:cNvSpPr txBox="1"/>
          <p:nvPr/>
        </p:nvSpPr>
        <p:spPr>
          <a:xfrm>
            <a:off x="10414000" y="4038600"/>
            <a:ext cx="1524000" cy="381000"/>
          </a:xfrm>
          <a:prstGeom prst="rect">
            <a:avLst/>
          </a:prstGeom>
          <a:noFill/>
        </p:spPr>
        <p:txBody>
          <a:bodyPr vert="horz" wrap="square" lIns="0" tIns="0" rIns="0" bIns="0" rtlCol="0">
            <a:noAutofit/>
          </a:bodyPr>
          <a:lstStyle/>
          <a:p>
            <a:pPr>
              <a:spcAft>
                <a:spcPts val="400"/>
              </a:spcAft>
            </a:pPr>
            <a:r>
              <a:rPr lang="en-AU" sz="2000" b="1">
                <a:solidFill>
                  <a:srgbClr val="FFFFFF"/>
                </a:solidFill>
                <a:latin typeface="Calibri" panose="020F0502020204030204" pitchFamily="34" charset="0"/>
              </a:rPr>
              <a:t>Confirms</a:t>
            </a:r>
          </a:p>
        </p:txBody>
      </p:sp>
    </p:spTree>
    <p:extLst>
      <p:ext uri="{BB962C8B-B14F-4D97-AF65-F5344CB8AC3E}">
        <p14:creationId xmlns:p14="http://schemas.microsoft.com/office/powerpoint/2010/main" val="3022855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DECF42-2D05-D113-CFA1-12B890D6F854}"/>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2</a:t>
            </a:r>
          </a:p>
        </p:txBody>
      </p:sp>
      <p:sp>
        <p:nvSpPr>
          <p:cNvPr id="3" name="TextBox 2">
            <a:extLst>
              <a:ext uri="{FF2B5EF4-FFF2-40B4-BE49-F238E27FC236}">
                <a16:creationId xmlns:a16="http://schemas.microsoft.com/office/drawing/2014/main" id="{ACED56BB-9FD1-6A61-1F27-0ABAE6A70BE0}"/>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Which calls should it answer?</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52F12682-7C6A-3238-0529-BC03917315DB}"/>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Your numbers and your choice of cover. We fill these in together.</a:t>
            </a:r>
            <a:endParaRPr lang="en-AU" sz="1500">
              <a:solidFill>
                <a:srgbClr val="475569"/>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BD37EDBC-F976-78D9-9B4B-586368442E4D}"/>
              </a:ext>
            </a:extLst>
          </p:cNvPr>
          <p:cNvSpPr/>
          <p:nvPr/>
        </p:nvSpPr>
        <p:spPr>
          <a:xfrm>
            <a:off x="609600" y="1905000"/>
            <a:ext cx="3454400" cy="2540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C36C2281-F5E8-3DE5-2F20-61103EAD185B}"/>
              </a:ext>
            </a:extLst>
          </p:cNvPr>
          <p:cNvSpPr txBox="1"/>
          <p:nvPr/>
        </p:nvSpPr>
        <p:spPr>
          <a:xfrm>
            <a:off x="863600" y="2159000"/>
            <a:ext cx="2946400" cy="369332"/>
          </a:xfrm>
          <a:prstGeom prst="rect">
            <a:avLst/>
          </a:prstGeom>
          <a:noFill/>
        </p:spPr>
        <p:txBody>
          <a:bodyPr vert="horz" wrap="square" lIns="0" tIns="0" rIns="0" bIns="0" rtlCol="0">
            <a:noAutofit/>
          </a:bodyPr>
          <a:lstStyle/>
          <a:p>
            <a:pPr>
              <a:spcAft>
                <a:spcPts val="400"/>
              </a:spcAft>
            </a:pPr>
            <a:r>
              <a:rPr lang="en-AU" sz="4800">
                <a:solidFill>
                  <a:srgbClr val="0F766E"/>
                </a:solidFill>
                <a:latin typeface="Cambria" panose="02040503050406030204" pitchFamily="18" charset="0"/>
              </a:rPr>
              <a:t>____</a:t>
            </a:r>
          </a:p>
        </p:txBody>
      </p:sp>
      <p:sp>
        <p:nvSpPr>
          <p:cNvPr id="7" name="TextBox 6">
            <a:extLst>
              <a:ext uri="{FF2B5EF4-FFF2-40B4-BE49-F238E27FC236}">
                <a16:creationId xmlns:a16="http://schemas.microsoft.com/office/drawing/2014/main" id="{F6473CEA-8460-79C1-6A7D-6350D36C4A93}"/>
              </a:ext>
            </a:extLst>
          </p:cNvPr>
          <p:cNvSpPr txBox="1"/>
          <p:nvPr/>
        </p:nvSpPr>
        <p:spPr>
          <a:xfrm>
            <a:off x="863600" y="3111500"/>
            <a:ext cx="2946400" cy="369332"/>
          </a:xfrm>
          <a:prstGeom prst="rect">
            <a:avLst/>
          </a:prstGeom>
          <a:noFill/>
        </p:spPr>
        <p:txBody>
          <a:bodyPr vert="horz" wrap="square" lIns="0" tIns="0" rIns="0" bIns="0" rtlCol="0">
            <a:noAutofit/>
          </a:bodyPr>
          <a:lstStyle/>
          <a:p>
            <a:pPr>
              <a:spcAft>
                <a:spcPts val="400"/>
              </a:spcAft>
            </a:pPr>
            <a:r>
              <a:rPr lang="en-US" sz="1600">
                <a:solidFill>
                  <a:srgbClr val="14213D"/>
                </a:solidFill>
                <a:latin typeface="Calibri" panose="020F0502020204030204" pitchFamily="34" charset="0"/>
              </a:rPr>
              <a:t>Calls a week you'd want it to take</a:t>
            </a:r>
            <a:endParaRPr lang="en-AU" sz="1600">
              <a:solidFill>
                <a:srgbClr val="14213D"/>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CCDE1717-3923-BC9D-3C54-5805ABC9F9FF}"/>
              </a:ext>
            </a:extLst>
          </p:cNvPr>
          <p:cNvSpPr/>
          <p:nvPr/>
        </p:nvSpPr>
        <p:spPr>
          <a:xfrm>
            <a:off x="4318000" y="1905000"/>
            <a:ext cx="3454400" cy="2540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59D7513E-BDFC-88E3-DABE-4F1A9E3A9E84}"/>
              </a:ext>
            </a:extLst>
          </p:cNvPr>
          <p:cNvSpPr txBox="1"/>
          <p:nvPr/>
        </p:nvSpPr>
        <p:spPr>
          <a:xfrm>
            <a:off x="4572000" y="2159000"/>
            <a:ext cx="2946400" cy="369332"/>
          </a:xfrm>
          <a:prstGeom prst="rect">
            <a:avLst/>
          </a:prstGeom>
          <a:noFill/>
        </p:spPr>
        <p:txBody>
          <a:bodyPr vert="horz" wrap="square" lIns="0" tIns="0" rIns="0" bIns="0" rtlCol="0">
            <a:noAutofit/>
          </a:bodyPr>
          <a:lstStyle/>
          <a:p>
            <a:pPr>
              <a:spcAft>
                <a:spcPts val="400"/>
              </a:spcAft>
            </a:pPr>
            <a:r>
              <a:rPr lang="en-AU" sz="4800">
                <a:solidFill>
                  <a:srgbClr val="0F766E"/>
                </a:solidFill>
                <a:latin typeface="Cambria" panose="02040503050406030204" pitchFamily="18" charset="0"/>
              </a:rPr>
              <a:t>____</a:t>
            </a:r>
          </a:p>
        </p:txBody>
      </p:sp>
      <p:sp>
        <p:nvSpPr>
          <p:cNvPr id="10" name="TextBox 9">
            <a:extLst>
              <a:ext uri="{FF2B5EF4-FFF2-40B4-BE49-F238E27FC236}">
                <a16:creationId xmlns:a16="http://schemas.microsoft.com/office/drawing/2014/main" id="{CB7DCD6E-38FB-C1C6-D813-C8BA495A202E}"/>
              </a:ext>
            </a:extLst>
          </p:cNvPr>
          <p:cNvSpPr txBox="1"/>
          <p:nvPr/>
        </p:nvSpPr>
        <p:spPr>
          <a:xfrm>
            <a:off x="4572000" y="3111500"/>
            <a:ext cx="2946400" cy="369332"/>
          </a:xfrm>
          <a:prstGeom prst="rect">
            <a:avLst/>
          </a:prstGeom>
          <a:noFill/>
        </p:spPr>
        <p:txBody>
          <a:bodyPr vert="horz" wrap="square" lIns="0" tIns="0" rIns="0" bIns="0" rtlCol="0">
            <a:noAutofit/>
          </a:bodyPr>
          <a:lstStyle/>
          <a:p>
            <a:pPr>
              <a:spcAft>
                <a:spcPts val="400"/>
              </a:spcAft>
            </a:pPr>
            <a:r>
              <a:rPr lang="en-US" sz="1600">
                <a:solidFill>
                  <a:srgbClr val="14213D"/>
                </a:solidFill>
                <a:latin typeface="Calibri" panose="020F0502020204030204" pitchFamily="34" charset="0"/>
              </a:rPr>
              <a:t>Cover: after hours, overflow, or all calls alongside your team</a:t>
            </a:r>
            <a:endParaRPr lang="en-AU" sz="1600">
              <a:solidFill>
                <a:srgbClr val="14213D"/>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C2C106FB-6358-4E5F-11B7-36C947B13A48}"/>
              </a:ext>
            </a:extLst>
          </p:cNvPr>
          <p:cNvSpPr/>
          <p:nvPr/>
        </p:nvSpPr>
        <p:spPr>
          <a:xfrm>
            <a:off x="8026400" y="1905000"/>
            <a:ext cx="3454400" cy="2540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C2A450C2-B117-3C43-FDA2-11D6D0F4FB69}"/>
              </a:ext>
            </a:extLst>
          </p:cNvPr>
          <p:cNvSpPr txBox="1"/>
          <p:nvPr/>
        </p:nvSpPr>
        <p:spPr>
          <a:xfrm>
            <a:off x="8280400" y="2159000"/>
            <a:ext cx="2946400" cy="369332"/>
          </a:xfrm>
          <a:prstGeom prst="rect">
            <a:avLst/>
          </a:prstGeom>
          <a:noFill/>
        </p:spPr>
        <p:txBody>
          <a:bodyPr vert="horz" wrap="square" lIns="0" tIns="0" rIns="0" bIns="0" rtlCol="0">
            <a:noAutofit/>
          </a:bodyPr>
          <a:lstStyle/>
          <a:p>
            <a:pPr>
              <a:spcAft>
                <a:spcPts val="400"/>
              </a:spcAft>
            </a:pPr>
            <a:r>
              <a:rPr lang="en-AU" sz="4800">
                <a:solidFill>
                  <a:srgbClr val="0F766E"/>
                </a:solidFill>
                <a:latin typeface="Cambria" panose="02040503050406030204" pitchFamily="18" charset="0"/>
              </a:rPr>
              <a:t>____</a:t>
            </a:r>
          </a:p>
        </p:txBody>
      </p:sp>
      <p:sp>
        <p:nvSpPr>
          <p:cNvPr id="13" name="TextBox 12">
            <a:extLst>
              <a:ext uri="{FF2B5EF4-FFF2-40B4-BE49-F238E27FC236}">
                <a16:creationId xmlns:a16="http://schemas.microsoft.com/office/drawing/2014/main" id="{5FA44068-EDBE-565E-81D1-B0F6093B3CA3}"/>
              </a:ext>
            </a:extLst>
          </p:cNvPr>
          <p:cNvSpPr txBox="1"/>
          <p:nvPr/>
        </p:nvSpPr>
        <p:spPr>
          <a:xfrm>
            <a:off x="8280400" y="3111500"/>
            <a:ext cx="2946400" cy="369332"/>
          </a:xfrm>
          <a:prstGeom prst="rect">
            <a:avLst/>
          </a:prstGeom>
          <a:noFill/>
        </p:spPr>
        <p:txBody>
          <a:bodyPr vert="horz" wrap="square" lIns="0" tIns="0" rIns="0" bIns="0" rtlCol="0">
            <a:noAutofit/>
          </a:bodyPr>
          <a:lstStyle/>
          <a:p>
            <a:pPr>
              <a:spcAft>
                <a:spcPts val="400"/>
              </a:spcAft>
            </a:pPr>
            <a:r>
              <a:rPr lang="en-US" sz="1600">
                <a:solidFill>
                  <a:srgbClr val="14213D"/>
                </a:solidFill>
                <a:latin typeface="Calibri" panose="020F0502020204030204" pitchFamily="34" charset="0"/>
              </a:rPr>
              <a:t>Where your bookings live today</a:t>
            </a:r>
            <a:endParaRPr lang="en-AU" sz="1600">
              <a:solidFill>
                <a:srgbClr val="14213D"/>
              </a:solidFill>
              <a:latin typeface="Calibri" panose="020F0502020204030204" pitchFamily="34" charset="0"/>
            </a:endParaRPr>
          </a:p>
        </p:txBody>
      </p:sp>
      <p:sp>
        <p:nvSpPr>
          <p:cNvPr id="14" name="TextBox 13">
            <a:extLst>
              <a:ext uri="{FF2B5EF4-FFF2-40B4-BE49-F238E27FC236}">
                <a16:creationId xmlns:a16="http://schemas.microsoft.com/office/drawing/2014/main" id="{EC6F6BE5-2624-1932-0860-FDAC4D9E05E2}"/>
              </a:ext>
            </a:extLst>
          </p:cNvPr>
          <p:cNvSpPr txBox="1"/>
          <p:nvPr/>
        </p:nvSpPr>
        <p:spPr>
          <a:xfrm>
            <a:off x="609600" y="4826000"/>
            <a:ext cx="10972800" cy="369332"/>
          </a:xfrm>
          <a:prstGeom prst="rect">
            <a:avLst/>
          </a:prstGeom>
          <a:noFill/>
        </p:spPr>
        <p:txBody>
          <a:bodyPr vert="horz" wrap="square" lIns="0" tIns="0" rIns="0" bIns="0" rtlCol="0">
            <a:noAutofit/>
          </a:bodyPr>
          <a:lstStyle/>
          <a:p>
            <a:pPr>
              <a:spcAft>
                <a:spcPts val="400"/>
              </a:spcAft>
            </a:pPr>
            <a:r>
              <a:rPr lang="en-US" sz="1600" i="1">
                <a:solidFill>
                  <a:srgbClr val="475569"/>
                </a:solidFill>
                <a:latin typeface="Calibri" panose="020F0502020204030204" pitchFamily="34" charset="0"/>
              </a:rPr>
              <a:t>Online booking (HotDoc, HealthEngine) stays. This is for the people who pick up the phone.</a:t>
            </a:r>
            <a:endParaRPr lang="en-AU" sz="1600" i="1">
              <a:solidFill>
                <a:srgbClr val="475569"/>
              </a:solidFill>
              <a:latin typeface="Calibri" panose="020F0502020204030204" pitchFamily="34" charset="0"/>
            </a:endParaRPr>
          </a:p>
        </p:txBody>
      </p:sp>
    </p:spTree>
    <p:extLst>
      <p:ext uri="{BB962C8B-B14F-4D97-AF65-F5344CB8AC3E}">
        <p14:creationId xmlns:p14="http://schemas.microsoft.com/office/powerpoint/2010/main" val="1610628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1A5A12-58F4-6E3A-5C29-6480B2A64E6D}"/>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3</a:t>
            </a:r>
          </a:p>
        </p:txBody>
      </p:sp>
      <p:sp>
        <p:nvSpPr>
          <p:cNvPr id="3" name="TextBox 2">
            <a:extLst>
              <a:ext uri="{FF2B5EF4-FFF2-40B4-BE49-F238E27FC236}">
                <a16:creationId xmlns:a16="http://schemas.microsoft.com/office/drawing/2014/main" id="{477B0EDE-8DFE-6A69-EC13-62BACCECC675}"/>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What happens on every call</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4E4DB308-831E-1C59-5336-6FA366F69184}"/>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Live today: answer, disclose, message, 000. At go-live: book, text, email.</a:t>
            </a:r>
            <a:endParaRPr lang="en-AU" sz="1500">
              <a:solidFill>
                <a:srgbClr val="475569"/>
              </a:solidFill>
              <a:latin typeface="Calibri" panose="020F0502020204030204" pitchFamily="34" charset="0"/>
            </a:endParaRPr>
          </a:p>
        </p:txBody>
      </p:sp>
      <p:sp>
        <p:nvSpPr>
          <p:cNvPr id="5" name="Oval 4">
            <a:extLst>
              <a:ext uri="{FF2B5EF4-FFF2-40B4-BE49-F238E27FC236}">
                <a16:creationId xmlns:a16="http://schemas.microsoft.com/office/drawing/2014/main" id="{B5D21508-EAFB-8835-25FA-0FE7699626B4}"/>
              </a:ext>
            </a:extLst>
          </p:cNvPr>
          <p:cNvSpPr/>
          <p:nvPr/>
        </p:nvSpPr>
        <p:spPr>
          <a:xfrm>
            <a:off x="1168400" y="1905000"/>
            <a:ext cx="609600" cy="6096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1</a:t>
            </a:r>
          </a:p>
        </p:txBody>
      </p:sp>
      <p:cxnSp>
        <p:nvCxnSpPr>
          <p:cNvPr id="6" name="Straight Connector 5">
            <a:extLst>
              <a:ext uri="{FF2B5EF4-FFF2-40B4-BE49-F238E27FC236}">
                <a16:creationId xmlns:a16="http://schemas.microsoft.com/office/drawing/2014/main" id="{B3239D9D-20C7-9B4E-97B8-5312E2498FA6}"/>
              </a:ext>
            </a:extLst>
          </p:cNvPr>
          <p:cNvCxnSpPr/>
          <p:nvPr/>
        </p:nvCxnSpPr>
        <p:spPr>
          <a:xfrm>
            <a:off x="1854200" y="2209800"/>
            <a:ext cx="1092200" cy="0"/>
          </a:xfrm>
          <a:prstGeom prst="line">
            <a:avLst/>
          </a:prstGeom>
          <a:ln w="25400">
            <a:solidFill>
              <a:srgbClr val="CBD5E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DD62138-A531-9277-5E58-9B5A7EA21077}"/>
              </a:ext>
            </a:extLst>
          </p:cNvPr>
          <p:cNvSpPr txBox="1"/>
          <p:nvPr/>
        </p:nvSpPr>
        <p:spPr>
          <a:xfrm>
            <a:off x="609600" y="2730500"/>
            <a:ext cx="1727200" cy="369332"/>
          </a:xfrm>
          <a:prstGeom prst="rect">
            <a:avLst/>
          </a:prstGeom>
          <a:noFill/>
        </p:spPr>
        <p:txBody>
          <a:bodyPr vert="horz" wrap="square" lIns="0" tIns="0" rIns="0" bIns="0" rtlCol="0">
            <a:noAutofit/>
          </a:bodyPr>
          <a:lstStyle/>
          <a:p>
            <a:pPr algn="ctr">
              <a:spcAft>
                <a:spcPts val="400"/>
              </a:spcAft>
            </a:pPr>
            <a:r>
              <a:rPr lang="en-AU" sz="1500" b="1">
                <a:solidFill>
                  <a:srgbClr val="14213D"/>
                </a:solidFill>
                <a:latin typeface="Calibri" panose="020F0502020204030204" pitchFamily="34" charset="0"/>
              </a:rPr>
              <a:t>Answers</a:t>
            </a:r>
          </a:p>
        </p:txBody>
      </p:sp>
      <p:sp>
        <p:nvSpPr>
          <p:cNvPr id="8" name="TextBox 7">
            <a:extLst>
              <a:ext uri="{FF2B5EF4-FFF2-40B4-BE49-F238E27FC236}">
                <a16:creationId xmlns:a16="http://schemas.microsoft.com/office/drawing/2014/main" id="{57FE4A88-585A-45CE-5960-4E0E0C7DDCAD}"/>
              </a:ext>
            </a:extLst>
          </p:cNvPr>
          <p:cNvSpPr txBox="1"/>
          <p:nvPr/>
        </p:nvSpPr>
        <p:spPr>
          <a:xfrm>
            <a:off x="609600" y="3111500"/>
            <a:ext cx="17272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Says it's an automated assistant and the call is recorded</a:t>
            </a:r>
            <a:endParaRPr lang="en-AU" sz="1250">
              <a:solidFill>
                <a:srgbClr val="475569"/>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1DFE3A24-D8D6-0B77-EC53-A477A9C919FE}"/>
              </a:ext>
            </a:extLst>
          </p:cNvPr>
          <p:cNvSpPr/>
          <p:nvPr/>
        </p:nvSpPr>
        <p:spPr>
          <a:xfrm>
            <a:off x="901700" y="4318000"/>
            <a:ext cx="1143000" cy="3048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574F1657-6233-4D9D-F138-E6B9E0C47367}"/>
              </a:ext>
            </a:extLst>
          </p:cNvPr>
          <p:cNvSpPr txBox="1"/>
          <p:nvPr/>
        </p:nvSpPr>
        <p:spPr>
          <a:xfrm>
            <a:off x="901700" y="4368800"/>
            <a:ext cx="1143000" cy="369332"/>
          </a:xfrm>
          <a:prstGeom prst="rect">
            <a:avLst/>
          </a:prstGeom>
          <a:noFill/>
        </p:spPr>
        <p:txBody>
          <a:bodyPr vert="horz" wrap="square" lIns="0" tIns="0" rIns="0" bIns="0" rtlCol="0">
            <a:noAutofit/>
          </a:bodyPr>
          <a:lstStyle/>
          <a:p>
            <a:pPr algn="ctr">
              <a:spcAft>
                <a:spcPts val="400"/>
              </a:spcAft>
            </a:pPr>
            <a:r>
              <a:rPr lang="en-AU" sz="1100" b="1">
                <a:solidFill>
                  <a:srgbClr val="0F766E"/>
                </a:solidFill>
                <a:latin typeface="Calibri" panose="020F0502020204030204" pitchFamily="34" charset="0"/>
              </a:rPr>
              <a:t>Live</a:t>
            </a:r>
          </a:p>
        </p:txBody>
      </p:sp>
      <p:sp>
        <p:nvSpPr>
          <p:cNvPr id="11" name="Oval 10">
            <a:extLst>
              <a:ext uri="{FF2B5EF4-FFF2-40B4-BE49-F238E27FC236}">
                <a16:creationId xmlns:a16="http://schemas.microsoft.com/office/drawing/2014/main" id="{19F35FC7-9E0A-CDE0-FBF7-BFFA8BED43B1}"/>
              </a:ext>
            </a:extLst>
          </p:cNvPr>
          <p:cNvSpPr/>
          <p:nvPr/>
        </p:nvSpPr>
        <p:spPr>
          <a:xfrm>
            <a:off x="3022600" y="1905000"/>
            <a:ext cx="609600" cy="6096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2</a:t>
            </a:r>
          </a:p>
        </p:txBody>
      </p:sp>
      <p:cxnSp>
        <p:nvCxnSpPr>
          <p:cNvPr id="12" name="Straight Connector 11">
            <a:extLst>
              <a:ext uri="{FF2B5EF4-FFF2-40B4-BE49-F238E27FC236}">
                <a16:creationId xmlns:a16="http://schemas.microsoft.com/office/drawing/2014/main" id="{D438EC7F-89DD-5F63-27D7-AA2BF7A6BA7F}"/>
              </a:ext>
            </a:extLst>
          </p:cNvPr>
          <p:cNvCxnSpPr/>
          <p:nvPr/>
        </p:nvCxnSpPr>
        <p:spPr>
          <a:xfrm>
            <a:off x="3708400" y="2209800"/>
            <a:ext cx="1092200" cy="0"/>
          </a:xfrm>
          <a:prstGeom prst="line">
            <a:avLst/>
          </a:prstGeom>
          <a:ln w="25400">
            <a:solidFill>
              <a:srgbClr val="CBD5E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DD61C0-74A9-75C9-2B27-54D6DB3EB015}"/>
              </a:ext>
            </a:extLst>
          </p:cNvPr>
          <p:cNvSpPr txBox="1"/>
          <p:nvPr/>
        </p:nvSpPr>
        <p:spPr>
          <a:xfrm>
            <a:off x="2463800" y="2730500"/>
            <a:ext cx="1727200" cy="369332"/>
          </a:xfrm>
          <a:prstGeom prst="rect">
            <a:avLst/>
          </a:prstGeom>
          <a:noFill/>
        </p:spPr>
        <p:txBody>
          <a:bodyPr vert="horz" wrap="square" lIns="0" tIns="0" rIns="0" bIns="0" rtlCol="0">
            <a:noAutofit/>
          </a:bodyPr>
          <a:lstStyle/>
          <a:p>
            <a:pPr algn="ctr">
              <a:spcAft>
                <a:spcPts val="400"/>
              </a:spcAft>
            </a:pPr>
            <a:r>
              <a:rPr lang="en-AU" sz="1500" b="1">
                <a:solidFill>
                  <a:srgbClr val="14213D"/>
                </a:solidFill>
                <a:latin typeface="Calibri" panose="020F0502020204030204" pitchFamily="34" charset="0"/>
              </a:rPr>
              <a:t>Understands</a:t>
            </a:r>
          </a:p>
        </p:txBody>
      </p:sp>
      <p:sp>
        <p:nvSpPr>
          <p:cNvPr id="14" name="TextBox 13">
            <a:extLst>
              <a:ext uri="{FF2B5EF4-FFF2-40B4-BE49-F238E27FC236}">
                <a16:creationId xmlns:a16="http://schemas.microsoft.com/office/drawing/2014/main" id="{4425CE2C-7216-7975-A3F1-06E5404F3181}"/>
              </a:ext>
            </a:extLst>
          </p:cNvPr>
          <p:cNvSpPr txBox="1"/>
          <p:nvPr/>
        </p:nvSpPr>
        <p:spPr>
          <a:xfrm>
            <a:off x="2463800" y="3111500"/>
            <a:ext cx="17272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New or existing patient, what they need, when suits</a:t>
            </a:r>
            <a:endParaRPr lang="en-AU" sz="1250">
              <a:solidFill>
                <a:srgbClr val="475569"/>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1E36747B-7860-CE91-90A1-07614BEA83F6}"/>
              </a:ext>
            </a:extLst>
          </p:cNvPr>
          <p:cNvSpPr/>
          <p:nvPr/>
        </p:nvSpPr>
        <p:spPr>
          <a:xfrm>
            <a:off x="2755900" y="4318000"/>
            <a:ext cx="1143000" cy="3048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4F4DF918-3DAF-A22D-F2A5-BD390C9F8BB4}"/>
              </a:ext>
            </a:extLst>
          </p:cNvPr>
          <p:cNvSpPr txBox="1"/>
          <p:nvPr/>
        </p:nvSpPr>
        <p:spPr>
          <a:xfrm>
            <a:off x="2755900" y="4368800"/>
            <a:ext cx="1143000" cy="369332"/>
          </a:xfrm>
          <a:prstGeom prst="rect">
            <a:avLst/>
          </a:prstGeom>
          <a:noFill/>
        </p:spPr>
        <p:txBody>
          <a:bodyPr vert="horz" wrap="square" lIns="0" tIns="0" rIns="0" bIns="0" rtlCol="0">
            <a:noAutofit/>
          </a:bodyPr>
          <a:lstStyle/>
          <a:p>
            <a:pPr algn="ctr">
              <a:spcAft>
                <a:spcPts val="400"/>
              </a:spcAft>
            </a:pPr>
            <a:r>
              <a:rPr lang="en-AU" sz="1100" b="1">
                <a:solidFill>
                  <a:srgbClr val="0F766E"/>
                </a:solidFill>
                <a:latin typeface="Calibri" panose="020F0502020204030204" pitchFamily="34" charset="0"/>
              </a:rPr>
              <a:t>Live</a:t>
            </a:r>
          </a:p>
        </p:txBody>
      </p:sp>
      <p:sp>
        <p:nvSpPr>
          <p:cNvPr id="17" name="Oval 16">
            <a:extLst>
              <a:ext uri="{FF2B5EF4-FFF2-40B4-BE49-F238E27FC236}">
                <a16:creationId xmlns:a16="http://schemas.microsoft.com/office/drawing/2014/main" id="{071D1404-0067-1756-AF33-3B501AE6BF83}"/>
              </a:ext>
            </a:extLst>
          </p:cNvPr>
          <p:cNvSpPr/>
          <p:nvPr/>
        </p:nvSpPr>
        <p:spPr>
          <a:xfrm>
            <a:off x="4876800" y="1905000"/>
            <a:ext cx="609600" cy="609600"/>
          </a:xfrm>
          <a:prstGeom prst="ellipse">
            <a:avLst/>
          </a:prstGeom>
          <a:solidFill>
            <a:srgbClr val="1421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3</a:t>
            </a:r>
          </a:p>
        </p:txBody>
      </p:sp>
      <p:cxnSp>
        <p:nvCxnSpPr>
          <p:cNvPr id="18" name="Straight Connector 17">
            <a:extLst>
              <a:ext uri="{FF2B5EF4-FFF2-40B4-BE49-F238E27FC236}">
                <a16:creationId xmlns:a16="http://schemas.microsoft.com/office/drawing/2014/main" id="{5AABA4C0-6B81-0276-0216-C2173278D026}"/>
              </a:ext>
            </a:extLst>
          </p:cNvPr>
          <p:cNvCxnSpPr/>
          <p:nvPr/>
        </p:nvCxnSpPr>
        <p:spPr>
          <a:xfrm>
            <a:off x="5562600" y="2209800"/>
            <a:ext cx="1092200" cy="0"/>
          </a:xfrm>
          <a:prstGeom prst="line">
            <a:avLst/>
          </a:prstGeom>
          <a:ln w="25400">
            <a:solidFill>
              <a:srgbClr val="CBD5E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DB382D6-14EC-8FD6-45F8-3F4AECBB919F}"/>
              </a:ext>
            </a:extLst>
          </p:cNvPr>
          <p:cNvSpPr txBox="1"/>
          <p:nvPr/>
        </p:nvSpPr>
        <p:spPr>
          <a:xfrm>
            <a:off x="4318000" y="2730500"/>
            <a:ext cx="1727200" cy="369332"/>
          </a:xfrm>
          <a:prstGeom prst="rect">
            <a:avLst/>
          </a:prstGeom>
          <a:noFill/>
        </p:spPr>
        <p:txBody>
          <a:bodyPr vert="horz" wrap="square" lIns="0" tIns="0" rIns="0" bIns="0" rtlCol="0">
            <a:noAutofit/>
          </a:bodyPr>
          <a:lstStyle/>
          <a:p>
            <a:pPr algn="ctr">
              <a:spcAft>
                <a:spcPts val="400"/>
              </a:spcAft>
            </a:pPr>
            <a:r>
              <a:rPr lang="en-AU" sz="1500" b="1">
                <a:solidFill>
                  <a:srgbClr val="14213D"/>
                </a:solidFill>
                <a:latin typeface="Calibri" panose="020F0502020204030204" pitchFamily="34" charset="0"/>
              </a:rPr>
              <a:t>Checks your calendar</a:t>
            </a:r>
          </a:p>
        </p:txBody>
      </p:sp>
      <p:sp>
        <p:nvSpPr>
          <p:cNvPr id="20" name="TextBox 19">
            <a:extLst>
              <a:ext uri="{FF2B5EF4-FFF2-40B4-BE49-F238E27FC236}">
                <a16:creationId xmlns:a16="http://schemas.microsoft.com/office/drawing/2014/main" id="{4B9B5376-852D-6D85-E4C0-D3B2A304C758}"/>
              </a:ext>
            </a:extLst>
          </p:cNvPr>
          <p:cNvSpPr txBox="1"/>
          <p:nvPr/>
        </p:nvSpPr>
        <p:spPr>
          <a:xfrm>
            <a:off x="4318000" y="3111500"/>
            <a:ext cx="17272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Only the appointment types and slots you release</a:t>
            </a:r>
            <a:endParaRPr lang="en-AU" sz="1250">
              <a:solidFill>
                <a:srgbClr val="475569"/>
              </a:solidFill>
              <a:latin typeface="Calibri" panose="020F0502020204030204" pitchFamily="34" charset="0"/>
            </a:endParaRPr>
          </a:p>
        </p:txBody>
      </p:sp>
      <p:sp>
        <p:nvSpPr>
          <p:cNvPr id="21" name="Rectangle: Rounded Corners 20">
            <a:extLst>
              <a:ext uri="{FF2B5EF4-FFF2-40B4-BE49-F238E27FC236}">
                <a16:creationId xmlns:a16="http://schemas.microsoft.com/office/drawing/2014/main" id="{BFD45461-6F26-5C8F-504A-E220DC613A88}"/>
              </a:ext>
            </a:extLst>
          </p:cNvPr>
          <p:cNvSpPr/>
          <p:nvPr/>
        </p:nvSpPr>
        <p:spPr>
          <a:xfrm>
            <a:off x="4610100" y="4318000"/>
            <a:ext cx="1143000" cy="304800"/>
          </a:xfrm>
          <a:prstGeom prst="roundRect">
            <a:avLst>
              <a:gd name="adj" fmla="val 8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TextBox 21">
            <a:extLst>
              <a:ext uri="{FF2B5EF4-FFF2-40B4-BE49-F238E27FC236}">
                <a16:creationId xmlns:a16="http://schemas.microsoft.com/office/drawing/2014/main" id="{43C69653-BA6D-267C-D0C7-39C604E8E68B}"/>
              </a:ext>
            </a:extLst>
          </p:cNvPr>
          <p:cNvSpPr txBox="1"/>
          <p:nvPr/>
        </p:nvSpPr>
        <p:spPr>
          <a:xfrm>
            <a:off x="4610100" y="4368800"/>
            <a:ext cx="1143000" cy="369332"/>
          </a:xfrm>
          <a:prstGeom prst="rect">
            <a:avLst/>
          </a:prstGeom>
          <a:noFill/>
        </p:spPr>
        <p:txBody>
          <a:bodyPr vert="horz" wrap="square" lIns="0" tIns="0" rIns="0" bIns="0" rtlCol="0">
            <a:noAutofit/>
          </a:bodyPr>
          <a:lstStyle/>
          <a:p>
            <a:pPr algn="ctr">
              <a:spcAft>
                <a:spcPts val="400"/>
              </a:spcAft>
            </a:pPr>
            <a:r>
              <a:rPr lang="en-AU" sz="1100" b="1">
                <a:solidFill>
                  <a:srgbClr val="14213D"/>
                </a:solidFill>
                <a:latin typeface="Calibri" panose="020F0502020204030204" pitchFamily="34" charset="0"/>
              </a:rPr>
              <a:t>At go-live</a:t>
            </a:r>
          </a:p>
        </p:txBody>
      </p:sp>
      <p:sp>
        <p:nvSpPr>
          <p:cNvPr id="23" name="Oval 22">
            <a:extLst>
              <a:ext uri="{FF2B5EF4-FFF2-40B4-BE49-F238E27FC236}">
                <a16:creationId xmlns:a16="http://schemas.microsoft.com/office/drawing/2014/main" id="{F1152779-53FB-02D8-268C-D70B327E7614}"/>
              </a:ext>
            </a:extLst>
          </p:cNvPr>
          <p:cNvSpPr/>
          <p:nvPr/>
        </p:nvSpPr>
        <p:spPr>
          <a:xfrm>
            <a:off x="6731000" y="1905000"/>
            <a:ext cx="609600" cy="609600"/>
          </a:xfrm>
          <a:prstGeom prst="ellipse">
            <a:avLst/>
          </a:prstGeom>
          <a:solidFill>
            <a:srgbClr val="1421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4</a:t>
            </a:r>
          </a:p>
        </p:txBody>
      </p:sp>
      <p:cxnSp>
        <p:nvCxnSpPr>
          <p:cNvPr id="24" name="Straight Connector 23">
            <a:extLst>
              <a:ext uri="{FF2B5EF4-FFF2-40B4-BE49-F238E27FC236}">
                <a16:creationId xmlns:a16="http://schemas.microsoft.com/office/drawing/2014/main" id="{42F66595-B979-1E0C-677E-379A56E92B54}"/>
              </a:ext>
            </a:extLst>
          </p:cNvPr>
          <p:cNvCxnSpPr/>
          <p:nvPr/>
        </p:nvCxnSpPr>
        <p:spPr>
          <a:xfrm>
            <a:off x="7416800" y="2209800"/>
            <a:ext cx="1092200" cy="0"/>
          </a:xfrm>
          <a:prstGeom prst="line">
            <a:avLst/>
          </a:prstGeom>
          <a:ln w="25400">
            <a:solidFill>
              <a:srgbClr val="CBD5E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70E6624-DBF3-35B1-17E9-2D4053E98DBA}"/>
              </a:ext>
            </a:extLst>
          </p:cNvPr>
          <p:cNvSpPr txBox="1"/>
          <p:nvPr/>
        </p:nvSpPr>
        <p:spPr>
          <a:xfrm>
            <a:off x="6172200" y="2730500"/>
            <a:ext cx="1727200" cy="369332"/>
          </a:xfrm>
          <a:prstGeom prst="rect">
            <a:avLst/>
          </a:prstGeom>
          <a:noFill/>
        </p:spPr>
        <p:txBody>
          <a:bodyPr vert="horz" wrap="square" lIns="0" tIns="0" rIns="0" bIns="0" rtlCol="0">
            <a:noAutofit/>
          </a:bodyPr>
          <a:lstStyle/>
          <a:p>
            <a:pPr algn="ctr">
              <a:spcAft>
                <a:spcPts val="400"/>
              </a:spcAft>
            </a:pPr>
            <a:r>
              <a:rPr lang="en-AU" sz="1500" b="1">
                <a:solidFill>
                  <a:srgbClr val="14213D"/>
                </a:solidFill>
                <a:latin typeface="Calibri" panose="020F0502020204030204" pitchFamily="34" charset="0"/>
              </a:rPr>
              <a:t>Books</a:t>
            </a:r>
          </a:p>
        </p:txBody>
      </p:sp>
      <p:sp>
        <p:nvSpPr>
          <p:cNvPr id="26" name="TextBox 25">
            <a:extLst>
              <a:ext uri="{FF2B5EF4-FFF2-40B4-BE49-F238E27FC236}">
                <a16:creationId xmlns:a16="http://schemas.microsoft.com/office/drawing/2014/main" id="{44D74E87-24AC-F3D7-0DD2-81D74B2105CE}"/>
              </a:ext>
            </a:extLst>
          </p:cNvPr>
          <p:cNvSpPr txBox="1"/>
          <p:nvPr/>
        </p:nvSpPr>
        <p:spPr>
          <a:xfrm>
            <a:off x="6172200" y="3111500"/>
            <a:ext cx="17272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Confirms only when your calendar confirms; reads back a reference</a:t>
            </a:r>
            <a:endParaRPr lang="en-AU" sz="1250">
              <a:solidFill>
                <a:srgbClr val="475569"/>
              </a:solidFill>
              <a:latin typeface="Calibri" panose="020F0502020204030204" pitchFamily="34" charset="0"/>
            </a:endParaRPr>
          </a:p>
        </p:txBody>
      </p:sp>
      <p:sp>
        <p:nvSpPr>
          <p:cNvPr id="27" name="Rectangle: Rounded Corners 26">
            <a:extLst>
              <a:ext uri="{FF2B5EF4-FFF2-40B4-BE49-F238E27FC236}">
                <a16:creationId xmlns:a16="http://schemas.microsoft.com/office/drawing/2014/main" id="{291941A1-940E-699E-C07D-A39EF2DAFA30}"/>
              </a:ext>
            </a:extLst>
          </p:cNvPr>
          <p:cNvSpPr/>
          <p:nvPr/>
        </p:nvSpPr>
        <p:spPr>
          <a:xfrm>
            <a:off x="6464300" y="4318000"/>
            <a:ext cx="1143000" cy="304800"/>
          </a:xfrm>
          <a:prstGeom prst="roundRect">
            <a:avLst>
              <a:gd name="adj" fmla="val 8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Box 27">
            <a:extLst>
              <a:ext uri="{FF2B5EF4-FFF2-40B4-BE49-F238E27FC236}">
                <a16:creationId xmlns:a16="http://schemas.microsoft.com/office/drawing/2014/main" id="{2C583B2C-9F7F-A633-7F1A-CCB0ACB8D3F5}"/>
              </a:ext>
            </a:extLst>
          </p:cNvPr>
          <p:cNvSpPr txBox="1"/>
          <p:nvPr/>
        </p:nvSpPr>
        <p:spPr>
          <a:xfrm>
            <a:off x="6464300" y="4368800"/>
            <a:ext cx="1143000" cy="369332"/>
          </a:xfrm>
          <a:prstGeom prst="rect">
            <a:avLst/>
          </a:prstGeom>
          <a:noFill/>
        </p:spPr>
        <p:txBody>
          <a:bodyPr vert="horz" wrap="square" lIns="0" tIns="0" rIns="0" bIns="0" rtlCol="0">
            <a:noAutofit/>
          </a:bodyPr>
          <a:lstStyle/>
          <a:p>
            <a:pPr algn="ctr">
              <a:spcAft>
                <a:spcPts val="400"/>
              </a:spcAft>
            </a:pPr>
            <a:r>
              <a:rPr lang="en-AU" sz="1100" b="1">
                <a:solidFill>
                  <a:srgbClr val="14213D"/>
                </a:solidFill>
                <a:latin typeface="Calibri" panose="020F0502020204030204" pitchFamily="34" charset="0"/>
              </a:rPr>
              <a:t>At go-live</a:t>
            </a:r>
          </a:p>
        </p:txBody>
      </p:sp>
      <p:sp>
        <p:nvSpPr>
          <p:cNvPr id="29" name="Oval 28">
            <a:extLst>
              <a:ext uri="{FF2B5EF4-FFF2-40B4-BE49-F238E27FC236}">
                <a16:creationId xmlns:a16="http://schemas.microsoft.com/office/drawing/2014/main" id="{6C70F4C5-E039-28C2-1FC0-3C1CC83DC814}"/>
              </a:ext>
            </a:extLst>
          </p:cNvPr>
          <p:cNvSpPr/>
          <p:nvPr/>
        </p:nvSpPr>
        <p:spPr>
          <a:xfrm>
            <a:off x="8585200" y="1905000"/>
            <a:ext cx="609600" cy="609600"/>
          </a:xfrm>
          <a:prstGeom prst="ellipse">
            <a:avLst/>
          </a:prstGeom>
          <a:solidFill>
            <a:srgbClr val="1421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5</a:t>
            </a:r>
          </a:p>
        </p:txBody>
      </p:sp>
      <p:cxnSp>
        <p:nvCxnSpPr>
          <p:cNvPr id="30" name="Straight Connector 29">
            <a:extLst>
              <a:ext uri="{FF2B5EF4-FFF2-40B4-BE49-F238E27FC236}">
                <a16:creationId xmlns:a16="http://schemas.microsoft.com/office/drawing/2014/main" id="{3FA4C246-2D37-8AD1-9F89-D955C5C1EB0E}"/>
              </a:ext>
            </a:extLst>
          </p:cNvPr>
          <p:cNvCxnSpPr/>
          <p:nvPr/>
        </p:nvCxnSpPr>
        <p:spPr>
          <a:xfrm>
            <a:off x="9271000" y="2209800"/>
            <a:ext cx="1092200" cy="0"/>
          </a:xfrm>
          <a:prstGeom prst="line">
            <a:avLst/>
          </a:prstGeom>
          <a:ln w="25400">
            <a:solidFill>
              <a:srgbClr val="CBD5E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6F45185-3AC4-B03C-49A3-0547574BB821}"/>
              </a:ext>
            </a:extLst>
          </p:cNvPr>
          <p:cNvSpPr txBox="1"/>
          <p:nvPr/>
        </p:nvSpPr>
        <p:spPr>
          <a:xfrm>
            <a:off x="8026400" y="2730500"/>
            <a:ext cx="1727200" cy="369332"/>
          </a:xfrm>
          <a:prstGeom prst="rect">
            <a:avLst/>
          </a:prstGeom>
          <a:noFill/>
        </p:spPr>
        <p:txBody>
          <a:bodyPr vert="horz" wrap="square" lIns="0" tIns="0" rIns="0" bIns="0" rtlCol="0">
            <a:noAutofit/>
          </a:bodyPr>
          <a:lstStyle/>
          <a:p>
            <a:pPr algn="ctr">
              <a:spcAft>
                <a:spcPts val="400"/>
              </a:spcAft>
            </a:pPr>
            <a:r>
              <a:rPr lang="en-AU" sz="1500" b="1">
                <a:solidFill>
                  <a:srgbClr val="14213D"/>
                </a:solidFill>
                <a:latin typeface="Calibri" panose="020F0502020204030204" pitchFamily="34" charset="0"/>
              </a:rPr>
              <a:t>Confirms by SMS</a:t>
            </a:r>
          </a:p>
        </p:txBody>
      </p:sp>
      <p:sp>
        <p:nvSpPr>
          <p:cNvPr id="32" name="TextBox 31">
            <a:extLst>
              <a:ext uri="{FF2B5EF4-FFF2-40B4-BE49-F238E27FC236}">
                <a16:creationId xmlns:a16="http://schemas.microsoft.com/office/drawing/2014/main" id="{474E2E60-0F41-FAF9-5D55-BBC40511D73B}"/>
              </a:ext>
            </a:extLst>
          </p:cNvPr>
          <p:cNvSpPr txBox="1"/>
          <p:nvPr/>
        </p:nvSpPr>
        <p:spPr>
          <a:xfrm>
            <a:off x="8026400" y="3111500"/>
            <a:ext cx="17272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If the caller agrees; STOP to opt out</a:t>
            </a:r>
            <a:endParaRPr lang="en-AU" sz="1250">
              <a:solidFill>
                <a:srgbClr val="475569"/>
              </a:solidFill>
              <a:latin typeface="Calibri" panose="020F0502020204030204" pitchFamily="34" charset="0"/>
            </a:endParaRPr>
          </a:p>
        </p:txBody>
      </p:sp>
      <p:sp>
        <p:nvSpPr>
          <p:cNvPr id="33" name="Rectangle: Rounded Corners 32">
            <a:extLst>
              <a:ext uri="{FF2B5EF4-FFF2-40B4-BE49-F238E27FC236}">
                <a16:creationId xmlns:a16="http://schemas.microsoft.com/office/drawing/2014/main" id="{ADB7FD0A-6051-8EF3-EC02-B7EFEBABBF68}"/>
              </a:ext>
            </a:extLst>
          </p:cNvPr>
          <p:cNvSpPr/>
          <p:nvPr/>
        </p:nvSpPr>
        <p:spPr>
          <a:xfrm>
            <a:off x="8318500" y="4318000"/>
            <a:ext cx="1143000" cy="304800"/>
          </a:xfrm>
          <a:prstGeom prst="roundRect">
            <a:avLst>
              <a:gd name="adj" fmla="val 8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44E6644F-1E22-985D-1AC6-3AE3F338DFEA}"/>
              </a:ext>
            </a:extLst>
          </p:cNvPr>
          <p:cNvSpPr txBox="1"/>
          <p:nvPr/>
        </p:nvSpPr>
        <p:spPr>
          <a:xfrm>
            <a:off x="8318500" y="4368800"/>
            <a:ext cx="1143000" cy="369332"/>
          </a:xfrm>
          <a:prstGeom prst="rect">
            <a:avLst/>
          </a:prstGeom>
          <a:noFill/>
        </p:spPr>
        <p:txBody>
          <a:bodyPr vert="horz" wrap="square" lIns="0" tIns="0" rIns="0" bIns="0" rtlCol="0">
            <a:noAutofit/>
          </a:bodyPr>
          <a:lstStyle/>
          <a:p>
            <a:pPr algn="ctr">
              <a:spcAft>
                <a:spcPts val="400"/>
              </a:spcAft>
            </a:pPr>
            <a:r>
              <a:rPr lang="en-AU" sz="1100" b="1">
                <a:solidFill>
                  <a:srgbClr val="14213D"/>
                </a:solidFill>
                <a:latin typeface="Calibri" panose="020F0502020204030204" pitchFamily="34" charset="0"/>
              </a:rPr>
              <a:t>At go-live</a:t>
            </a:r>
          </a:p>
        </p:txBody>
      </p:sp>
      <p:sp>
        <p:nvSpPr>
          <p:cNvPr id="35" name="Oval 34">
            <a:extLst>
              <a:ext uri="{FF2B5EF4-FFF2-40B4-BE49-F238E27FC236}">
                <a16:creationId xmlns:a16="http://schemas.microsoft.com/office/drawing/2014/main" id="{2281224B-21F7-1144-FDA9-C9B635A60349}"/>
              </a:ext>
            </a:extLst>
          </p:cNvPr>
          <p:cNvSpPr/>
          <p:nvPr/>
        </p:nvSpPr>
        <p:spPr>
          <a:xfrm>
            <a:off x="10439400" y="1905000"/>
            <a:ext cx="609600" cy="609600"/>
          </a:xfrm>
          <a:prstGeom prst="ellipse">
            <a:avLst/>
          </a:prstGeom>
          <a:solidFill>
            <a:srgbClr val="1421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6</a:t>
            </a:r>
          </a:p>
        </p:txBody>
      </p:sp>
      <p:sp>
        <p:nvSpPr>
          <p:cNvPr id="36" name="TextBox 35">
            <a:extLst>
              <a:ext uri="{FF2B5EF4-FFF2-40B4-BE49-F238E27FC236}">
                <a16:creationId xmlns:a16="http://schemas.microsoft.com/office/drawing/2014/main" id="{BF46CF0C-AC70-C11D-774A-91512F080989}"/>
              </a:ext>
            </a:extLst>
          </p:cNvPr>
          <p:cNvSpPr txBox="1"/>
          <p:nvPr/>
        </p:nvSpPr>
        <p:spPr>
          <a:xfrm>
            <a:off x="9880600" y="2730500"/>
            <a:ext cx="1727200" cy="369332"/>
          </a:xfrm>
          <a:prstGeom prst="rect">
            <a:avLst/>
          </a:prstGeom>
          <a:noFill/>
        </p:spPr>
        <p:txBody>
          <a:bodyPr vert="horz" wrap="square" lIns="0" tIns="0" rIns="0" bIns="0" rtlCol="0">
            <a:noAutofit/>
          </a:bodyPr>
          <a:lstStyle/>
          <a:p>
            <a:pPr algn="ctr">
              <a:spcAft>
                <a:spcPts val="400"/>
              </a:spcAft>
            </a:pPr>
            <a:r>
              <a:rPr lang="en-AU" sz="1500" b="1">
                <a:solidFill>
                  <a:srgbClr val="14213D"/>
                </a:solidFill>
                <a:latin typeface="Calibri" panose="020F0502020204030204" pitchFamily="34" charset="0"/>
              </a:rPr>
              <a:t>Tells your team</a:t>
            </a:r>
          </a:p>
        </p:txBody>
      </p:sp>
      <p:sp>
        <p:nvSpPr>
          <p:cNvPr id="37" name="TextBox 36">
            <a:extLst>
              <a:ext uri="{FF2B5EF4-FFF2-40B4-BE49-F238E27FC236}">
                <a16:creationId xmlns:a16="http://schemas.microsoft.com/office/drawing/2014/main" id="{AB6B2940-5652-CFE6-1A3F-E93E935AD7F5}"/>
              </a:ext>
            </a:extLst>
          </p:cNvPr>
          <p:cNvSpPr txBox="1"/>
          <p:nvPr/>
        </p:nvSpPr>
        <p:spPr>
          <a:xfrm>
            <a:off x="9880600" y="3111500"/>
            <a:ext cx="17272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Email for every booking or urgent message</a:t>
            </a:r>
            <a:endParaRPr lang="en-AU" sz="1250">
              <a:solidFill>
                <a:srgbClr val="475569"/>
              </a:solidFill>
              <a:latin typeface="Calibri" panose="020F0502020204030204" pitchFamily="34" charset="0"/>
            </a:endParaRPr>
          </a:p>
        </p:txBody>
      </p:sp>
      <p:sp>
        <p:nvSpPr>
          <p:cNvPr id="38" name="Rectangle: Rounded Corners 37">
            <a:extLst>
              <a:ext uri="{FF2B5EF4-FFF2-40B4-BE49-F238E27FC236}">
                <a16:creationId xmlns:a16="http://schemas.microsoft.com/office/drawing/2014/main" id="{41A82BD6-058C-ADEF-5335-F027908902BA}"/>
              </a:ext>
            </a:extLst>
          </p:cNvPr>
          <p:cNvSpPr/>
          <p:nvPr/>
        </p:nvSpPr>
        <p:spPr>
          <a:xfrm>
            <a:off x="10172700" y="4318000"/>
            <a:ext cx="1143000" cy="304800"/>
          </a:xfrm>
          <a:prstGeom prst="roundRect">
            <a:avLst>
              <a:gd name="adj" fmla="val 8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TextBox 38">
            <a:extLst>
              <a:ext uri="{FF2B5EF4-FFF2-40B4-BE49-F238E27FC236}">
                <a16:creationId xmlns:a16="http://schemas.microsoft.com/office/drawing/2014/main" id="{D0A45776-3E06-6B97-291B-E564E4624606}"/>
              </a:ext>
            </a:extLst>
          </p:cNvPr>
          <p:cNvSpPr txBox="1"/>
          <p:nvPr/>
        </p:nvSpPr>
        <p:spPr>
          <a:xfrm>
            <a:off x="10172700" y="4368800"/>
            <a:ext cx="1143000" cy="369332"/>
          </a:xfrm>
          <a:prstGeom prst="rect">
            <a:avLst/>
          </a:prstGeom>
          <a:noFill/>
        </p:spPr>
        <p:txBody>
          <a:bodyPr vert="horz" wrap="square" lIns="0" tIns="0" rIns="0" bIns="0" rtlCol="0">
            <a:noAutofit/>
          </a:bodyPr>
          <a:lstStyle/>
          <a:p>
            <a:pPr algn="ctr">
              <a:spcAft>
                <a:spcPts val="400"/>
              </a:spcAft>
            </a:pPr>
            <a:r>
              <a:rPr lang="en-AU" sz="1100" b="1">
                <a:solidFill>
                  <a:srgbClr val="14213D"/>
                </a:solidFill>
                <a:latin typeface="Calibri" panose="020F0502020204030204" pitchFamily="34" charset="0"/>
              </a:rPr>
              <a:t>At go-live</a:t>
            </a:r>
          </a:p>
        </p:txBody>
      </p:sp>
      <p:sp>
        <p:nvSpPr>
          <p:cNvPr id="40" name="Rectangle: Rounded Corners 39">
            <a:extLst>
              <a:ext uri="{FF2B5EF4-FFF2-40B4-BE49-F238E27FC236}">
                <a16:creationId xmlns:a16="http://schemas.microsoft.com/office/drawing/2014/main" id="{5A6FF11D-E12D-D077-276E-D03E56BF1905}"/>
              </a:ext>
            </a:extLst>
          </p:cNvPr>
          <p:cNvSpPr/>
          <p:nvPr/>
        </p:nvSpPr>
        <p:spPr>
          <a:xfrm>
            <a:off x="609600" y="5016500"/>
            <a:ext cx="10972800" cy="889000"/>
          </a:xfrm>
          <a:prstGeom prst="roundRect">
            <a:avLst>
              <a:gd name="adj" fmla="val 8000"/>
            </a:avLst>
          </a:prstGeom>
          <a:solidFill>
            <a:srgbClr val="FFFBEB"/>
          </a:solidFill>
          <a:ln w="12700">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TextBox 40">
            <a:extLst>
              <a:ext uri="{FF2B5EF4-FFF2-40B4-BE49-F238E27FC236}">
                <a16:creationId xmlns:a16="http://schemas.microsoft.com/office/drawing/2014/main" id="{2BC04DB5-06D5-33DF-921F-F2B1F52FA2CC}"/>
              </a:ext>
            </a:extLst>
          </p:cNvPr>
          <p:cNvSpPr txBox="1"/>
          <p:nvPr/>
        </p:nvSpPr>
        <p:spPr>
          <a:xfrm>
            <a:off x="812800" y="5168900"/>
            <a:ext cx="10566400" cy="369332"/>
          </a:xfrm>
          <a:prstGeom prst="rect">
            <a:avLst/>
          </a:prstGeom>
          <a:noFill/>
        </p:spPr>
        <p:txBody>
          <a:bodyPr vert="horz" wrap="square" lIns="0" tIns="0" rIns="0" bIns="0" rtlCol="0">
            <a:noAutofit/>
          </a:bodyPr>
          <a:lstStyle/>
          <a:p>
            <a:pPr>
              <a:spcAft>
                <a:spcPts val="400"/>
              </a:spcAft>
            </a:pPr>
            <a:r>
              <a:rPr lang="en-US" sz="1500">
                <a:solidFill>
                  <a:srgbClr val="14213D"/>
                </a:solidFill>
                <a:latin typeface="Calibri" panose="020F0502020204030204" pitchFamily="34" charset="0"/>
              </a:rPr>
              <a:t>Anything urgent or life-threatening: the 000 line first, every time, then an urgent message to your team. It never assesses anyone and it is not an emergency service.</a:t>
            </a:r>
            <a:endParaRPr lang="en-AU" sz="1500">
              <a:solidFill>
                <a:srgbClr val="14213D"/>
              </a:solidFill>
              <a:latin typeface="Calibri" panose="020F0502020204030204" pitchFamily="34" charset="0"/>
            </a:endParaRPr>
          </a:p>
        </p:txBody>
      </p:sp>
    </p:spTree>
    <p:extLst>
      <p:ext uri="{BB962C8B-B14F-4D97-AF65-F5344CB8AC3E}">
        <p14:creationId xmlns:p14="http://schemas.microsoft.com/office/powerpoint/2010/main" val="178417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DAB675-02EA-2129-6705-059786112B3D}"/>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4</a:t>
            </a:r>
          </a:p>
        </p:txBody>
      </p:sp>
      <p:sp>
        <p:nvSpPr>
          <p:cNvPr id="3" name="TextBox 2">
            <a:extLst>
              <a:ext uri="{FF2B5EF4-FFF2-40B4-BE49-F238E27FC236}">
                <a16:creationId xmlns:a16="http://schemas.microsoft.com/office/drawing/2014/main" id="{594D7F6B-AED8-E17C-4C59-A22AD236C434}"/>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Straight answer: what's live and what switches on at go-live</a:t>
            </a:r>
            <a:endParaRPr lang="en-AU" sz="3200">
              <a:solidFill>
                <a:srgbClr val="14213D"/>
              </a:solidFill>
              <a:latin typeface="Cambria" panose="02040503050406030204" pitchFamily="18" charset="0"/>
            </a:endParaRPr>
          </a:p>
        </p:txBody>
      </p:sp>
      <p:sp>
        <p:nvSpPr>
          <p:cNvPr id="4" name="Rectangle: Rounded Corners 3">
            <a:extLst>
              <a:ext uri="{FF2B5EF4-FFF2-40B4-BE49-F238E27FC236}">
                <a16:creationId xmlns:a16="http://schemas.microsoft.com/office/drawing/2014/main" id="{8211F8E5-97AD-FBF8-A8FD-00B6DA067011}"/>
              </a:ext>
            </a:extLst>
          </p:cNvPr>
          <p:cNvSpPr/>
          <p:nvPr/>
        </p:nvSpPr>
        <p:spPr>
          <a:xfrm>
            <a:off x="609600" y="1587500"/>
            <a:ext cx="5334000" cy="34925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44CC529E-4AF4-97B3-EEDA-1DF6B415762E}"/>
              </a:ext>
            </a:extLst>
          </p:cNvPr>
          <p:cNvSpPr txBox="1"/>
          <p:nvPr/>
        </p:nvSpPr>
        <p:spPr>
          <a:xfrm>
            <a:off x="863600" y="1778000"/>
            <a:ext cx="4826000" cy="369332"/>
          </a:xfrm>
          <a:prstGeom prst="rect">
            <a:avLst/>
          </a:prstGeom>
          <a:noFill/>
        </p:spPr>
        <p:txBody>
          <a:bodyPr vert="horz" wrap="square" lIns="0" tIns="0" rIns="0" bIns="0" rtlCol="0">
            <a:noAutofit/>
          </a:bodyPr>
          <a:lstStyle/>
          <a:p>
            <a:pPr>
              <a:spcAft>
                <a:spcPts val="400"/>
              </a:spcAft>
            </a:pPr>
            <a:r>
              <a:rPr lang="en-US" b="1">
                <a:solidFill>
                  <a:srgbClr val="0F766E"/>
                </a:solidFill>
                <a:latin typeface="Calibri" panose="020F0502020204030204" pitchFamily="34" charset="0"/>
              </a:rPr>
              <a:t>Live on our demo line today</a:t>
            </a:r>
            <a:endParaRPr lang="en-AU" b="1">
              <a:solidFill>
                <a:srgbClr val="0F766E"/>
              </a:solidFill>
              <a:latin typeface="Calibri" panose="020F0502020204030204" pitchFamily="34" charset="0"/>
            </a:endParaRPr>
          </a:p>
        </p:txBody>
      </p:sp>
      <p:sp>
        <p:nvSpPr>
          <p:cNvPr id="6" name="TextBox 5">
            <a:extLst>
              <a:ext uri="{FF2B5EF4-FFF2-40B4-BE49-F238E27FC236}">
                <a16:creationId xmlns:a16="http://schemas.microsoft.com/office/drawing/2014/main" id="{9971FDBB-6FD3-4C54-8B4A-7CC367A8EB72}"/>
              </a:ext>
            </a:extLst>
          </p:cNvPr>
          <p:cNvSpPr txBox="1"/>
          <p:nvPr/>
        </p:nvSpPr>
        <p:spPr>
          <a:xfrm>
            <a:off x="863600" y="2260600"/>
            <a:ext cx="4826000" cy="369332"/>
          </a:xfrm>
          <a:prstGeom prst="rect">
            <a:avLst/>
          </a:prstGeom>
          <a:noFill/>
        </p:spPr>
        <p:txBody>
          <a:bodyPr vert="horz" wrap="square" lIns="0" tIns="0" rIns="0" bIns="0" rtlCol="0">
            <a:noAutofit/>
          </a:bodyPr>
          <a:lstStyle/>
          <a:p>
            <a:pPr marL="177800" indent="-177800">
              <a:spcAft>
                <a:spcPts val="800"/>
              </a:spcAft>
              <a:buFont typeface="+mj-lt"/>
              <a:buChar char="•"/>
            </a:pPr>
            <a:r>
              <a:rPr lang="en-US" sz="1500">
                <a:solidFill>
                  <a:srgbClr val="14213D"/>
                </a:solidFill>
                <a:latin typeface="Calibri" panose="020F0502020204030204" pitchFamily="34" charset="0"/>
              </a:rPr>
              <a:t>Answers and says it's an automated assistant</a:t>
            </a:r>
          </a:p>
          <a:p>
            <a:pPr marL="177800" indent="-177800">
              <a:spcAft>
                <a:spcPts val="800"/>
              </a:spcAft>
              <a:buFont typeface="+mj-lt"/>
              <a:buChar char="•"/>
            </a:pPr>
            <a:r>
              <a:rPr lang="en-US" sz="1500">
                <a:solidFill>
                  <a:srgbClr val="14213D"/>
                </a:solidFill>
                <a:latin typeface="Calibri" panose="020F0502020204030204" pitchFamily="34" charset="0"/>
              </a:rPr>
              <a:t>Says the call is recorded</a:t>
            </a:r>
          </a:p>
          <a:p>
            <a:pPr marL="177800" indent="-177800">
              <a:spcAft>
                <a:spcPts val="800"/>
              </a:spcAft>
              <a:buFont typeface="+mj-lt"/>
              <a:buChar char="•"/>
            </a:pPr>
            <a:r>
              <a:rPr lang="en-US" sz="1500">
                <a:solidFill>
                  <a:srgbClr val="14213D"/>
                </a:solidFill>
                <a:latin typeface="Calibri" panose="020F0502020204030204" pitchFamily="34" charset="0"/>
              </a:rPr>
              <a:t>Takes a structured message and callback request</a:t>
            </a:r>
          </a:p>
          <a:p>
            <a:pPr marL="177800" indent="-177800">
              <a:spcAft>
                <a:spcPts val="800"/>
              </a:spcAft>
              <a:buFont typeface="+mj-lt"/>
              <a:buChar char="•"/>
            </a:pPr>
            <a:r>
              <a:rPr lang="en-US" sz="1500">
                <a:solidFill>
                  <a:srgbClr val="14213D"/>
                </a:solidFill>
                <a:latin typeface="Calibri" panose="020F0502020204030204" pitchFamily="34" charset="0"/>
              </a:rPr>
              <a:t>000 line first on urgent wording</a:t>
            </a:r>
          </a:p>
          <a:p>
            <a:pPr marL="177800" indent="-177800">
              <a:spcAft>
                <a:spcPts val="800"/>
              </a:spcAft>
              <a:buFont typeface="+mj-lt"/>
              <a:buChar char="•"/>
            </a:pPr>
            <a:r>
              <a:rPr lang="en-US" sz="1500">
                <a:solidFill>
                  <a:srgbClr val="14213D"/>
                </a:solidFill>
                <a:latin typeface="Calibri" panose="020F0502020204030204" pitchFamily="34" charset="0"/>
              </a:rPr>
              <a:t>It does not book yet: it takes a message</a:t>
            </a:r>
            <a:endParaRPr lang="en-AU" sz="1500">
              <a:solidFill>
                <a:srgbClr val="14213D"/>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C9D136AF-45E7-4D00-FE37-29F29CD1099A}"/>
              </a:ext>
            </a:extLst>
          </p:cNvPr>
          <p:cNvSpPr/>
          <p:nvPr/>
        </p:nvSpPr>
        <p:spPr>
          <a:xfrm>
            <a:off x="6248400" y="1587500"/>
            <a:ext cx="5334000" cy="34925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A1E92BCC-F71A-3652-0487-7EC8D24F759C}"/>
              </a:ext>
            </a:extLst>
          </p:cNvPr>
          <p:cNvSpPr txBox="1"/>
          <p:nvPr/>
        </p:nvSpPr>
        <p:spPr>
          <a:xfrm>
            <a:off x="6502400" y="1778000"/>
            <a:ext cx="4826000" cy="369332"/>
          </a:xfrm>
          <a:prstGeom prst="rect">
            <a:avLst/>
          </a:prstGeom>
          <a:noFill/>
        </p:spPr>
        <p:txBody>
          <a:bodyPr vert="horz" wrap="square" lIns="0" tIns="0" rIns="0" bIns="0" rtlCol="0">
            <a:noAutofit/>
          </a:bodyPr>
          <a:lstStyle/>
          <a:p>
            <a:pPr>
              <a:spcAft>
                <a:spcPts val="400"/>
              </a:spcAft>
            </a:pPr>
            <a:r>
              <a:rPr lang="en-US" b="1">
                <a:solidFill>
                  <a:srgbClr val="14213D"/>
                </a:solidFill>
                <a:latin typeface="Calibri" panose="020F0502020204030204" pitchFamily="34" charset="0"/>
              </a:rPr>
              <a:t>At go-live (built, being tested)</a:t>
            </a:r>
            <a:endParaRPr lang="en-AU" b="1">
              <a:solidFill>
                <a:srgbClr val="14213D"/>
              </a:solidFill>
              <a:latin typeface="Calibri" panose="020F0502020204030204" pitchFamily="34" charset="0"/>
            </a:endParaRPr>
          </a:p>
        </p:txBody>
      </p:sp>
      <p:sp>
        <p:nvSpPr>
          <p:cNvPr id="9" name="TextBox 8">
            <a:extLst>
              <a:ext uri="{FF2B5EF4-FFF2-40B4-BE49-F238E27FC236}">
                <a16:creationId xmlns:a16="http://schemas.microsoft.com/office/drawing/2014/main" id="{B0EC21F3-8D1D-CBF6-7884-BBA7E1947EC4}"/>
              </a:ext>
            </a:extLst>
          </p:cNvPr>
          <p:cNvSpPr txBox="1"/>
          <p:nvPr/>
        </p:nvSpPr>
        <p:spPr>
          <a:xfrm>
            <a:off x="6502400" y="2260600"/>
            <a:ext cx="4826000" cy="369332"/>
          </a:xfrm>
          <a:prstGeom prst="rect">
            <a:avLst/>
          </a:prstGeom>
          <a:noFill/>
        </p:spPr>
        <p:txBody>
          <a:bodyPr vert="horz" wrap="square" lIns="0" tIns="0" rIns="0" bIns="0" rtlCol="0">
            <a:noAutofit/>
          </a:bodyPr>
          <a:lstStyle/>
          <a:p>
            <a:pPr marL="177800" indent="-177800">
              <a:spcAft>
                <a:spcPts val="800"/>
              </a:spcAft>
              <a:buFont typeface="+mj-lt"/>
              <a:buChar char="•"/>
            </a:pPr>
            <a:r>
              <a:rPr lang="en-US" sz="1500">
                <a:solidFill>
                  <a:srgbClr val="14213D"/>
                </a:solidFill>
                <a:latin typeface="Calibri" panose="020F0502020204030204" pitchFamily="34" charset="0"/>
              </a:rPr>
              <a:t>Books into your Google or Cal.com calendar</a:t>
            </a:r>
          </a:p>
          <a:p>
            <a:pPr marL="177800" indent="-177800">
              <a:spcAft>
                <a:spcPts val="800"/>
              </a:spcAft>
              <a:buFont typeface="+mj-lt"/>
              <a:buChar char="•"/>
            </a:pPr>
            <a:r>
              <a:rPr lang="en-US" sz="1500">
                <a:solidFill>
                  <a:srgbClr val="14213D"/>
                </a:solidFill>
                <a:latin typeface="Calibri" panose="020F0502020204030204" pitchFamily="34" charset="0"/>
              </a:rPr>
              <a:t>Email alert for every booking or urgent message</a:t>
            </a:r>
          </a:p>
          <a:p>
            <a:pPr marL="177800" indent="-177800">
              <a:spcAft>
                <a:spcPts val="800"/>
              </a:spcAft>
              <a:buFont typeface="+mj-lt"/>
              <a:buChar char="•"/>
            </a:pPr>
            <a:r>
              <a:rPr lang="en-US" sz="1500">
                <a:solidFill>
                  <a:srgbClr val="14213D"/>
                </a:solidFill>
                <a:latin typeface="Calibri" panose="020F0502020204030204" pitchFamily="34" charset="0"/>
              </a:rPr>
              <a:t>SMS confirmation with STOP opt-out</a:t>
            </a:r>
          </a:p>
          <a:p>
            <a:pPr marL="177800" indent="-177800">
              <a:spcAft>
                <a:spcPts val="800"/>
              </a:spcAft>
              <a:buFont typeface="+mj-lt"/>
              <a:buChar char="•"/>
            </a:pPr>
            <a:r>
              <a:rPr lang="en-US" sz="1500">
                <a:solidFill>
                  <a:srgbClr val="14213D"/>
                </a:solidFill>
                <a:latin typeface="Calibri" panose="020F0502020204030204" pitchFamily="34" charset="0"/>
              </a:rPr>
              <a:t>Reminders and weekly report (Professional, Premium)</a:t>
            </a:r>
            <a:endParaRPr lang="en-AU" sz="1500">
              <a:solidFill>
                <a:srgbClr val="14213D"/>
              </a:solidFill>
              <a:latin typeface="Calibri" panose="020F0502020204030204" pitchFamily="34" charset="0"/>
            </a:endParaRPr>
          </a:p>
        </p:txBody>
      </p:sp>
      <p:sp>
        <p:nvSpPr>
          <p:cNvPr id="10" name="TextBox 9">
            <a:extLst>
              <a:ext uri="{FF2B5EF4-FFF2-40B4-BE49-F238E27FC236}">
                <a16:creationId xmlns:a16="http://schemas.microsoft.com/office/drawing/2014/main" id="{E1EC2254-3A20-AA8D-EF12-256B45EAEC5B}"/>
              </a:ext>
            </a:extLst>
          </p:cNvPr>
          <p:cNvSpPr txBox="1"/>
          <p:nvPr/>
        </p:nvSpPr>
        <p:spPr>
          <a:xfrm>
            <a:off x="6502400" y="4191000"/>
            <a:ext cx="4826000" cy="369332"/>
          </a:xfrm>
          <a:prstGeom prst="rect">
            <a:avLst/>
          </a:prstGeom>
          <a:noFill/>
        </p:spPr>
        <p:txBody>
          <a:bodyPr vert="horz" wrap="square" lIns="0" tIns="0" rIns="0" bIns="0" rtlCol="0">
            <a:noAutofit/>
          </a:bodyPr>
          <a:lstStyle/>
          <a:p>
            <a:pPr>
              <a:spcAft>
                <a:spcPts val="400"/>
              </a:spcAft>
            </a:pPr>
            <a:r>
              <a:rPr lang="en-US" sz="1300" i="1">
                <a:solidFill>
                  <a:srgbClr val="475569"/>
                </a:solidFill>
                <a:latin typeface="Calibri" panose="020F0502020204030204" pitchFamily="34" charset="0"/>
              </a:rPr>
              <a:t>Not offered in any package: live transfer to a person; practice-software integration.</a:t>
            </a:r>
            <a:endParaRPr lang="en-AU" sz="1300" i="1">
              <a:solidFill>
                <a:srgbClr val="475569"/>
              </a:solidFill>
              <a:latin typeface="Calibri" panose="020F0502020204030204" pitchFamily="34" charset="0"/>
            </a:endParaRPr>
          </a:p>
        </p:txBody>
      </p:sp>
      <p:sp>
        <p:nvSpPr>
          <p:cNvPr id="11" name="TextBox 10">
            <a:extLst>
              <a:ext uri="{FF2B5EF4-FFF2-40B4-BE49-F238E27FC236}">
                <a16:creationId xmlns:a16="http://schemas.microsoft.com/office/drawing/2014/main" id="{E03C874E-1590-03DB-190F-5C3AAA5986B2}"/>
              </a:ext>
            </a:extLst>
          </p:cNvPr>
          <p:cNvSpPr txBox="1"/>
          <p:nvPr/>
        </p:nvSpPr>
        <p:spPr>
          <a:xfrm>
            <a:off x="609600" y="5397500"/>
            <a:ext cx="10972800" cy="381000"/>
          </a:xfrm>
          <a:prstGeom prst="rect">
            <a:avLst/>
          </a:prstGeom>
          <a:noFill/>
        </p:spPr>
        <p:txBody>
          <a:bodyPr vert="horz" wrap="square" lIns="0" tIns="0" rIns="0" bIns="0" rtlCol="0">
            <a:noAutofit/>
          </a:bodyPr>
          <a:lstStyle/>
          <a:p>
            <a:pPr>
              <a:spcAft>
                <a:spcPts val="400"/>
              </a:spcAft>
            </a:pPr>
            <a:r>
              <a:rPr lang="en-US" sz="1500">
                <a:solidFill>
                  <a:srgbClr val="14213D"/>
                </a:solidFill>
                <a:latin typeface="Calibri" panose="020F0502020204030204" pitchFamily="34" charset="0"/>
              </a:rPr>
              <a:t>We don't promise a go-live date until booking has passed acceptance tests on our own line.</a:t>
            </a:r>
            <a:endParaRPr lang="en-AU" sz="1500">
              <a:solidFill>
                <a:srgbClr val="14213D"/>
              </a:solidFill>
              <a:latin typeface="Calibri" panose="020F0502020204030204" pitchFamily="34" charset="0"/>
            </a:endParaRPr>
          </a:p>
        </p:txBody>
      </p:sp>
    </p:spTree>
    <p:extLst>
      <p:ext uri="{BB962C8B-B14F-4D97-AF65-F5344CB8AC3E}">
        <p14:creationId xmlns:p14="http://schemas.microsoft.com/office/powerpoint/2010/main" val="2778413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224539-951A-D89B-81C2-77FDDCF4DD24}"/>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5</a:t>
            </a:r>
          </a:p>
        </p:txBody>
      </p:sp>
      <p:sp>
        <p:nvSpPr>
          <p:cNvPr id="3" name="TextBox 2">
            <a:extLst>
              <a:ext uri="{FF2B5EF4-FFF2-40B4-BE49-F238E27FC236}">
                <a16:creationId xmlns:a16="http://schemas.microsoft.com/office/drawing/2014/main" id="{2F9D1466-64A6-57CB-5EDD-F2072B51C5A8}"/>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A booking call, start to finish</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7424F701-892C-0E08-8F74-36967C400733}"/>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Fictional practice, synthetic caller. At go-live this is a live call.</a:t>
            </a:r>
            <a:endParaRPr lang="en-AU" sz="1500">
              <a:solidFill>
                <a:srgbClr val="475569"/>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57FEAAAF-956B-A975-22B7-2A8EF7BDF906}"/>
              </a:ext>
            </a:extLst>
          </p:cNvPr>
          <p:cNvSpPr/>
          <p:nvPr/>
        </p:nvSpPr>
        <p:spPr>
          <a:xfrm>
            <a:off x="609600" y="1587500"/>
            <a:ext cx="6248400" cy="711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07560D45-1C68-E826-8331-FE17FCD57074}"/>
              </a:ext>
            </a:extLst>
          </p:cNvPr>
          <p:cNvSpPr txBox="1"/>
          <p:nvPr/>
        </p:nvSpPr>
        <p:spPr>
          <a:xfrm>
            <a:off x="787400" y="1676400"/>
            <a:ext cx="5892800" cy="369332"/>
          </a:xfrm>
          <a:prstGeom prst="rect">
            <a:avLst/>
          </a:prstGeom>
          <a:noFill/>
        </p:spPr>
        <p:txBody>
          <a:bodyPr vert="horz" wrap="square" lIns="0" tIns="0" rIns="0" bIns="0" rtlCol="0">
            <a:noAutofit/>
          </a:bodyPr>
          <a:lstStyle/>
          <a:p>
            <a:pPr>
              <a:spcAft>
                <a:spcPts val="400"/>
              </a:spcAft>
            </a:pPr>
            <a:r>
              <a:rPr lang="en-US" sz="1200" b="1">
                <a:solidFill>
                  <a:srgbClr val="0F766E"/>
                </a:solidFill>
                <a:latin typeface="Calibri" panose="020F0502020204030204" pitchFamily="34" charset="0"/>
              </a:rPr>
              <a:t>RECEPTIONIST</a:t>
            </a:r>
          </a:p>
          <a:p>
            <a:pPr>
              <a:spcAft>
                <a:spcPts val="400"/>
              </a:spcAft>
            </a:pPr>
            <a:r>
              <a:rPr lang="en-US" sz="1200">
                <a:solidFill>
                  <a:srgbClr val="14213D"/>
                </a:solidFill>
                <a:latin typeface="Calibri" panose="020F0502020204030204" pitchFamily="34" charset="0"/>
              </a:rPr>
              <a:t>Thanks for calling Bayview Dental. This call is recorded. You're speaking with an automated assistant. How can I help?</a:t>
            </a:r>
            <a:endParaRPr lang="en-AU" sz="1200">
              <a:solidFill>
                <a:srgbClr val="14213D"/>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769709B9-7451-5E13-98B5-FEE6ACD5B8B2}"/>
              </a:ext>
            </a:extLst>
          </p:cNvPr>
          <p:cNvSpPr/>
          <p:nvPr/>
        </p:nvSpPr>
        <p:spPr>
          <a:xfrm>
            <a:off x="5334000" y="2374900"/>
            <a:ext cx="6248400" cy="711200"/>
          </a:xfrm>
          <a:prstGeom prst="roundRect">
            <a:avLst>
              <a:gd name="adj" fmla="val 8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E7CAA39B-AEFD-8B55-EA25-A8F4DE2BBAA2}"/>
              </a:ext>
            </a:extLst>
          </p:cNvPr>
          <p:cNvSpPr txBox="1"/>
          <p:nvPr/>
        </p:nvSpPr>
        <p:spPr>
          <a:xfrm>
            <a:off x="5511800" y="2463800"/>
            <a:ext cx="5892800" cy="369332"/>
          </a:xfrm>
          <a:prstGeom prst="rect">
            <a:avLst/>
          </a:prstGeom>
          <a:noFill/>
        </p:spPr>
        <p:txBody>
          <a:bodyPr vert="horz" wrap="square" lIns="0" tIns="0" rIns="0" bIns="0" rtlCol="0">
            <a:noAutofit/>
          </a:bodyPr>
          <a:lstStyle/>
          <a:p>
            <a:pPr>
              <a:spcAft>
                <a:spcPts val="400"/>
              </a:spcAft>
            </a:pPr>
            <a:r>
              <a:rPr lang="en-US" sz="1200" b="1">
                <a:solidFill>
                  <a:srgbClr val="475569"/>
                </a:solidFill>
                <a:latin typeface="Calibri" panose="020F0502020204030204" pitchFamily="34" charset="0"/>
              </a:rPr>
              <a:t>CALLER</a:t>
            </a:r>
          </a:p>
          <a:p>
            <a:pPr>
              <a:spcAft>
                <a:spcPts val="400"/>
              </a:spcAft>
            </a:pPr>
            <a:r>
              <a:rPr lang="en-US" sz="1200">
                <a:solidFill>
                  <a:srgbClr val="14213D"/>
                </a:solidFill>
                <a:latin typeface="Calibri" panose="020F0502020204030204" pitchFamily="34" charset="0"/>
              </a:rPr>
              <a:t>I'd like a check-up. I haven't been before.</a:t>
            </a:r>
            <a:endParaRPr lang="en-AU" sz="1200">
              <a:solidFill>
                <a:srgbClr val="14213D"/>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F39EDB58-87EF-D5CA-A647-BC036BAEDDF3}"/>
              </a:ext>
            </a:extLst>
          </p:cNvPr>
          <p:cNvSpPr/>
          <p:nvPr/>
        </p:nvSpPr>
        <p:spPr>
          <a:xfrm>
            <a:off x="609600" y="3162300"/>
            <a:ext cx="6248400" cy="711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8DABDB43-E223-14C7-C343-0D92DE0DF017}"/>
              </a:ext>
            </a:extLst>
          </p:cNvPr>
          <p:cNvSpPr txBox="1"/>
          <p:nvPr/>
        </p:nvSpPr>
        <p:spPr>
          <a:xfrm>
            <a:off x="787400" y="3251200"/>
            <a:ext cx="5892800" cy="369332"/>
          </a:xfrm>
          <a:prstGeom prst="rect">
            <a:avLst/>
          </a:prstGeom>
          <a:noFill/>
        </p:spPr>
        <p:txBody>
          <a:bodyPr vert="horz" wrap="square" lIns="0" tIns="0" rIns="0" bIns="0" rtlCol="0">
            <a:noAutofit/>
          </a:bodyPr>
          <a:lstStyle/>
          <a:p>
            <a:pPr>
              <a:spcAft>
                <a:spcPts val="400"/>
              </a:spcAft>
            </a:pPr>
            <a:r>
              <a:rPr lang="en-US" sz="1200" b="1">
                <a:solidFill>
                  <a:srgbClr val="0F766E"/>
                </a:solidFill>
                <a:latin typeface="Calibri" panose="020F0502020204030204" pitchFamily="34" charset="0"/>
              </a:rPr>
              <a:t>RECEPTIONIST</a:t>
            </a:r>
          </a:p>
          <a:p>
            <a:pPr>
              <a:spcAft>
                <a:spcPts val="400"/>
              </a:spcAft>
            </a:pPr>
            <a:r>
              <a:rPr lang="en-US" sz="1200">
                <a:solidFill>
                  <a:srgbClr val="14213D"/>
                </a:solidFill>
                <a:latin typeface="Calibri" panose="020F0502020204030204" pitchFamily="34" charset="0"/>
              </a:rPr>
              <a:t>I can see Tuesday at 10:30 or Thursday at 2:15. Which suits?</a:t>
            </a:r>
            <a:endParaRPr lang="en-AU" sz="1200">
              <a:solidFill>
                <a:srgbClr val="14213D"/>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B72B6028-CD32-A37A-36BA-E4D28E38D80D}"/>
              </a:ext>
            </a:extLst>
          </p:cNvPr>
          <p:cNvSpPr/>
          <p:nvPr/>
        </p:nvSpPr>
        <p:spPr>
          <a:xfrm>
            <a:off x="5334000" y="3949700"/>
            <a:ext cx="6248400" cy="711200"/>
          </a:xfrm>
          <a:prstGeom prst="roundRect">
            <a:avLst>
              <a:gd name="adj" fmla="val 8000"/>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7DA46857-D5E1-EBE2-5C3C-F15A7A2BF9AD}"/>
              </a:ext>
            </a:extLst>
          </p:cNvPr>
          <p:cNvSpPr txBox="1"/>
          <p:nvPr/>
        </p:nvSpPr>
        <p:spPr>
          <a:xfrm>
            <a:off x="5511800" y="4038600"/>
            <a:ext cx="5892800" cy="369332"/>
          </a:xfrm>
          <a:prstGeom prst="rect">
            <a:avLst/>
          </a:prstGeom>
          <a:noFill/>
        </p:spPr>
        <p:txBody>
          <a:bodyPr vert="horz" wrap="square" lIns="0" tIns="0" rIns="0" bIns="0" rtlCol="0">
            <a:noAutofit/>
          </a:bodyPr>
          <a:lstStyle/>
          <a:p>
            <a:pPr>
              <a:spcAft>
                <a:spcPts val="400"/>
              </a:spcAft>
            </a:pPr>
            <a:r>
              <a:rPr lang="en-AU" sz="1200" b="1">
                <a:solidFill>
                  <a:srgbClr val="475569"/>
                </a:solidFill>
                <a:latin typeface="Calibri" panose="020F0502020204030204" pitchFamily="34" charset="0"/>
              </a:rPr>
              <a:t>CALLER</a:t>
            </a:r>
          </a:p>
          <a:p>
            <a:pPr>
              <a:spcAft>
                <a:spcPts val="400"/>
              </a:spcAft>
            </a:pPr>
            <a:r>
              <a:rPr lang="en-AU" sz="1200">
                <a:solidFill>
                  <a:srgbClr val="14213D"/>
                </a:solidFill>
                <a:latin typeface="Calibri" panose="020F0502020204030204" pitchFamily="34" charset="0"/>
              </a:rPr>
              <a:t>Thursday, please.</a:t>
            </a:r>
          </a:p>
        </p:txBody>
      </p:sp>
      <p:sp>
        <p:nvSpPr>
          <p:cNvPr id="13" name="Rectangle: Rounded Corners 12">
            <a:extLst>
              <a:ext uri="{FF2B5EF4-FFF2-40B4-BE49-F238E27FC236}">
                <a16:creationId xmlns:a16="http://schemas.microsoft.com/office/drawing/2014/main" id="{2FE10898-11A5-A8A6-B74A-98FB53B37AD0}"/>
              </a:ext>
            </a:extLst>
          </p:cNvPr>
          <p:cNvSpPr/>
          <p:nvPr/>
        </p:nvSpPr>
        <p:spPr>
          <a:xfrm>
            <a:off x="609600" y="4737100"/>
            <a:ext cx="6248400" cy="711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C287E1F5-D5EE-5B31-0F66-D346A957E800}"/>
              </a:ext>
            </a:extLst>
          </p:cNvPr>
          <p:cNvSpPr txBox="1"/>
          <p:nvPr/>
        </p:nvSpPr>
        <p:spPr>
          <a:xfrm>
            <a:off x="787400" y="4826000"/>
            <a:ext cx="5892800" cy="369332"/>
          </a:xfrm>
          <a:prstGeom prst="rect">
            <a:avLst/>
          </a:prstGeom>
          <a:noFill/>
        </p:spPr>
        <p:txBody>
          <a:bodyPr vert="horz" wrap="square" lIns="0" tIns="0" rIns="0" bIns="0" rtlCol="0">
            <a:noAutofit/>
          </a:bodyPr>
          <a:lstStyle/>
          <a:p>
            <a:pPr>
              <a:spcAft>
                <a:spcPts val="400"/>
              </a:spcAft>
            </a:pPr>
            <a:r>
              <a:rPr lang="en-US" sz="1200" b="1">
                <a:solidFill>
                  <a:srgbClr val="0F766E"/>
                </a:solidFill>
                <a:latin typeface="Calibri" panose="020F0502020204030204" pitchFamily="34" charset="0"/>
              </a:rPr>
              <a:t>RECEPTIONIST</a:t>
            </a:r>
          </a:p>
          <a:p>
            <a:pPr>
              <a:spcAft>
                <a:spcPts val="400"/>
              </a:spcAft>
            </a:pPr>
            <a:r>
              <a:rPr lang="en-US" sz="1200">
                <a:solidFill>
                  <a:srgbClr val="14213D"/>
                </a:solidFill>
                <a:latin typeface="Calibri" panose="020F0502020204030204" pitchFamily="34" charset="0"/>
              </a:rPr>
              <a:t>Shall I book that? … You're booked for Thursday at 2:15. Your reference is BD-4821. Would you like a text confirming it?</a:t>
            </a:r>
            <a:endParaRPr lang="en-AU" sz="1200">
              <a:solidFill>
                <a:srgbClr val="14213D"/>
              </a:solidFill>
              <a:latin typeface="Calibri" panose="020F0502020204030204" pitchFamily="34" charset="0"/>
            </a:endParaRPr>
          </a:p>
        </p:txBody>
      </p:sp>
      <p:sp>
        <p:nvSpPr>
          <p:cNvPr id="15" name="TextBox 14">
            <a:extLst>
              <a:ext uri="{FF2B5EF4-FFF2-40B4-BE49-F238E27FC236}">
                <a16:creationId xmlns:a16="http://schemas.microsoft.com/office/drawing/2014/main" id="{267334A0-673D-7837-CBC5-FE173FFD9226}"/>
              </a:ext>
            </a:extLst>
          </p:cNvPr>
          <p:cNvSpPr txBox="1"/>
          <p:nvPr/>
        </p:nvSpPr>
        <p:spPr>
          <a:xfrm>
            <a:off x="609600" y="5613400"/>
            <a:ext cx="10972800" cy="381000"/>
          </a:xfrm>
          <a:prstGeom prst="rect">
            <a:avLst/>
          </a:prstGeom>
          <a:noFill/>
        </p:spPr>
        <p:txBody>
          <a:bodyPr vert="horz" wrap="square" lIns="0" tIns="0" rIns="0" bIns="0" rtlCol="0">
            <a:noAutofit/>
          </a:bodyPr>
          <a:lstStyle/>
          <a:p>
            <a:pPr>
              <a:spcAft>
                <a:spcPts val="400"/>
              </a:spcAft>
            </a:pPr>
            <a:r>
              <a:rPr lang="en-US" sz="1200" i="1">
                <a:solidFill>
                  <a:srgbClr val="475569"/>
                </a:solidFill>
                <a:latin typeface="Calibri" panose="020F0502020204030204" pitchFamily="34" charset="0"/>
              </a:rPr>
              <a:t>Labelled simulated until booking goes live on our demo line. Reference and times are fictional.</a:t>
            </a:r>
            <a:endParaRPr lang="en-AU" sz="1200" i="1">
              <a:solidFill>
                <a:srgbClr val="475569"/>
              </a:solidFill>
              <a:latin typeface="Calibri" panose="020F0502020204030204" pitchFamily="34" charset="0"/>
            </a:endParaRPr>
          </a:p>
        </p:txBody>
      </p:sp>
    </p:spTree>
    <p:extLst>
      <p:ext uri="{BB962C8B-B14F-4D97-AF65-F5344CB8AC3E}">
        <p14:creationId xmlns:p14="http://schemas.microsoft.com/office/powerpoint/2010/main" val="2464222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CD6AA-00C6-69B1-91EF-1DCBDD0950F6}"/>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6</a:t>
            </a:r>
          </a:p>
        </p:txBody>
      </p:sp>
      <p:sp>
        <p:nvSpPr>
          <p:cNvPr id="3" name="TextBox 2">
            <a:extLst>
              <a:ext uri="{FF2B5EF4-FFF2-40B4-BE49-F238E27FC236}">
                <a16:creationId xmlns:a16="http://schemas.microsoft.com/office/drawing/2014/main" id="{3EA0C7FD-E8C1-94E0-85AF-7F8371B6D480}"/>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AU" sz="3200">
                <a:solidFill>
                  <a:srgbClr val="14213D"/>
                </a:solidFill>
                <a:latin typeface="Cambria" panose="02040503050406030204" pitchFamily="18" charset="0"/>
              </a:rPr>
              <a:t>Two honest booking modes</a:t>
            </a:r>
          </a:p>
        </p:txBody>
      </p:sp>
      <p:sp>
        <p:nvSpPr>
          <p:cNvPr id="4" name="TextBox 3">
            <a:extLst>
              <a:ext uri="{FF2B5EF4-FFF2-40B4-BE49-F238E27FC236}">
                <a16:creationId xmlns:a16="http://schemas.microsoft.com/office/drawing/2014/main" id="{DE2A65D9-E978-B8E1-5900-16B574F32951}"/>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Booked (Google Calendar / Cal.com) or Booking request / lead capture (closed practice software).</a:t>
            </a:r>
            <a:endParaRPr lang="en-AU" sz="1500">
              <a:solidFill>
                <a:srgbClr val="475569"/>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338033B4-7280-ED29-0C5D-976CEAECF516}"/>
              </a:ext>
            </a:extLst>
          </p:cNvPr>
          <p:cNvSpPr/>
          <p:nvPr/>
        </p:nvSpPr>
        <p:spPr>
          <a:xfrm>
            <a:off x="609600" y="1778000"/>
            <a:ext cx="3454400" cy="3175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547FF6F2-4D95-7E69-3FB6-787AE3E1B3AC}"/>
              </a:ext>
            </a:extLst>
          </p:cNvPr>
          <p:cNvSpPr/>
          <p:nvPr/>
        </p:nvSpPr>
        <p:spPr>
          <a:xfrm>
            <a:off x="863600" y="20320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600"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9A040ADF-296E-161F-7095-2A5280550527}"/>
              </a:ext>
            </a:extLst>
          </p:cNvPr>
          <p:cNvSpPr txBox="1"/>
          <p:nvPr/>
        </p:nvSpPr>
        <p:spPr>
          <a:xfrm>
            <a:off x="863600" y="2730500"/>
            <a:ext cx="29464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Booked</a:t>
            </a:r>
          </a:p>
        </p:txBody>
      </p:sp>
      <p:sp>
        <p:nvSpPr>
          <p:cNvPr id="8" name="TextBox 7">
            <a:extLst>
              <a:ext uri="{FF2B5EF4-FFF2-40B4-BE49-F238E27FC236}">
                <a16:creationId xmlns:a16="http://schemas.microsoft.com/office/drawing/2014/main" id="{6F2C0347-EE73-8B87-211E-DF21B2061BC3}"/>
              </a:ext>
            </a:extLst>
          </p:cNvPr>
          <p:cNvSpPr txBox="1"/>
          <p:nvPr/>
        </p:nvSpPr>
        <p:spPr>
          <a:xfrm>
            <a:off x="863600" y="3327400"/>
            <a:ext cx="29464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Google Calendar or Cal.com, including a dedicated booking calendar. Books on the spot, reads back a reference.</a:t>
            </a:r>
            <a:endParaRPr lang="en-AU" sz="1300">
              <a:solidFill>
                <a:srgbClr val="475569"/>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764C927A-8407-2004-915E-833F27AB09D8}"/>
              </a:ext>
            </a:extLst>
          </p:cNvPr>
          <p:cNvSpPr/>
          <p:nvPr/>
        </p:nvSpPr>
        <p:spPr>
          <a:xfrm>
            <a:off x="4318000" y="1778000"/>
            <a:ext cx="3454400" cy="3175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05EC7F14-9BB6-49C5-883D-15235084C5CC}"/>
              </a:ext>
            </a:extLst>
          </p:cNvPr>
          <p:cNvSpPr/>
          <p:nvPr/>
        </p:nvSpPr>
        <p:spPr>
          <a:xfrm>
            <a:off x="4572000" y="20320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6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02F89AD8-7C8B-B834-6088-C946FB0F0F72}"/>
              </a:ext>
            </a:extLst>
          </p:cNvPr>
          <p:cNvSpPr txBox="1"/>
          <p:nvPr/>
        </p:nvSpPr>
        <p:spPr>
          <a:xfrm>
            <a:off x="4572000" y="2730500"/>
            <a:ext cx="29464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Booking request / lead capture</a:t>
            </a:r>
          </a:p>
        </p:txBody>
      </p:sp>
      <p:sp>
        <p:nvSpPr>
          <p:cNvPr id="12" name="TextBox 11">
            <a:extLst>
              <a:ext uri="{FF2B5EF4-FFF2-40B4-BE49-F238E27FC236}">
                <a16:creationId xmlns:a16="http://schemas.microsoft.com/office/drawing/2014/main" id="{7E01D53B-73BF-F25D-7FFD-6F14FBF32680}"/>
              </a:ext>
            </a:extLst>
          </p:cNvPr>
          <p:cNvSpPr txBox="1"/>
          <p:nvPr/>
        </p:nvSpPr>
        <p:spPr>
          <a:xfrm>
            <a:off x="4572000" y="3327400"/>
            <a:ext cx="29464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Dentally, Core Practice, D4W and similar: no direct booking yet (Dentally has an API; possible future). Takes name, number, reason, preferred time. No reference number. Desk confirms next business morning.</a:t>
            </a:r>
            <a:endParaRPr lang="en-AU" sz="1300">
              <a:solidFill>
                <a:srgbClr val="475569"/>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D3908833-39F7-0BFE-185F-4E3863861A16}"/>
              </a:ext>
            </a:extLst>
          </p:cNvPr>
          <p:cNvSpPr/>
          <p:nvPr/>
        </p:nvSpPr>
        <p:spPr>
          <a:xfrm>
            <a:off x="8026400" y="1778000"/>
            <a:ext cx="3454400" cy="3175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6168F560-E070-805D-24DF-9CA785B59AC3}"/>
              </a:ext>
            </a:extLst>
          </p:cNvPr>
          <p:cNvSpPr/>
          <p:nvPr/>
        </p:nvSpPr>
        <p:spPr>
          <a:xfrm>
            <a:off x="8280400" y="2032000"/>
            <a:ext cx="508000" cy="508000"/>
          </a:xfrm>
          <a:prstGeom prst="ellipse">
            <a:avLst/>
          </a:prstGeom>
          <a:solidFill>
            <a:srgbClr val="4755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600" b="1">
                <a:solidFill>
                  <a:srgbClr val="FFFFFF"/>
                </a:solidFill>
                <a:latin typeface="Calibri" panose="020F0502020204030204" pitchFamily="34" charset="0"/>
              </a:rPr>
              <a:t>3</a:t>
            </a:r>
          </a:p>
        </p:txBody>
      </p:sp>
      <p:sp>
        <p:nvSpPr>
          <p:cNvPr id="15" name="TextBox 14">
            <a:extLst>
              <a:ext uri="{FF2B5EF4-FFF2-40B4-BE49-F238E27FC236}">
                <a16:creationId xmlns:a16="http://schemas.microsoft.com/office/drawing/2014/main" id="{F5BA61B8-F078-A543-F25F-8F296D757D82}"/>
              </a:ext>
            </a:extLst>
          </p:cNvPr>
          <p:cNvSpPr txBox="1"/>
          <p:nvPr/>
        </p:nvSpPr>
        <p:spPr>
          <a:xfrm>
            <a:off x="8280400" y="2730500"/>
            <a:ext cx="29464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Neither works for you</a:t>
            </a:r>
          </a:p>
        </p:txBody>
      </p:sp>
      <p:sp>
        <p:nvSpPr>
          <p:cNvPr id="16" name="TextBox 15">
            <a:extLst>
              <a:ext uri="{FF2B5EF4-FFF2-40B4-BE49-F238E27FC236}">
                <a16:creationId xmlns:a16="http://schemas.microsoft.com/office/drawing/2014/main" id="{8314357A-5D3A-48A9-B953-BD72B246773E}"/>
              </a:ext>
            </a:extLst>
          </p:cNvPr>
          <p:cNvSpPr txBox="1"/>
          <p:nvPr/>
        </p:nvSpPr>
        <p:spPr>
          <a:xfrm>
            <a:off x="8280400" y="3327400"/>
            <a:ext cx="29464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Then it isn't a fit yet, and we'll tell you so.</a:t>
            </a:r>
            <a:endParaRPr lang="en-AU" sz="1300">
              <a:solidFill>
                <a:srgbClr val="475569"/>
              </a:solidFill>
              <a:latin typeface="Calibri" panose="020F0502020204030204" pitchFamily="34" charset="0"/>
            </a:endParaRPr>
          </a:p>
        </p:txBody>
      </p:sp>
      <p:sp>
        <p:nvSpPr>
          <p:cNvPr id="17" name="TextBox 16">
            <a:extLst>
              <a:ext uri="{FF2B5EF4-FFF2-40B4-BE49-F238E27FC236}">
                <a16:creationId xmlns:a16="http://schemas.microsoft.com/office/drawing/2014/main" id="{96DACE4C-E3BF-D13F-B636-B6084FDD0238}"/>
              </a:ext>
            </a:extLst>
          </p:cNvPr>
          <p:cNvSpPr txBox="1"/>
          <p:nvPr/>
        </p:nvSpPr>
        <p:spPr>
          <a:xfrm>
            <a:off x="609600" y="5143500"/>
            <a:ext cx="10972800" cy="369332"/>
          </a:xfrm>
          <a:prstGeom prst="rect">
            <a:avLst/>
          </a:prstGeom>
          <a:noFill/>
        </p:spPr>
        <p:txBody>
          <a:bodyPr vert="horz" wrap="square" lIns="0" tIns="0" rIns="0" bIns="0" rtlCol="0">
            <a:noAutofit/>
          </a:bodyPr>
          <a:lstStyle/>
          <a:p>
            <a:pPr>
              <a:spcAft>
                <a:spcPts val="400"/>
              </a:spcAft>
            </a:pPr>
            <a:r>
              <a:rPr lang="en-US" sz="1400">
                <a:solidFill>
                  <a:srgbClr val="14213D"/>
                </a:solidFill>
                <a:latin typeface="Calibri" panose="020F0502020204030204" pitchFamily="34" charset="0"/>
              </a:rPr>
              <a:t>Direct booking depends on your system: we confirm compatibility during setup, or agree a booking-request / lead workflow.</a:t>
            </a:r>
          </a:p>
          <a:p>
            <a:pPr>
              <a:spcAft>
                <a:spcPts val="400"/>
              </a:spcAft>
            </a:pPr>
            <a:r>
              <a:rPr lang="en-US" sz="1400">
                <a:solidFill>
                  <a:srgbClr val="14213D"/>
                </a:solidFill>
                <a:latin typeface="Calibri" panose="020F0502020204030204" pitchFamily="34" charset="0"/>
              </a:rPr>
              <a:t>You choose which appointment types and times it may book (Booked mode). Everything else becomes a message or request.</a:t>
            </a:r>
            <a:endParaRPr lang="en-AU" sz="1400">
              <a:solidFill>
                <a:srgbClr val="14213D"/>
              </a:solidFill>
              <a:latin typeface="Calibri" panose="020F0502020204030204" pitchFamily="34" charset="0"/>
            </a:endParaRPr>
          </a:p>
        </p:txBody>
      </p:sp>
    </p:spTree>
    <p:extLst>
      <p:ext uri="{BB962C8B-B14F-4D97-AF65-F5344CB8AC3E}">
        <p14:creationId xmlns:p14="http://schemas.microsoft.com/office/powerpoint/2010/main" val="3600863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21713E-F484-3E66-33FE-48E42B54760F}"/>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7</a:t>
            </a:r>
          </a:p>
        </p:txBody>
      </p:sp>
      <p:sp>
        <p:nvSpPr>
          <p:cNvPr id="3" name="TextBox 2">
            <a:extLst>
              <a:ext uri="{FF2B5EF4-FFF2-40B4-BE49-F238E27FC236}">
                <a16:creationId xmlns:a16="http://schemas.microsoft.com/office/drawing/2014/main" id="{5EEC143C-DE6E-D024-02CB-446F0B9686CC}"/>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Safety and privacy, said plainly</a:t>
            </a:r>
            <a:endParaRPr lang="en-AU" sz="3200">
              <a:solidFill>
                <a:srgbClr val="14213D"/>
              </a:solidFill>
              <a:latin typeface="Cambria" panose="02040503050406030204" pitchFamily="18" charset="0"/>
            </a:endParaRPr>
          </a:p>
        </p:txBody>
      </p:sp>
      <p:sp>
        <p:nvSpPr>
          <p:cNvPr id="4" name="Oval 3">
            <a:extLst>
              <a:ext uri="{FF2B5EF4-FFF2-40B4-BE49-F238E27FC236}">
                <a16:creationId xmlns:a16="http://schemas.microsoft.com/office/drawing/2014/main" id="{26FEC69E-E003-35DA-0043-25984B5A7DED}"/>
              </a:ext>
            </a:extLst>
          </p:cNvPr>
          <p:cNvSpPr/>
          <p:nvPr/>
        </p:nvSpPr>
        <p:spPr>
          <a:xfrm>
            <a:off x="609600" y="1574800"/>
            <a:ext cx="457200" cy="4572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4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A33FE56C-0DD0-AB06-3E2E-55BB6F4871A5}"/>
              </a:ext>
            </a:extLst>
          </p:cNvPr>
          <p:cNvSpPr txBox="1"/>
          <p:nvPr/>
        </p:nvSpPr>
        <p:spPr>
          <a:xfrm>
            <a:off x="1244600" y="1524000"/>
            <a:ext cx="46990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000 first</a:t>
            </a:r>
          </a:p>
        </p:txBody>
      </p:sp>
      <p:sp>
        <p:nvSpPr>
          <p:cNvPr id="6" name="TextBox 5">
            <a:extLst>
              <a:ext uri="{FF2B5EF4-FFF2-40B4-BE49-F238E27FC236}">
                <a16:creationId xmlns:a16="http://schemas.microsoft.com/office/drawing/2014/main" id="{7A61D37F-3E12-E4EB-3C87-054A0A93D025}"/>
              </a:ext>
            </a:extLst>
          </p:cNvPr>
          <p:cNvSpPr txBox="1"/>
          <p:nvPr/>
        </p:nvSpPr>
        <p:spPr>
          <a:xfrm>
            <a:off x="1244600" y="1854200"/>
            <a:ext cx="46990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Urgent or life-threatening wording gets 'hang up and call 000' before anything else. Not an emergency service.</a:t>
            </a:r>
            <a:endParaRPr lang="en-AU" sz="1300">
              <a:solidFill>
                <a:srgbClr val="475569"/>
              </a:solidFill>
              <a:latin typeface="Calibri" panose="020F0502020204030204" pitchFamily="34" charset="0"/>
            </a:endParaRPr>
          </a:p>
        </p:txBody>
      </p:sp>
      <p:sp>
        <p:nvSpPr>
          <p:cNvPr id="7" name="Oval 6">
            <a:extLst>
              <a:ext uri="{FF2B5EF4-FFF2-40B4-BE49-F238E27FC236}">
                <a16:creationId xmlns:a16="http://schemas.microsoft.com/office/drawing/2014/main" id="{D23D711A-E483-B9B4-034D-BB7C16E5DCA6}"/>
              </a:ext>
            </a:extLst>
          </p:cNvPr>
          <p:cNvSpPr/>
          <p:nvPr/>
        </p:nvSpPr>
        <p:spPr>
          <a:xfrm>
            <a:off x="6197600" y="1574800"/>
            <a:ext cx="457200" cy="4572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4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C23F3E58-B44D-21AB-D12D-4DD9268013E1}"/>
              </a:ext>
            </a:extLst>
          </p:cNvPr>
          <p:cNvSpPr txBox="1"/>
          <p:nvPr/>
        </p:nvSpPr>
        <p:spPr>
          <a:xfrm>
            <a:off x="6832600" y="1524000"/>
            <a:ext cx="46990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No advice</a:t>
            </a:r>
          </a:p>
        </p:txBody>
      </p:sp>
      <p:sp>
        <p:nvSpPr>
          <p:cNvPr id="9" name="TextBox 8">
            <a:extLst>
              <a:ext uri="{FF2B5EF4-FFF2-40B4-BE49-F238E27FC236}">
                <a16:creationId xmlns:a16="http://schemas.microsoft.com/office/drawing/2014/main" id="{D75CBAE0-A42E-8F61-6F4E-8DFD1CC7EB7A}"/>
              </a:ext>
            </a:extLst>
          </p:cNvPr>
          <p:cNvSpPr txBox="1"/>
          <p:nvPr/>
        </p:nvSpPr>
        <p:spPr>
          <a:xfrm>
            <a:off x="6832600" y="1854200"/>
            <a:ext cx="46990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No clinical advice, no triage, no quoting fees you haven't published.</a:t>
            </a:r>
            <a:endParaRPr lang="en-AU" sz="1300">
              <a:solidFill>
                <a:srgbClr val="475569"/>
              </a:solidFill>
              <a:latin typeface="Calibri" panose="020F0502020204030204" pitchFamily="34" charset="0"/>
            </a:endParaRPr>
          </a:p>
        </p:txBody>
      </p:sp>
      <p:sp>
        <p:nvSpPr>
          <p:cNvPr id="10" name="Oval 9">
            <a:extLst>
              <a:ext uri="{FF2B5EF4-FFF2-40B4-BE49-F238E27FC236}">
                <a16:creationId xmlns:a16="http://schemas.microsoft.com/office/drawing/2014/main" id="{C56BDF36-9E85-505B-C74B-0230FCF0A592}"/>
              </a:ext>
            </a:extLst>
          </p:cNvPr>
          <p:cNvSpPr/>
          <p:nvPr/>
        </p:nvSpPr>
        <p:spPr>
          <a:xfrm>
            <a:off x="609600" y="2971800"/>
            <a:ext cx="457200" cy="4572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400" b="1">
                <a:solidFill>
                  <a:srgbClr val="FFFFFF"/>
                </a:solidFill>
                <a:latin typeface="Calibri" panose="020F0502020204030204" pitchFamily="34" charset="0"/>
              </a:rPr>
              <a:t>3</a:t>
            </a:r>
          </a:p>
        </p:txBody>
      </p:sp>
      <p:sp>
        <p:nvSpPr>
          <p:cNvPr id="11" name="TextBox 10">
            <a:extLst>
              <a:ext uri="{FF2B5EF4-FFF2-40B4-BE49-F238E27FC236}">
                <a16:creationId xmlns:a16="http://schemas.microsoft.com/office/drawing/2014/main" id="{EB5AFE79-97DD-4DB9-3A66-924AF9899BA0}"/>
              </a:ext>
            </a:extLst>
          </p:cNvPr>
          <p:cNvSpPr txBox="1"/>
          <p:nvPr/>
        </p:nvSpPr>
        <p:spPr>
          <a:xfrm>
            <a:off x="1244600" y="2921000"/>
            <a:ext cx="46990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Disclosure</a:t>
            </a:r>
          </a:p>
        </p:txBody>
      </p:sp>
      <p:sp>
        <p:nvSpPr>
          <p:cNvPr id="12" name="TextBox 11">
            <a:extLst>
              <a:ext uri="{FF2B5EF4-FFF2-40B4-BE49-F238E27FC236}">
                <a16:creationId xmlns:a16="http://schemas.microsoft.com/office/drawing/2014/main" id="{557E96EE-787B-598E-64F7-D4B2C2A57F1F}"/>
              </a:ext>
            </a:extLst>
          </p:cNvPr>
          <p:cNvSpPr txBox="1"/>
          <p:nvPr/>
        </p:nvSpPr>
        <p:spPr>
          <a:xfrm>
            <a:off x="1244600" y="3251200"/>
            <a:ext cx="46990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Every call starts: this call is recorded; you're speaking with an automated assistant.</a:t>
            </a:r>
            <a:endParaRPr lang="en-AU" sz="1300">
              <a:solidFill>
                <a:srgbClr val="475569"/>
              </a:solidFill>
              <a:latin typeface="Calibri" panose="020F0502020204030204" pitchFamily="34" charset="0"/>
            </a:endParaRPr>
          </a:p>
        </p:txBody>
      </p:sp>
      <p:sp>
        <p:nvSpPr>
          <p:cNvPr id="13" name="Oval 12">
            <a:extLst>
              <a:ext uri="{FF2B5EF4-FFF2-40B4-BE49-F238E27FC236}">
                <a16:creationId xmlns:a16="http://schemas.microsoft.com/office/drawing/2014/main" id="{2D1E92F8-6E0F-7B31-E57E-BC5E21FC3AC6}"/>
              </a:ext>
            </a:extLst>
          </p:cNvPr>
          <p:cNvSpPr/>
          <p:nvPr/>
        </p:nvSpPr>
        <p:spPr>
          <a:xfrm>
            <a:off x="6197600" y="2971800"/>
            <a:ext cx="457200" cy="4572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400" b="1">
                <a:solidFill>
                  <a:srgbClr val="FFFFFF"/>
                </a:solidFill>
                <a:latin typeface="Calibri" panose="020F0502020204030204" pitchFamily="34" charset="0"/>
              </a:rPr>
              <a:t>4</a:t>
            </a:r>
          </a:p>
        </p:txBody>
      </p:sp>
      <p:sp>
        <p:nvSpPr>
          <p:cNvPr id="14" name="TextBox 13">
            <a:extLst>
              <a:ext uri="{FF2B5EF4-FFF2-40B4-BE49-F238E27FC236}">
                <a16:creationId xmlns:a16="http://schemas.microsoft.com/office/drawing/2014/main" id="{D6D687F1-0786-0B1F-C1BC-67924273EE52}"/>
              </a:ext>
            </a:extLst>
          </p:cNvPr>
          <p:cNvSpPr txBox="1"/>
          <p:nvPr/>
        </p:nvSpPr>
        <p:spPr>
          <a:xfrm>
            <a:off x="6832600" y="2921000"/>
            <a:ext cx="46990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Overseas processing</a:t>
            </a:r>
          </a:p>
        </p:txBody>
      </p:sp>
      <p:sp>
        <p:nvSpPr>
          <p:cNvPr id="15" name="TextBox 14">
            <a:extLst>
              <a:ext uri="{FF2B5EF4-FFF2-40B4-BE49-F238E27FC236}">
                <a16:creationId xmlns:a16="http://schemas.microsoft.com/office/drawing/2014/main" id="{E34B9F25-9624-25BB-8229-06583A5CD565}"/>
              </a:ext>
            </a:extLst>
          </p:cNvPr>
          <p:cNvSpPr txBox="1"/>
          <p:nvPr/>
        </p:nvSpPr>
        <p:spPr>
          <a:xfrm>
            <a:off x="6832600" y="3251200"/>
            <a:ext cx="46990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Call audio and transcripts are processed by providers in the United States. Your privacy policy names them (we give you wording).</a:t>
            </a:r>
            <a:endParaRPr lang="en-AU" sz="1300">
              <a:solidFill>
                <a:srgbClr val="475569"/>
              </a:solidFill>
              <a:latin typeface="Calibri" panose="020F0502020204030204" pitchFamily="34" charset="0"/>
            </a:endParaRPr>
          </a:p>
        </p:txBody>
      </p:sp>
      <p:sp>
        <p:nvSpPr>
          <p:cNvPr id="16" name="Oval 15">
            <a:extLst>
              <a:ext uri="{FF2B5EF4-FFF2-40B4-BE49-F238E27FC236}">
                <a16:creationId xmlns:a16="http://schemas.microsoft.com/office/drawing/2014/main" id="{DCA42F39-5A79-AF64-9553-421F779CDABC}"/>
              </a:ext>
            </a:extLst>
          </p:cNvPr>
          <p:cNvSpPr/>
          <p:nvPr/>
        </p:nvSpPr>
        <p:spPr>
          <a:xfrm>
            <a:off x="609600" y="4368800"/>
            <a:ext cx="457200" cy="4572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400" b="1">
                <a:solidFill>
                  <a:srgbClr val="FFFFFF"/>
                </a:solidFill>
                <a:latin typeface="Calibri" panose="020F0502020204030204" pitchFamily="34" charset="0"/>
              </a:rPr>
              <a:t>5</a:t>
            </a:r>
          </a:p>
        </p:txBody>
      </p:sp>
      <p:sp>
        <p:nvSpPr>
          <p:cNvPr id="17" name="TextBox 16">
            <a:extLst>
              <a:ext uri="{FF2B5EF4-FFF2-40B4-BE49-F238E27FC236}">
                <a16:creationId xmlns:a16="http://schemas.microsoft.com/office/drawing/2014/main" id="{E3925E2E-C351-9E73-E660-467A5897713C}"/>
              </a:ext>
            </a:extLst>
          </p:cNvPr>
          <p:cNvSpPr txBox="1"/>
          <p:nvPr/>
        </p:nvSpPr>
        <p:spPr>
          <a:xfrm>
            <a:off x="1244600" y="4318000"/>
            <a:ext cx="46990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Minimum data</a:t>
            </a:r>
          </a:p>
        </p:txBody>
      </p:sp>
      <p:sp>
        <p:nvSpPr>
          <p:cNvPr id="18" name="TextBox 17">
            <a:extLst>
              <a:ext uri="{FF2B5EF4-FFF2-40B4-BE49-F238E27FC236}">
                <a16:creationId xmlns:a16="http://schemas.microsoft.com/office/drawing/2014/main" id="{12BE4E9A-60D5-BEA0-A6BB-AA3134CB996F}"/>
              </a:ext>
            </a:extLst>
          </p:cNvPr>
          <p:cNvSpPr txBox="1"/>
          <p:nvPr/>
        </p:nvSpPr>
        <p:spPr>
          <a:xfrm>
            <a:off x="1244600" y="4648200"/>
            <a:ext cx="46990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Name, number, appointment type and time. No symptoms or clinical detail asked for.</a:t>
            </a:r>
            <a:endParaRPr lang="en-AU" sz="1300">
              <a:solidFill>
                <a:srgbClr val="475569"/>
              </a:solidFill>
              <a:latin typeface="Calibri" panose="020F0502020204030204" pitchFamily="34" charset="0"/>
            </a:endParaRPr>
          </a:p>
        </p:txBody>
      </p:sp>
      <p:sp>
        <p:nvSpPr>
          <p:cNvPr id="19" name="Oval 18">
            <a:extLst>
              <a:ext uri="{FF2B5EF4-FFF2-40B4-BE49-F238E27FC236}">
                <a16:creationId xmlns:a16="http://schemas.microsoft.com/office/drawing/2014/main" id="{D48DBC2A-D747-CCD9-66CE-E80A816EAE9C}"/>
              </a:ext>
            </a:extLst>
          </p:cNvPr>
          <p:cNvSpPr/>
          <p:nvPr/>
        </p:nvSpPr>
        <p:spPr>
          <a:xfrm>
            <a:off x="6197600" y="4368800"/>
            <a:ext cx="457200" cy="4572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400" b="1">
                <a:solidFill>
                  <a:srgbClr val="FFFFFF"/>
                </a:solidFill>
                <a:latin typeface="Calibri" panose="020F0502020204030204" pitchFamily="34" charset="0"/>
              </a:rPr>
              <a:t>6</a:t>
            </a:r>
          </a:p>
        </p:txBody>
      </p:sp>
      <p:sp>
        <p:nvSpPr>
          <p:cNvPr id="20" name="TextBox 19">
            <a:extLst>
              <a:ext uri="{FF2B5EF4-FFF2-40B4-BE49-F238E27FC236}">
                <a16:creationId xmlns:a16="http://schemas.microsoft.com/office/drawing/2014/main" id="{7CBB39B8-6BAD-9743-5617-FF683002D65B}"/>
              </a:ext>
            </a:extLst>
          </p:cNvPr>
          <p:cNvSpPr txBox="1"/>
          <p:nvPr/>
        </p:nvSpPr>
        <p:spPr>
          <a:xfrm>
            <a:off x="6832600" y="4318000"/>
            <a:ext cx="46990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Retention</a:t>
            </a:r>
          </a:p>
        </p:txBody>
      </p:sp>
      <p:sp>
        <p:nvSpPr>
          <p:cNvPr id="21" name="TextBox 20">
            <a:extLst>
              <a:ext uri="{FF2B5EF4-FFF2-40B4-BE49-F238E27FC236}">
                <a16:creationId xmlns:a16="http://schemas.microsoft.com/office/drawing/2014/main" id="{26F8007D-D945-6D0C-91A4-1A32D1C39838}"/>
              </a:ext>
            </a:extLst>
          </p:cNvPr>
          <p:cNvSpPr txBox="1"/>
          <p:nvPr/>
        </p:nvSpPr>
        <p:spPr>
          <a:xfrm>
            <a:off x="6832600" y="4648200"/>
            <a:ext cx="4699000" cy="369332"/>
          </a:xfrm>
          <a:prstGeom prst="rect">
            <a:avLst/>
          </a:prstGeom>
          <a:noFill/>
        </p:spPr>
        <p:txBody>
          <a:bodyPr vert="horz" wrap="square" lIns="0" tIns="0" rIns="0" bIns="0" rtlCol="0">
            <a:noAutofit/>
          </a:bodyPr>
          <a:lstStyle/>
          <a:p>
            <a:pPr>
              <a:spcAft>
                <a:spcPts val="400"/>
              </a:spcAft>
            </a:pPr>
            <a:r>
              <a:rPr lang="en-US" sz="1300">
                <a:solidFill>
                  <a:srgbClr val="475569"/>
                </a:solidFill>
                <a:latin typeface="Calibri" panose="020F0502020204030204" pitchFamily="34" charset="0"/>
              </a:rPr>
              <a:t>Recordings and transcripts kept for an agreed period (30, 60 or 90 days), then deleted.</a:t>
            </a:r>
            <a:endParaRPr lang="en-AU" sz="1300">
              <a:solidFill>
                <a:srgbClr val="475569"/>
              </a:solidFill>
              <a:latin typeface="Calibri" panose="020F0502020204030204" pitchFamily="34" charset="0"/>
            </a:endParaRPr>
          </a:p>
        </p:txBody>
      </p:sp>
    </p:spTree>
    <p:extLst>
      <p:ext uri="{BB962C8B-B14F-4D97-AF65-F5344CB8AC3E}">
        <p14:creationId xmlns:p14="http://schemas.microsoft.com/office/powerpoint/2010/main" val="1746197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F83FE1-B6D0-AE55-78A3-7B71BA4833CF}"/>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8</a:t>
            </a:r>
          </a:p>
        </p:txBody>
      </p:sp>
      <p:sp>
        <p:nvSpPr>
          <p:cNvPr id="3" name="TextBox 2">
            <a:extLst>
              <a:ext uri="{FF2B5EF4-FFF2-40B4-BE49-F238E27FC236}">
                <a16:creationId xmlns:a16="http://schemas.microsoft.com/office/drawing/2014/main" id="{025BA75D-C5AF-F392-8462-AAE66EB272B8}"/>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AU" sz="3200">
                <a:solidFill>
                  <a:srgbClr val="14213D"/>
                </a:solidFill>
                <a:latin typeface="Cambria" panose="02040503050406030204" pitchFamily="18" charset="0"/>
              </a:rPr>
              <a:t>Three packages</a:t>
            </a:r>
          </a:p>
        </p:txBody>
      </p:sp>
      <p:sp>
        <p:nvSpPr>
          <p:cNvPr id="4" name="TextBox 3">
            <a:extLst>
              <a:ext uri="{FF2B5EF4-FFF2-40B4-BE49-F238E27FC236}">
                <a16:creationId xmlns:a16="http://schemas.microsoft.com/office/drawing/2014/main" id="{AA59765A-4E5D-4146-9BE0-FF0B242CC2AE}"/>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Approved monthly plans, ex GST, + 10% GST. Setup: quoted separately once approved.</a:t>
            </a:r>
            <a:endParaRPr lang="en-AU" sz="1500">
              <a:solidFill>
                <a:srgbClr val="475569"/>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842CBCC0-B01F-861A-CC04-51023B85C417}"/>
              </a:ext>
            </a:extLst>
          </p:cNvPr>
          <p:cNvSpPr/>
          <p:nvPr/>
        </p:nvSpPr>
        <p:spPr>
          <a:xfrm>
            <a:off x="609600" y="1498600"/>
            <a:ext cx="3454400" cy="39624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0DACA4C8-344C-DB93-F095-1CA2D6CB7F7B}"/>
              </a:ext>
            </a:extLst>
          </p:cNvPr>
          <p:cNvSpPr txBox="1"/>
          <p:nvPr/>
        </p:nvSpPr>
        <p:spPr>
          <a:xfrm>
            <a:off x="863600" y="1651000"/>
            <a:ext cx="2946400" cy="369332"/>
          </a:xfrm>
          <a:prstGeom prst="rect">
            <a:avLst/>
          </a:prstGeom>
          <a:noFill/>
        </p:spPr>
        <p:txBody>
          <a:bodyPr vert="horz" wrap="square" lIns="0" tIns="0" rIns="0" bIns="0" rtlCol="0">
            <a:noAutofit/>
          </a:bodyPr>
          <a:lstStyle/>
          <a:p>
            <a:pPr>
              <a:spcAft>
                <a:spcPts val="400"/>
              </a:spcAft>
            </a:pPr>
            <a:r>
              <a:rPr lang="en-AU" sz="1400" b="1">
                <a:solidFill>
                  <a:srgbClr val="0F766E"/>
                </a:solidFill>
                <a:latin typeface="Calibri" panose="020F0502020204030204" pitchFamily="34" charset="0"/>
              </a:rPr>
              <a:t>ESSENTIAL</a:t>
            </a:r>
          </a:p>
        </p:txBody>
      </p:sp>
      <p:sp>
        <p:nvSpPr>
          <p:cNvPr id="7" name="TextBox 6">
            <a:extLst>
              <a:ext uri="{FF2B5EF4-FFF2-40B4-BE49-F238E27FC236}">
                <a16:creationId xmlns:a16="http://schemas.microsoft.com/office/drawing/2014/main" id="{55CA39A3-8448-2809-6478-9FC609983D39}"/>
              </a:ext>
            </a:extLst>
          </p:cNvPr>
          <p:cNvSpPr txBox="1"/>
          <p:nvPr/>
        </p:nvSpPr>
        <p:spPr>
          <a:xfrm>
            <a:off x="863600" y="1981200"/>
            <a:ext cx="2946400" cy="369332"/>
          </a:xfrm>
          <a:prstGeom prst="rect">
            <a:avLst/>
          </a:prstGeom>
          <a:noFill/>
        </p:spPr>
        <p:txBody>
          <a:bodyPr vert="horz" wrap="square" lIns="0" tIns="0" rIns="0" bIns="0" rtlCol="0">
            <a:noAutofit/>
          </a:bodyPr>
          <a:lstStyle/>
          <a:p>
            <a:pPr>
              <a:spcAft>
                <a:spcPts val="400"/>
              </a:spcAft>
            </a:pPr>
            <a:r>
              <a:rPr lang="en-AU" sz="3800">
                <a:solidFill>
                  <a:srgbClr val="14213D"/>
                </a:solidFill>
                <a:latin typeface="Cambria" panose="02040503050406030204" pitchFamily="18" charset="0"/>
              </a:rPr>
              <a:t>A$699</a:t>
            </a:r>
          </a:p>
        </p:txBody>
      </p:sp>
      <p:sp>
        <p:nvSpPr>
          <p:cNvPr id="8" name="TextBox 7">
            <a:extLst>
              <a:ext uri="{FF2B5EF4-FFF2-40B4-BE49-F238E27FC236}">
                <a16:creationId xmlns:a16="http://schemas.microsoft.com/office/drawing/2014/main" id="{9FF50069-2524-2490-F6AD-0DB1D4CF0E9B}"/>
              </a:ext>
            </a:extLst>
          </p:cNvPr>
          <p:cNvSpPr txBox="1"/>
          <p:nvPr/>
        </p:nvSpPr>
        <p:spPr>
          <a:xfrm>
            <a:off x="863600" y="2616200"/>
            <a:ext cx="2946400" cy="369332"/>
          </a:xfrm>
          <a:prstGeom prst="rect">
            <a:avLst/>
          </a:prstGeom>
          <a:noFill/>
        </p:spPr>
        <p:txBody>
          <a:bodyPr vert="horz" wrap="square" lIns="0" tIns="0" rIns="0" bIns="0" rtlCol="0">
            <a:noAutofit/>
          </a:bodyPr>
          <a:lstStyle/>
          <a:p>
            <a:pPr>
              <a:spcAft>
                <a:spcPts val="400"/>
              </a:spcAft>
            </a:pPr>
            <a:r>
              <a:rPr lang="en-AU" sz="1200">
                <a:solidFill>
                  <a:srgbClr val="475569"/>
                </a:solidFill>
                <a:latin typeface="Calibri" panose="020F0502020204030204" pitchFamily="34" charset="0"/>
              </a:rPr>
              <a:t>per month + 10% GST</a:t>
            </a:r>
          </a:p>
        </p:txBody>
      </p:sp>
      <p:sp>
        <p:nvSpPr>
          <p:cNvPr id="9" name="TextBox 8">
            <a:extLst>
              <a:ext uri="{FF2B5EF4-FFF2-40B4-BE49-F238E27FC236}">
                <a16:creationId xmlns:a16="http://schemas.microsoft.com/office/drawing/2014/main" id="{1367603C-F139-A061-AF67-43D1F0E83CDE}"/>
              </a:ext>
            </a:extLst>
          </p:cNvPr>
          <p:cNvSpPr txBox="1"/>
          <p:nvPr/>
        </p:nvSpPr>
        <p:spPr>
          <a:xfrm>
            <a:off x="863600" y="2971800"/>
            <a:ext cx="2946400" cy="369332"/>
          </a:xfrm>
          <a:prstGeom prst="rect">
            <a:avLst/>
          </a:prstGeom>
          <a:noFill/>
        </p:spPr>
        <p:txBody>
          <a:bodyPr vert="horz" wrap="square" lIns="0" tIns="0" rIns="0" bIns="0" rtlCol="0">
            <a:noAutofit/>
          </a:bodyPr>
          <a:lstStyle/>
          <a:p>
            <a:pPr marL="177800" indent="-177800">
              <a:spcAft>
                <a:spcPts val="300"/>
              </a:spcAft>
              <a:buFont typeface="+mj-lt"/>
              <a:buChar char="•"/>
            </a:pPr>
            <a:r>
              <a:rPr lang="en-US" sz="1250">
                <a:solidFill>
                  <a:srgbClr val="14213D"/>
                </a:solidFill>
                <a:latin typeface="Calibri" panose="020F0502020204030204" pitchFamily="34" charset="0"/>
              </a:rPr>
              <a:t>400 minutes included</a:t>
            </a:r>
          </a:p>
          <a:p>
            <a:pPr marL="177800" indent="-177800">
              <a:spcAft>
                <a:spcPts val="300"/>
              </a:spcAft>
              <a:buFont typeface="+mj-lt"/>
              <a:buChar char="•"/>
            </a:pPr>
            <a:r>
              <a:rPr lang="en-US" sz="1250">
                <a:solidFill>
                  <a:srgbClr val="14213D"/>
                </a:solidFill>
                <a:latin typeface="Calibri" panose="020F0502020204030204" pitchFamily="34" charset="0"/>
              </a:rPr>
              <a:t>A$0.80 per extra minute</a:t>
            </a:r>
          </a:p>
          <a:p>
            <a:pPr marL="177800" indent="-177800">
              <a:spcAft>
                <a:spcPts val="300"/>
              </a:spcAft>
              <a:buFont typeface="+mj-lt"/>
              <a:buChar char="•"/>
            </a:pPr>
            <a:r>
              <a:rPr lang="en-US" sz="1250">
                <a:solidFill>
                  <a:srgbClr val="14213D"/>
                </a:solidFill>
                <a:latin typeface="Calibri" panose="020F0502020204030204" pitchFamily="34" charset="0"/>
              </a:rPr>
              <a:t>1 calendar, 1 location</a:t>
            </a:r>
          </a:p>
          <a:p>
            <a:pPr marL="177800" indent="-177800">
              <a:spcAft>
                <a:spcPts val="300"/>
              </a:spcAft>
              <a:buFont typeface="+mj-lt"/>
              <a:buChar char="•"/>
            </a:pPr>
            <a:r>
              <a:rPr lang="en-US" sz="1250">
                <a:solidFill>
                  <a:srgbClr val="14213D"/>
                </a:solidFill>
                <a:latin typeface="Calibri" panose="020F0502020204030204" pitchFamily="34" charset="0"/>
              </a:rPr>
              <a:t>Cover: after hours, overflow</a:t>
            </a:r>
          </a:p>
          <a:p>
            <a:pPr marL="177800" indent="-177800">
              <a:spcAft>
                <a:spcPts val="300"/>
              </a:spcAft>
              <a:buFont typeface="+mj-lt"/>
              <a:buChar char="•"/>
            </a:pPr>
            <a:r>
              <a:rPr lang="en-US" sz="1250">
                <a:solidFill>
                  <a:srgbClr val="14213D"/>
                </a:solidFill>
                <a:latin typeface="Calibri" panose="020F0502020204030204" pitchFamily="34" charset="0"/>
              </a:rPr>
              <a:t>SMS booking confirmation*</a:t>
            </a:r>
          </a:p>
          <a:p>
            <a:pPr marL="177800" indent="-177800">
              <a:spcAft>
                <a:spcPts val="300"/>
              </a:spcAft>
              <a:buFont typeface="+mj-lt"/>
              <a:buChar char="•"/>
            </a:pPr>
            <a:r>
              <a:rPr lang="en-US" sz="1250">
                <a:solidFill>
                  <a:srgbClr val="14213D"/>
                </a:solidFill>
                <a:latin typeface="Calibri" panose="020F0502020204030204" pitchFamily="34" charset="0"/>
              </a:rPr>
              <a:t>Support: next business day</a:t>
            </a:r>
          </a:p>
          <a:p>
            <a:pPr marL="177800" indent="-177800">
              <a:spcAft>
                <a:spcPts val="300"/>
              </a:spcAft>
              <a:buFont typeface="+mj-lt"/>
              <a:buChar char="•"/>
            </a:pPr>
            <a:r>
              <a:rPr lang="en-US" sz="1250">
                <a:solidFill>
                  <a:srgbClr val="14213D"/>
                </a:solidFill>
                <a:latin typeface="Calibri" panose="020F0502020204030204" pitchFamily="34" charset="0"/>
              </a:rPr>
              <a:t>3-month minimum from Acceptance</a:t>
            </a:r>
            <a:endParaRPr lang="en-AU" sz="1250">
              <a:solidFill>
                <a:srgbClr val="14213D"/>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2388CC3D-A47C-F3AC-AE23-B986D57CB6EF}"/>
              </a:ext>
            </a:extLst>
          </p:cNvPr>
          <p:cNvSpPr/>
          <p:nvPr/>
        </p:nvSpPr>
        <p:spPr>
          <a:xfrm>
            <a:off x="4318000" y="1498600"/>
            <a:ext cx="3454400" cy="3962400"/>
          </a:xfrm>
          <a:prstGeom prst="roundRect">
            <a:avLst>
              <a:gd name="adj" fmla="val 8000"/>
            </a:avLst>
          </a:prstGeom>
          <a:solidFill>
            <a:srgbClr val="1421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23B5FCB0-0436-2486-61B0-994CC976FFCF}"/>
              </a:ext>
            </a:extLst>
          </p:cNvPr>
          <p:cNvSpPr txBox="1"/>
          <p:nvPr/>
        </p:nvSpPr>
        <p:spPr>
          <a:xfrm>
            <a:off x="4572000" y="1651000"/>
            <a:ext cx="2946400" cy="369332"/>
          </a:xfrm>
          <a:prstGeom prst="rect">
            <a:avLst/>
          </a:prstGeom>
          <a:noFill/>
        </p:spPr>
        <p:txBody>
          <a:bodyPr vert="horz" wrap="square" lIns="0" tIns="0" rIns="0" bIns="0" rtlCol="0">
            <a:noAutofit/>
          </a:bodyPr>
          <a:lstStyle/>
          <a:p>
            <a:pPr>
              <a:spcAft>
                <a:spcPts val="400"/>
              </a:spcAft>
            </a:pPr>
            <a:r>
              <a:rPr lang="en-AU" sz="1400" b="1">
                <a:solidFill>
                  <a:srgbClr val="5EEAD4"/>
                </a:solidFill>
                <a:latin typeface="Calibri" panose="020F0502020204030204" pitchFamily="34" charset="0"/>
              </a:rPr>
              <a:t>PROFESSIONAL</a:t>
            </a:r>
          </a:p>
        </p:txBody>
      </p:sp>
      <p:sp>
        <p:nvSpPr>
          <p:cNvPr id="12" name="TextBox 11">
            <a:extLst>
              <a:ext uri="{FF2B5EF4-FFF2-40B4-BE49-F238E27FC236}">
                <a16:creationId xmlns:a16="http://schemas.microsoft.com/office/drawing/2014/main" id="{72DE417D-9BC7-DB49-B98B-4A3955DB68AC}"/>
              </a:ext>
            </a:extLst>
          </p:cNvPr>
          <p:cNvSpPr txBox="1"/>
          <p:nvPr/>
        </p:nvSpPr>
        <p:spPr>
          <a:xfrm>
            <a:off x="4572000" y="1981200"/>
            <a:ext cx="2946400" cy="369332"/>
          </a:xfrm>
          <a:prstGeom prst="rect">
            <a:avLst/>
          </a:prstGeom>
          <a:noFill/>
        </p:spPr>
        <p:txBody>
          <a:bodyPr vert="horz" wrap="square" lIns="0" tIns="0" rIns="0" bIns="0" rtlCol="0">
            <a:noAutofit/>
          </a:bodyPr>
          <a:lstStyle/>
          <a:p>
            <a:pPr>
              <a:spcAft>
                <a:spcPts val="400"/>
              </a:spcAft>
            </a:pPr>
            <a:r>
              <a:rPr lang="en-AU" sz="3800">
                <a:solidFill>
                  <a:srgbClr val="FFFFFF"/>
                </a:solidFill>
                <a:latin typeface="Cambria" panose="02040503050406030204" pitchFamily="18" charset="0"/>
              </a:rPr>
              <a:t>A$1,099</a:t>
            </a:r>
          </a:p>
        </p:txBody>
      </p:sp>
      <p:sp>
        <p:nvSpPr>
          <p:cNvPr id="13" name="TextBox 12">
            <a:extLst>
              <a:ext uri="{FF2B5EF4-FFF2-40B4-BE49-F238E27FC236}">
                <a16:creationId xmlns:a16="http://schemas.microsoft.com/office/drawing/2014/main" id="{09027E6B-144E-8AF3-2217-80123D39BBF5}"/>
              </a:ext>
            </a:extLst>
          </p:cNvPr>
          <p:cNvSpPr txBox="1"/>
          <p:nvPr/>
        </p:nvSpPr>
        <p:spPr>
          <a:xfrm>
            <a:off x="4572000" y="2616200"/>
            <a:ext cx="2946400" cy="369332"/>
          </a:xfrm>
          <a:prstGeom prst="rect">
            <a:avLst/>
          </a:prstGeom>
          <a:noFill/>
        </p:spPr>
        <p:txBody>
          <a:bodyPr vert="horz" wrap="square" lIns="0" tIns="0" rIns="0" bIns="0" rtlCol="0">
            <a:noAutofit/>
          </a:bodyPr>
          <a:lstStyle/>
          <a:p>
            <a:pPr>
              <a:spcAft>
                <a:spcPts val="400"/>
              </a:spcAft>
            </a:pPr>
            <a:r>
              <a:rPr lang="en-AU" sz="1200">
                <a:solidFill>
                  <a:srgbClr val="CBD5E1"/>
                </a:solidFill>
                <a:latin typeface="Calibri" panose="020F0502020204030204" pitchFamily="34" charset="0"/>
              </a:rPr>
              <a:t>per month + 10% GST</a:t>
            </a:r>
          </a:p>
        </p:txBody>
      </p:sp>
      <p:sp>
        <p:nvSpPr>
          <p:cNvPr id="14" name="TextBox 13">
            <a:extLst>
              <a:ext uri="{FF2B5EF4-FFF2-40B4-BE49-F238E27FC236}">
                <a16:creationId xmlns:a16="http://schemas.microsoft.com/office/drawing/2014/main" id="{D7B828EE-BF77-EFCC-1ABB-6546D3A2B1F2}"/>
              </a:ext>
            </a:extLst>
          </p:cNvPr>
          <p:cNvSpPr txBox="1"/>
          <p:nvPr/>
        </p:nvSpPr>
        <p:spPr>
          <a:xfrm>
            <a:off x="4572000" y="2971800"/>
            <a:ext cx="2946400" cy="369332"/>
          </a:xfrm>
          <a:prstGeom prst="rect">
            <a:avLst/>
          </a:prstGeom>
          <a:noFill/>
        </p:spPr>
        <p:txBody>
          <a:bodyPr vert="horz" wrap="square" lIns="0" tIns="0" rIns="0" bIns="0" rtlCol="0">
            <a:noAutofit/>
          </a:bodyPr>
          <a:lstStyle/>
          <a:p>
            <a:pPr marL="177800" indent="-177800">
              <a:spcAft>
                <a:spcPts val="300"/>
              </a:spcAft>
              <a:buFont typeface="+mj-lt"/>
              <a:buChar char="•"/>
            </a:pPr>
            <a:r>
              <a:rPr lang="en-US" sz="1250">
                <a:solidFill>
                  <a:srgbClr val="FFFFFF"/>
                </a:solidFill>
                <a:latin typeface="Calibri" panose="020F0502020204030204" pitchFamily="34" charset="0"/>
              </a:rPr>
              <a:t>1,000 minutes included</a:t>
            </a:r>
          </a:p>
          <a:p>
            <a:pPr marL="177800" indent="-177800">
              <a:spcAft>
                <a:spcPts val="300"/>
              </a:spcAft>
              <a:buFont typeface="+mj-lt"/>
              <a:buChar char="•"/>
            </a:pPr>
            <a:r>
              <a:rPr lang="en-US" sz="1250">
                <a:solidFill>
                  <a:srgbClr val="FFFFFF"/>
                </a:solidFill>
                <a:latin typeface="Calibri" panose="020F0502020204030204" pitchFamily="34" charset="0"/>
              </a:rPr>
              <a:t>A$0.75 per extra minute</a:t>
            </a:r>
          </a:p>
          <a:p>
            <a:pPr marL="177800" indent="-177800">
              <a:spcAft>
                <a:spcPts val="300"/>
              </a:spcAft>
              <a:buFont typeface="+mj-lt"/>
              <a:buChar char="•"/>
            </a:pPr>
            <a:r>
              <a:rPr lang="en-US" sz="1250">
                <a:solidFill>
                  <a:srgbClr val="FFFFFF"/>
                </a:solidFill>
                <a:latin typeface="Calibri" panose="020F0502020204030204" pitchFamily="34" charset="0"/>
              </a:rPr>
              <a:t>Up to 3 calendars, 1 location</a:t>
            </a:r>
          </a:p>
          <a:p>
            <a:pPr marL="177800" indent="-177800">
              <a:spcAft>
                <a:spcPts val="300"/>
              </a:spcAft>
              <a:buFont typeface="+mj-lt"/>
              <a:buChar char="•"/>
            </a:pPr>
            <a:r>
              <a:rPr lang="en-US" sz="1250">
                <a:solidFill>
                  <a:srgbClr val="FFFFFF"/>
                </a:solidFill>
                <a:latin typeface="Calibri" panose="020F0502020204030204" pitchFamily="34" charset="0"/>
              </a:rPr>
              <a:t>Cover: after hours, overflow, all calls</a:t>
            </a:r>
          </a:p>
          <a:p>
            <a:pPr marL="177800" indent="-177800">
              <a:spcAft>
                <a:spcPts val="300"/>
              </a:spcAft>
              <a:buFont typeface="+mj-lt"/>
              <a:buChar char="•"/>
            </a:pPr>
            <a:r>
              <a:rPr lang="en-US" sz="1250">
                <a:solidFill>
                  <a:srgbClr val="FFFFFF"/>
                </a:solidFill>
                <a:latin typeface="Calibri" panose="020F0502020204030204" pitchFamily="34" charset="0"/>
              </a:rPr>
              <a:t>SMS confirmations + reminders*</a:t>
            </a:r>
          </a:p>
          <a:p>
            <a:pPr marL="177800" indent="-177800">
              <a:spcAft>
                <a:spcPts val="300"/>
              </a:spcAft>
              <a:buFont typeface="+mj-lt"/>
              <a:buChar char="•"/>
            </a:pPr>
            <a:r>
              <a:rPr lang="en-US" sz="1250">
                <a:solidFill>
                  <a:srgbClr val="FFFFFF"/>
                </a:solidFill>
                <a:latin typeface="Calibri" panose="020F0502020204030204" pitchFamily="34" charset="0"/>
              </a:rPr>
              <a:t>Weekly proof report*</a:t>
            </a:r>
          </a:p>
          <a:p>
            <a:pPr marL="177800" indent="-177800">
              <a:spcAft>
                <a:spcPts val="300"/>
              </a:spcAft>
              <a:buFont typeface="+mj-lt"/>
              <a:buChar char="•"/>
            </a:pPr>
            <a:r>
              <a:rPr lang="en-US" sz="1250">
                <a:solidFill>
                  <a:srgbClr val="FFFFFF"/>
                </a:solidFill>
                <a:latin typeface="Calibri" panose="020F0502020204030204" pitchFamily="34" charset="0"/>
              </a:rPr>
              <a:t>Support: same business day</a:t>
            </a:r>
          </a:p>
          <a:p>
            <a:pPr marL="177800" indent="-177800">
              <a:spcAft>
                <a:spcPts val="300"/>
              </a:spcAft>
              <a:buFont typeface="+mj-lt"/>
              <a:buChar char="•"/>
            </a:pPr>
            <a:r>
              <a:rPr lang="en-US" sz="1250">
                <a:solidFill>
                  <a:srgbClr val="FFFFFF"/>
                </a:solidFill>
                <a:latin typeface="Calibri" panose="020F0502020204030204" pitchFamily="34" charset="0"/>
              </a:rPr>
              <a:t>3-month minimum from Acceptance</a:t>
            </a:r>
            <a:endParaRPr lang="en-AU" sz="1250">
              <a:solidFill>
                <a:srgbClr val="FFFFFF"/>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04791236-9A88-0333-C686-A738F4833791}"/>
              </a:ext>
            </a:extLst>
          </p:cNvPr>
          <p:cNvSpPr/>
          <p:nvPr/>
        </p:nvSpPr>
        <p:spPr>
          <a:xfrm>
            <a:off x="8026400" y="1498600"/>
            <a:ext cx="3454400" cy="39624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B2A1C2D-2EE5-7D4E-7552-5AA6E6481724}"/>
              </a:ext>
            </a:extLst>
          </p:cNvPr>
          <p:cNvSpPr txBox="1"/>
          <p:nvPr/>
        </p:nvSpPr>
        <p:spPr>
          <a:xfrm>
            <a:off x="8280400" y="1651000"/>
            <a:ext cx="2946400" cy="369332"/>
          </a:xfrm>
          <a:prstGeom prst="rect">
            <a:avLst/>
          </a:prstGeom>
          <a:noFill/>
        </p:spPr>
        <p:txBody>
          <a:bodyPr vert="horz" wrap="square" lIns="0" tIns="0" rIns="0" bIns="0" rtlCol="0">
            <a:noAutofit/>
          </a:bodyPr>
          <a:lstStyle/>
          <a:p>
            <a:pPr>
              <a:spcAft>
                <a:spcPts val="400"/>
              </a:spcAft>
            </a:pPr>
            <a:r>
              <a:rPr lang="en-AU" sz="1400" b="1">
                <a:solidFill>
                  <a:srgbClr val="0F766E"/>
                </a:solidFill>
                <a:latin typeface="Calibri" panose="020F0502020204030204" pitchFamily="34" charset="0"/>
              </a:rPr>
              <a:t>PREMIUM</a:t>
            </a:r>
          </a:p>
        </p:txBody>
      </p:sp>
      <p:sp>
        <p:nvSpPr>
          <p:cNvPr id="17" name="TextBox 16">
            <a:extLst>
              <a:ext uri="{FF2B5EF4-FFF2-40B4-BE49-F238E27FC236}">
                <a16:creationId xmlns:a16="http://schemas.microsoft.com/office/drawing/2014/main" id="{9B20B026-3BFB-2F69-888B-9C2183A9B6F7}"/>
              </a:ext>
            </a:extLst>
          </p:cNvPr>
          <p:cNvSpPr txBox="1"/>
          <p:nvPr/>
        </p:nvSpPr>
        <p:spPr>
          <a:xfrm>
            <a:off x="8280400" y="1981200"/>
            <a:ext cx="2946400" cy="369332"/>
          </a:xfrm>
          <a:prstGeom prst="rect">
            <a:avLst/>
          </a:prstGeom>
          <a:noFill/>
        </p:spPr>
        <p:txBody>
          <a:bodyPr vert="horz" wrap="square" lIns="0" tIns="0" rIns="0" bIns="0" rtlCol="0">
            <a:noAutofit/>
          </a:bodyPr>
          <a:lstStyle/>
          <a:p>
            <a:pPr>
              <a:spcAft>
                <a:spcPts val="400"/>
              </a:spcAft>
            </a:pPr>
            <a:r>
              <a:rPr lang="en-AU" sz="3800">
                <a:solidFill>
                  <a:srgbClr val="14213D"/>
                </a:solidFill>
                <a:latin typeface="Cambria" panose="02040503050406030204" pitchFamily="18" charset="0"/>
              </a:rPr>
              <a:t>A$1,999</a:t>
            </a:r>
          </a:p>
        </p:txBody>
      </p:sp>
      <p:sp>
        <p:nvSpPr>
          <p:cNvPr id="18" name="TextBox 17">
            <a:extLst>
              <a:ext uri="{FF2B5EF4-FFF2-40B4-BE49-F238E27FC236}">
                <a16:creationId xmlns:a16="http://schemas.microsoft.com/office/drawing/2014/main" id="{4FEDB964-12ED-05DA-28BA-BAFE3499FC64}"/>
              </a:ext>
            </a:extLst>
          </p:cNvPr>
          <p:cNvSpPr txBox="1"/>
          <p:nvPr/>
        </p:nvSpPr>
        <p:spPr>
          <a:xfrm>
            <a:off x="8280400" y="2616200"/>
            <a:ext cx="2946400" cy="369332"/>
          </a:xfrm>
          <a:prstGeom prst="rect">
            <a:avLst/>
          </a:prstGeom>
          <a:noFill/>
        </p:spPr>
        <p:txBody>
          <a:bodyPr vert="horz" wrap="square" lIns="0" tIns="0" rIns="0" bIns="0" rtlCol="0">
            <a:noAutofit/>
          </a:bodyPr>
          <a:lstStyle/>
          <a:p>
            <a:pPr>
              <a:spcAft>
                <a:spcPts val="400"/>
              </a:spcAft>
            </a:pPr>
            <a:r>
              <a:rPr lang="en-AU" sz="1200">
                <a:solidFill>
                  <a:srgbClr val="475569"/>
                </a:solidFill>
                <a:latin typeface="Calibri" panose="020F0502020204030204" pitchFamily="34" charset="0"/>
              </a:rPr>
              <a:t>per month + 10% GST</a:t>
            </a:r>
          </a:p>
        </p:txBody>
      </p:sp>
      <p:sp>
        <p:nvSpPr>
          <p:cNvPr id="19" name="TextBox 18">
            <a:extLst>
              <a:ext uri="{FF2B5EF4-FFF2-40B4-BE49-F238E27FC236}">
                <a16:creationId xmlns:a16="http://schemas.microsoft.com/office/drawing/2014/main" id="{8A8A544A-8C46-AB47-3FE3-9BA3451E5EE0}"/>
              </a:ext>
            </a:extLst>
          </p:cNvPr>
          <p:cNvSpPr txBox="1"/>
          <p:nvPr/>
        </p:nvSpPr>
        <p:spPr>
          <a:xfrm>
            <a:off x="8280400" y="2971800"/>
            <a:ext cx="2946400" cy="369332"/>
          </a:xfrm>
          <a:prstGeom prst="rect">
            <a:avLst/>
          </a:prstGeom>
          <a:noFill/>
        </p:spPr>
        <p:txBody>
          <a:bodyPr vert="horz" wrap="square" lIns="0" tIns="0" rIns="0" bIns="0" rtlCol="0">
            <a:noAutofit/>
          </a:bodyPr>
          <a:lstStyle/>
          <a:p>
            <a:pPr marL="177800" indent="-177800">
              <a:spcAft>
                <a:spcPts val="300"/>
              </a:spcAft>
              <a:buFont typeface="+mj-lt"/>
              <a:buChar char="•"/>
            </a:pPr>
            <a:r>
              <a:rPr lang="en-US" sz="1250">
                <a:solidFill>
                  <a:srgbClr val="14213D"/>
                </a:solidFill>
                <a:latin typeface="Calibri" panose="020F0502020204030204" pitchFamily="34" charset="0"/>
              </a:rPr>
              <a:t>1,800 minutes included</a:t>
            </a:r>
          </a:p>
          <a:p>
            <a:pPr marL="177800" indent="-177800">
              <a:spcAft>
                <a:spcPts val="300"/>
              </a:spcAft>
              <a:buFont typeface="+mj-lt"/>
              <a:buChar char="•"/>
            </a:pPr>
            <a:r>
              <a:rPr lang="en-US" sz="1250">
                <a:solidFill>
                  <a:srgbClr val="14213D"/>
                </a:solidFill>
                <a:latin typeface="Calibri" panose="020F0502020204030204" pitchFamily="34" charset="0"/>
              </a:rPr>
              <a:t>A$0.70 per extra minute</a:t>
            </a:r>
          </a:p>
          <a:p>
            <a:pPr marL="177800" indent="-177800">
              <a:spcAft>
                <a:spcPts val="300"/>
              </a:spcAft>
              <a:buFont typeface="+mj-lt"/>
              <a:buChar char="•"/>
            </a:pPr>
            <a:r>
              <a:rPr lang="en-US" sz="1250">
                <a:solidFill>
                  <a:srgbClr val="14213D"/>
                </a:solidFill>
                <a:latin typeface="Calibri" panose="020F0502020204030204" pitchFamily="34" charset="0"/>
              </a:rPr>
              <a:t>Up to 10 calendars, 3 locations</a:t>
            </a:r>
          </a:p>
          <a:p>
            <a:pPr marL="177800" indent="-177800">
              <a:spcAft>
                <a:spcPts val="300"/>
              </a:spcAft>
              <a:buFont typeface="+mj-lt"/>
              <a:buChar char="•"/>
            </a:pPr>
            <a:r>
              <a:rPr lang="en-US" sz="1250">
                <a:solidFill>
                  <a:srgbClr val="14213D"/>
                </a:solidFill>
                <a:latin typeface="Calibri" panose="020F0502020204030204" pitchFamily="34" charset="0"/>
              </a:rPr>
              <a:t>Cover: after hours, overflow, all calls</a:t>
            </a:r>
          </a:p>
          <a:p>
            <a:pPr marL="177800" indent="-177800">
              <a:spcAft>
                <a:spcPts val="300"/>
              </a:spcAft>
              <a:buFont typeface="+mj-lt"/>
              <a:buChar char="•"/>
            </a:pPr>
            <a:r>
              <a:rPr lang="en-US" sz="1250">
                <a:solidFill>
                  <a:srgbClr val="14213D"/>
                </a:solidFill>
                <a:latin typeface="Calibri" panose="020F0502020204030204" pitchFamily="34" charset="0"/>
              </a:rPr>
              <a:t>SMS confirmations + reminders*</a:t>
            </a:r>
          </a:p>
          <a:p>
            <a:pPr marL="177800" indent="-177800">
              <a:spcAft>
                <a:spcPts val="300"/>
              </a:spcAft>
              <a:buFont typeface="+mj-lt"/>
              <a:buChar char="•"/>
            </a:pPr>
            <a:r>
              <a:rPr lang="en-US" sz="1250">
                <a:solidFill>
                  <a:srgbClr val="14213D"/>
                </a:solidFill>
                <a:latin typeface="Calibri" panose="020F0502020204030204" pitchFamily="34" charset="0"/>
              </a:rPr>
              <a:t>Weekly M&amp;U call review*</a:t>
            </a:r>
          </a:p>
          <a:p>
            <a:pPr marL="177800" indent="-177800">
              <a:spcAft>
                <a:spcPts val="300"/>
              </a:spcAft>
              <a:buFont typeface="+mj-lt"/>
              <a:buChar char="•"/>
            </a:pPr>
            <a:r>
              <a:rPr lang="en-US" sz="1250">
                <a:solidFill>
                  <a:srgbClr val="14213D"/>
                </a:solidFill>
                <a:latin typeface="Calibri" panose="020F0502020204030204" pitchFamily="34" charset="0"/>
              </a:rPr>
              <a:t>Support: within 2 business hours</a:t>
            </a:r>
          </a:p>
          <a:p>
            <a:pPr marL="177800" indent="-177800">
              <a:spcAft>
                <a:spcPts val="300"/>
              </a:spcAft>
              <a:buFont typeface="+mj-lt"/>
              <a:buChar char="•"/>
            </a:pPr>
            <a:r>
              <a:rPr lang="en-US" sz="1250">
                <a:solidFill>
                  <a:srgbClr val="14213D"/>
                </a:solidFill>
                <a:latin typeface="Calibri" panose="020F0502020204030204" pitchFamily="34" charset="0"/>
              </a:rPr>
              <a:t>6-month minimum from Acceptance</a:t>
            </a:r>
            <a:endParaRPr lang="en-AU" sz="1250">
              <a:solidFill>
                <a:srgbClr val="14213D"/>
              </a:solidFill>
              <a:latin typeface="Calibri" panose="020F0502020204030204" pitchFamily="34" charset="0"/>
            </a:endParaRPr>
          </a:p>
        </p:txBody>
      </p:sp>
      <p:sp>
        <p:nvSpPr>
          <p:cNvPr id="20" name="TextBox 19">
            <a:extLst>
              <a:ext uri="{FF2B5EF4-FFF2-40B4-BE49-F238E27FC236}">
                <a16:creationId xmlns:a16="http://schemas.microsoft.com/office/drawing/2014/main" id="{70D259FA-27D5-50C7-3731-2C04217700FA}"/>
              </a:ext>
            </a:extLst>
          </p:cNvPr>
          <p:cNvSpPr txBox="1"/>
          <p:nvPr/>
        </p:nvSpPr>
        <p:spPr>
          <a:xfrm>
            <a:off x="609600" y="5588000"/>
            <a:ext cx="10972800" cy="369332"/>
          </a:xfrm>
          <a:prstGeom prst="rect">
            <a:avLst/>
          </a:prstGeom>
          <a:noFill/>
        </p:spPr>
        <p:txBody>
          <a:bodyPr vert="horz" wrap="square" lIns="0" tIns="0" rIns="0" bIns="0" rtlCol="0">
            <a:noAutofit/>
          </a:bodyPr>
          <a:lstStyle/>
          <a:p>
            <a:pPr>
              <a:spcAft>
                <a:spcPts val="400"/>
              </a:spcAft>
            </a:pPr>
            <a:r>
              <a:rPr lang="en-US" sz="1100" i="1">
                <a:solidFill>
                  <a:srgbClr val="475569"/>
                </a:solidFill>
                <a:latin typeface="Calibri" panose="020F0502020204030204" pitchFamily="34" charset="0"/>
              </a:rPr>
              <a:t>*At go-live. Not in any package: live transfer, practice-software integration.</a:t>
            </a:r>
            <a:endParaRPr lang="en-AU" sz="1100" i="1">
              <a:solidFill>
                <a:srgbClr val="475569"/>
              </a:solidFill>
              <a:latin typeface="Calibri" panose="020F0502020204030204" pitchFamily="34" charset="0"/>
            </a:endParaRPr>
          </a:p>
        </p:txBody>
      </p:sp>
    </p:spTree>
    <p:extLst>
      <p:ext uri="{BB962C8B-B14F-4D97-AF65-F5344CB8AC3E}">
        <p14:creationId xmlns:p14="http://schemas.microsoft.com/office/powerpoint/2010/main" val="3453868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BC807E-1BF0-6D16-1B0F-5AAF56A9EA9D}"/>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9</a:t>
            </a:r>
          </a:p>
        </p:txBody>
      </p:sp>
      <p:sp>
        <p:nvSpPr>
          <p:cNvPr id="3" name="TextBox 2">
            <a:extLst>
              <a:ext uri="{FF2B5EF4-FFF2-40B4-BE49-F238E27FC236}">
                <a16:creationId xmlns:a16="http://schemas.microsoft.com/office/drawing/2014/main" id="{1B13284D-94B5-1235-9C6E-3BED7341CBA9}"/>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What you pay for, and how to judge it</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41E6AE04-34FB-2B02-72BE-8BE7830A2E03}"/>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Prices ex GST, + 10% GST. Value: an illustration with your numbers, not a forecast.</a:t>
            </a:r>
            <a:endParaRPr lang="en-AU" sz="1500">
              <a:solidFill>
                <a:srgbClr val="475569"/>
              </a:solidFill>
              <a:latin typeface="Calibri" panose="020F0502020204030204" pitchFamily="34" charset="0"/>
            </a:endParaRPr>
          </a:p>
        </p:txBody>
      </p:sp>
      <p:graphicFrame>
        <p:nvGraphicFramePr>
          <p:cNvPr id="5" name="Table 4">
            <a:extLst>
              <a:ext uri="{FF2B5EF4-FFF2-40B4-BE49-F238E27FC236}">
                <a16:creationId xmlns:a16="http://schemas.microsoft.com/office/drawing/2014/main" id="{E37C55B5-2B65-CB5C-1AAB-975A51774347}"/>
              </a:ext>
            </a:extLst>
          </p:cNvPr>
          <p:cNvGraphicFramePr>
            <a:graphicFrameLocks noGrp="1"/>
          </p:cNvGraphicFramePr>
          <p:nvPr>
            <p:extLst>
              <p:ext uri="{D42A27DB-BD31-4B8C-83A1-F6EECF244321}">
                <p14:modId xmlns:p14="http://schemas.microsoft.com/office/powerpoint/2010/main" val="3463947282"/>
              </p:ext>
            </p:extLst>
          </p:nvPr>
        </p:nvGraphicFramePr>
        <p:xfrm>
          <a:off x="609600" y="1498600"/>
          <a:ext cx="6604000" cy="1778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55277184"/>
                    </a:ext>
                  </a:extLst>
                </a:gridCol>
                <a:gridCol w="1524000">
                  <a:extLst>
                    <a:ext uri="{9D8B030D-6E8A-4147-A177-3AD203B41FA5}">
                      <a16:colId xmlns:a16="http://schemas.microsoft.com/office/drawing/2014/main" val="3460166167"/>
                    </a:ext>
                  </a:extLst>
                </a:gridCol>
                <a:gridCol w="1524000">
                  <a:extLst>
                    <a:ext uri="{9D8B030D-6E8A-4147-A177-3AD203B41FA5}">
                      <a16:colId xmlns:a16="http://schemas.microsoft.com/office/drawing/2014/main" val="4211533057"/>
                    </a:ext>
                  </a:extLst>
                </a:gridCol>
                <a:gridCol w="1524000">
                  <a:extLst>
                    <a:ext uri="{9D8B030D-6E8A-4147-A177-3AD203B41FA5}">
                      <a16:colId xmlns:a16="http://schemas.microsoft.com/office/drawing/2014/main" val="960210512"/>
                    </a:ext>
                  </a:extLst>
                </a:gridCol>
              </a:tblGrid>
              <a:tr h="355600">
                <a:tc>
                  <a:txBody>
                    <a:bodyPr/>
                    <a:lstStyle/>
                    <a:p>
                      <a:endParaRPr lang="en-AU" sz="1250" b="1">
                        <a:solidFill>
                          <a:srgbClr val="FFFFFF"/>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250" b="1">
                          <a:solidFill>
                            <a:srgbClr val="FFFFFF"/>
                          </a:solidFill>
                          <a:latin typeface="Calibri" panose="020F0502020204030204" pitchFamily="34" charset="0"/>
                        </a:rPr>
                        <a:t>Essential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250" b="1">
                          <a:solidFill>
                            <a:srgbClr val="FFFFFF"/>
                          </a:solidFill>
                          <a:latin typeface="Calibri" panose="020F0502020204030204" pitchFamily="34" charset="0"/>
                        </a:rPr>
                        <a:t>Professional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250" b="1">
                          <a:solidFill>
                            <a:srgbClr val="FFFFFF"/>
                          </a:solidFill>
                          <a:latin typeface="Calibri" panose="020F0502020204030204" pitchFamily="34" charset="0"/>
                        </a:rPr>
                        <a:t>Premium</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extLst>
                  <a:ext uri="{0D108BD9-81ED-4DB2-BD59-A6C34878D82A}">
                    <a16:rowId xmlns:a16="http://schemas.microsoft.com/office/drawing/2014/main" val="529382011"/>
                  </a:ext>
                </a:extLst>
              </a:tr>
              <a:tr h="355600">
                <a:tc>
                  <a:txBody>
                    <a:bodyPr/>
                    <a:lstStyle/>
                    <a:p>
                      <a:r>
                        <a:rPr lang="en-AU" sz="1250" b="1">
                          <a:solidFill>
                            <a:srgbClr val="14213D"/>
                          </a:solidFill>
                          <a:latin typeface="Calibri" panose="020F0502020204030204" pitchFamily="34" charset="0"/>
                        </a:rPr>
                        <a:t>Monthly, ex GST</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50" b="0">
                          <a:solidFill>
                            <a:srgbClr val="14213D"/>
                          </a:solidFill>
                          <a:latin typeface="Calibri" panose="020F0502020204030204" pitchFamily="34" charset="0"/>
                        </a:rPr>
                        <a:t>A$699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50" b="0">
                          <a:solidFill>
                            <a:srgbClr val="14213D"/>
                          </a:solidFill>
                          <a:latin typeface="Calibri" panose="020F0502020204030204" pitchFamily="34" charset="0"/>
                        </a:rPr>
                        <a:t>A$1,099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50" b="0">
                          <a:solidFill>
                            <a:srgbClr val="14213D"/>
                          </a:solidFill>
                          <a:latin typeface="Calibri" panose="020F0502020204030204" pitchFamily="34" charset="0"/>
                        </a:rPr>
                        <a:t>A$1,999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3291579702"/>
                  </a:ext>
                </a:extLst>
              </a:tr>
              <a:tr h="355600">
                <a:tc>
                  <a:txBody>
                    <a:bodyPr/>
                    <a:lstStyle/>
                    <a:p>
                      <a:r>
                        <a:rPr lang="en-AU" sz="1250" b="1">
                          <a:solidFill>
                            <a:srgbClr val="14213D"/>
                          </a:solidFill>
                          <a:latin typeface="Calibri" panose="020F0502020204030204" pitchFamily="34" charset="0"/>
                        </a:rPr>
                        <a:t>Included minutes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50" b="0">
                          <a:solidFill>
                            <a:srgbClr val="14213D"/>
                          </a:solidFill>
                          <a:latin typeface="Calibri" panose="020F0502020204030204" pitchFamily="34" charset="0"/>
                        </a:rPr>
                        <a:t>400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50" b="0">
                          <a:solidFill>
                            <a:srgbClr val="14213D"/>
                          </a:solidFill>
                          <a:latin typeface="Calibri" panose="020F0502020204030204" pitchFamily="34" charset="0"/>
                        </a:rPr>
                        <a:t>1,000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50" b="0">
                          <a:solidFill>
                            <a:srgbClr val="14213D"/>
                          </a:solidFill>
                          <a:latin typeface="Calibri" panose="020F0502020204030204" pitchFamily="34" charset="0"/>
                        </a:rPr>
                        <a:t>1,800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1360499038"/>
                  </a:ext>
                </a:extLst>
              </a:tr>
              <a:tr h="355600">
                <a:tc>
                  <a:txBody>
                    <a:bodyPr/>
                    <a:lstStyle/>
                    <a:p>
                      <a:r>
                        <a:rPr lang="en-AU" sz="1250" b="1">
                          <a:solidFill>
                            <a:srgbClr val="14213D"/>
                          </a:solidFill>
                          <a:latin typeface="Calibri" panose="020F0502020204030204" pitchFamily="34" charset="0"/>
                        </a:rPr>
                        <a:t>≈ calls of 2.5 min</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50" b="0">
                          <a:solidFill>
                            <a:srgbClr val="14213D"/>
                          </a:solidFill>
                          <a:latin typeface="Calibri" panose="020F0502020204030204" pitchFamily="34" charset="0"/>
                        </a:rPr>
                        <a:t>160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50" b="0">
                          <a:solidFill>
                            <a:srgbClr val="14213D"/>
                          </a:solidFill>
                          <a:latin typeface="Calibri" panose="020F0502020204030204" pitchFamily="34" charset="0"/>
                        </a:rPr>
                        <a:t>400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50" b="0">
                          <a:solidFill>
                            <a:srgbClr val="14213D"/>
                          </a:solidFill>
                          <a:latin typeface="Calibri" panose="020F0502020204030204" pitchFamily="34" charset="0"/>
                        </a:rPr>
                        <a:t>720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9750067"/>
                  </a:ext>
                </a:extLst>
              </a:tr>
              <a:tr h="355600">
                <a:tc>
                  <a:txBody>
                    <a:bodyPr/>
                    <a:lstStyle/>
                    <a:p>
                      <a:r>
                        <a:rPr lang="en-AU" sz="1250" b="1">
                          <a:solidFill>
                            <a:srgbClr val="14213D"/>
                          </a:solidFill>
                          <a:latin typeface="Calibri" panose="020F0502020204030204" pitchFamily="34" charset="0"/>
                        </a:rPr>
                        <a:t>Extra minute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50" b="0">
                          <a:solidFill>
                            <a:srgbClr val="14213D"/>
                          </a:solidFill>
                          <a:latin typeface="Calibri" panose="020F0502020204030204" pitchFamily="34" charset="0"/>
                        </a:rPr>
                        <a:t>A$0.80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50" b="0">
                          <a:solidFill>
                            <a:srgbClr val="14213D"/>
                          </a:solidFill>
                          <a:latin typeface="Calibri" panose="020F0502020204030204" pitchFamily="34" charset="0"/>
                        </a:rPr>
                        <a:t>A$0.75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50" b="0">
                          <a:solidFill>
                            <a:srgbClr val="14213D"/>
                          </a:solidFill>
                          <a:latin typeface="Calibri" panose="020F0502020204030204" pitchFamily="34" charset="0"/>
                        </a:rPr>
                        <a:t>A$0.70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2822273526"/>
                  </a:ext>
                </a:extLst>
              </a:tr>
            </a:tbl>
          </a:graphicData>
        </a:graphic>
      </p:graphicFrame>
      <p:sp>
        <p:nvSpPr>
          <p:cNvPr id="6" name="Rectangle: Rounded Corners 5">
            <a:extLst>
              <a:ext uri="{FF2B5EF4-FFF2-40B4-BE49-F238E27FC236}">
                <a16:creationId xmlns:a16="http://schemas.microsoft.com/office/drawing/2014/main" id="{554B266A-9A5E-11DE-1F60-E2675EDD331E}"/>
              </a:ext>
            </a:extLst>
          </p:cNvPr>
          <p:cNvSpPr/>
          <p:nvPr/>
        </p:nvSpPr>
        <p:spPr>
          <a:xfrm>
            <a:off x="609600" y="3810000"/>
            <a:ext cx="6604000" cy="1905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494FC5BE-C1F8-6473-9FF4-2F6555306F09}"/>
              </a:ext>
            </a:extLst>
          </p:cNvPr>
          <p:cNvSpPr txBox="1"/>
          <p:nvPr/>
        </p:nvSpPr>
        <p:spPr>
          <a:xfrm>
            <a:off x="812800" y="3937000"/>
            <a:ext cx="6197600" cy="369332"/>
          </a:xfrm>
          <a:prstGeom prst="rect">
            <a:avLst/>
          </a:prstGeom>
          <a:noFill/>
        </p:spPr>
        <p:txBody>
          <a:bodyPr vert="horz" wrap="square" lIns="0" tIns="0" rIns="0" bIns="0" rtlCol="0">
            <a:noAutofit/>
          </a:bodyPr>
          <a:lstStyle/>
          <a:p>
            <a:pPr>
              <a:spcAft>
                <a:spcPts val="400"/>
              </a:spcAft>
            </a:pPr>
            <a:r>
              <a:rPr lang="en-AU" sz="1400" b="1">
                <a:solidFill>
                  <a:srgbClr val="14213D"/>
                </a:solidFill>
                <a:latin typeface="Calibri" panose="020F0502020204030204" pitchFamily="34" charset="0"/>
              </a:rPr>
              <a:t>Invoice example: Professional, 1,200 billable minutes</a:t>
            </a:r>
          </a:p>
        </p:txBody>
      </p:sp>
      <p:sp>
        <p:nvSpPr>
          <p:cNvPr id="8" name="TextBox 7">
            <a:extLst>
              <a:ext uri="{FF2B5EF4-FFF2-40B4-BE49-F238E27FC236}">
                <a16:creationId xmlns:a16="http://schemas.microsoft.com/office/drawing/2014/main" id="{88C0A4C3-1A6A-8285-D177-FA1A53790089}"/>
              </a:ext>
            </a:extLst>
          </p:cNvPr>
          <p:cNvSpPr txBox="1"/>
          <p:nvPr/>
        </p:nvSpPr>
        <p:spPr>
          <a:xfrm>
            <a:off x="812800" y="4267200"/>
            <a:ext cx="6197600" cy="369332"/>
          </a:xfrm>
          <a:prstGeom prst="rect">
            <a:avLst/>
          </a:prstGeom>
          <a:noFill/>
        </p:spPr>
        <p:txBody>
          <a:bodyPr vert="horz" wrap="square" lIns="0" tIns="0" rIns="0" bIns="0" rtlCol="0">
            <a:noAutofit/>
          </a:bodyPr>
          <a:lstStyle/>
          <a:p>
            <a:pPr marL="177800" indent="-177800">
              <a:spcAft>
                <a:spcPts val="300"/>
              </a:spcAft>
              <a:buFont typeface="+mj-lt"/>
              <a:buChar char="•"/>
            </a:pPr>
            <a:r>
              <a:rPr lang="en-US" sz="1200">
                <a:solidFill>
                  <a:srgbClr val="14213D"/>
                </a:solidFill>
                <a:latin typeface="Calibri" panose="020F0502020204030204" pitchFamily="34" charset="0"/>
              </a:rPr>
              <a:t>A$1,099.00 + 200 × A$0.75 = A$1,249.00 ex GST</a:t>
            </a:r>
          </a:p>
          <a:p>
            <a:pPr marL="177800" indent="-177800">
              <a:spcAft>
                <a:spcPts val="300"/>
              </a:spcAft>
              <a:buFont typeface="+mj-lt"/>
              <a:buChar char="•"/>
            </a:pPr>
            <a:r>
              <a:rPr lang="en-US" sz="1200">
                <a:solidFill>
                  <a:srgbClr val="14213D"/>
                </a:solidFill>
                <a:latin typeface="Calibri" panose="020F0502020204030204" pitchFamily="34" charset="0"/>
              </a:rPr>
              <a:t>GST A$124.90 · total A$1,373.90 incl. GST</a:t>
            </a:r>
          </a:p>
          <a:p>
            <a:pPr marL="177800" indent="-177800">
              <a:spcAft>
                <a:spcPts val="300"/>
              </a:spcAft>
              <a:buFont typeface="+mj-lt"/>
              <a:buChar char="•"/>
            </a:pPr>
            <a:r>
              <a:rPr lang="en-US" sz="1200">
                <a:solidFill>
                  <a:srgbClr val="14213D"/>
                </a:solidFill>
                <a:latin typeface="Calibri" panose="020F0502020204030204" pitchFamily="34" charset="0"/>
              </a:rPr>
              <a:t>No setup line. Transfer minutes are not charged.</a:t>
            </a:r>
          </a:p>
          <a:p>
            <a:pPr marL="177800" indent="-177800">
              <a:spcAft>
                <a:spcPts val="300"/>
              </a:spcAft>
              <a:buFont typeface="+mj-lt"/>
              <a:buChar char="•"/>
            </a:pPr>
            <a:r>
              <a:rPr lang="en-US" sz="1200">
                <a:solidFill>
                  <a:srgbClr val="14213D"/>
                </a:solidFill>
                <a:latin typeface="Calibri" panose="020F0502020204030204" pitchFamily="34" charset="0"/>
              </a:rPr>
              <a:t>Counted per second, summed over the month, rounded up once. Calls under 5 seconds and our test calls don't count. No rollover.</a:t>
            </a:r>
            <a:endParaRPr lang="en-AU" sz="1200">
              <a:solidFill>
                <a:srgbClr val="14213D"/>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3327ABC7-C150-1BEC-6910-3816CEC18E6D}"/>
              </a:ext>
            </a:extLst>
          </p:cNvPr>
          <p:cNvSpPr/>
          <p:nvPr/>
        </p:nvSpPr>
        <p:spPr>
          <a:xfrm>
            <a:off x="7620000" y="1498600"/>
            <a:ext cx="3962400" cy="42164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B80EC63E-618A-A0A5-7203-97C1DFDA6FD8}"/>
              </a:ext>
            </a:extLst>
          </p:cNvPr>
          <p:cNvSpPr txBox="1"/>
          <p:nvPr/>
        </p:nvSpPr>
        <p:spPr>
          <a:xfrm>
            <a:off x="7823200" y="1663700"/>
            <a:ext cx="3556000" cy="369332"/>
          </a:xfrm>
          <a:prstGeom prst="rect">
            <a:avLst/>
          </a:prstGeom>
          <a:noFill/>
        </p:spPr>
        <p:txBody>
          <a:bodyPr vert="horz" wrap="square" lIns="0" tIns="0" rIns="0" bIns="0" rtlCol="0">
            <a:noAutofit/>
          </a:bodyPr>
          <a:lstStyle/>
          <a:p>
            <a:pPr>
              <a:spcAft>
                <a:spcPts val="400"/>
              </a:spcAft>
            </a:pPr>
            <a:r>
              <a:rPr lang="en-US" sz="1500" b="1">
                <a:solidFill>
                  <a:srgbClr val="14213D"/>
                </a:solidFill>
                <a:latin typeface="Calibri" panose="020F0502020204030204" pitchFamily="34" charset="0"/>
              </a:rPr>
              <a:t>Your break-even, on your numbers</a:t>
            </a:r>
            <a:endParaRPr lang="en-AU" sz="1500" b="1">
              <a:solidFill>
                <a:srgbClr val="14213D"/>
              </a:solidFill>
              <a:latin typeface="Calibri" panose="020F0502020204030204" pitchFamily="34" charset="0"/>
            </a:endParaRPr>
          </a:p>
        </p:txBody>
      </p:sp>
      <p:sp>
        <p:nvSpPr>
          <p:cNvPr id="11" name="TextBox 10">
            <a:extLst>
              <a:ext uri="{FF2B5EF4-FFF2-40B4-BE49-F238E27FC236}">
                <a16:creationId xmlns:a16="http://schemas.microsoft.com/office/drawing/2014/main" id="{4D63DD15-4E0D-36D1-7300-D12A3CED0865}"/>
              </a:ext>
            </a:extLst>
          </p:cNvPr>
          <p:cNvSpPr txBox="1"/>
          <p:nvPr/>
        </p:nvSpPr>
        <p:spPr>
          <a:xfrm>
            <a:off x="7823200" y="2044700"/>
            <a:ext cx="3556000" cy="369332"/>
          </a:xfrm>
          <a:prstGeom prst="rect">
            <a:avLst/>
          </a:prstGeom>
          <a:noFill/>
        </p:spPr>
        <p:txBody>
          <a:bodyPr vert="horz" wrap="square" lIns="0" tIns="0" rIns="0" bIns="0" rtlCol="0">
            <a:noAutofit/>
          </a:bodyPr>
          <a:lstStyle/>
          <a:p>
            <a:pPr marL="177800" indent="-177800">
              <a:spcAft>
                <a:spcPts val="600"/>
              </a:spcAft>
              <a:buFont typeface="+mj-lt"/>
              <a:buChar char="•"/>
            </a:pPr>
            <a:r>
              <a:rPr lang="en-US" sz="1250">
                <a:solidFill>
                  <a:srgbClr val="14213D"/>
                </a:solidFill>
                <a:latin typeface="Calibri" panose="020F0502020204030204" pitchFamily="34" charset="0"/>
              </a:rPr>
              <a:t>Extra first visits a month = calls a week it takes in your chosen cover × 4.33 × share wanting an appointment × share who'd book × share who'd otherwise not have booked</a:t>
            </a:r>
          </a:p>
          <a:p>
            <a:pPr marL="177800" indent="-177800">
              <a:spcAft>
                <a:spcPts val="600"/>
              </a:spcAft>
              <a:buFont typeface="+mj-lt"/>
              <a:buChar char="•"/>
            </a:pPr>
            <a:r>
              <a:rPr lang="en-US" sz="1250">
                <a:solidFill>
                  <a:srgbClr val="14213D"/>
                </a:solidFill>
                <a:latin typeface="Calibri" panose="020F0502020204030204" pitchFamily="34" charset="0"/>
              </a:rPr>
              <a:t>× your gross profit per first course of care</a:t>
            </a:r>
          </a:p>
          <a:p>
            <a:pPr marL="177800" indent="-177800">
              <a:spcAft>
                <a:spcPts val="600"/>
              </a:spcAft>
              <a:buFont typeface="+mj-lt"/>
              <a:buChar char="•"/>
            </a:pPr>
            <a:r>
              <a:rPr lang="en-US" sz="1250">
                <a:solidFill>
                  <a:srgbClr val="14213D"/>
                </a:solidFill>
                <a:latin typeface="Calibri" panose="020F0502020204030204" pitchFamily="34" charset="0"/>
              </a:rPr>
              <a:t>− the monthly fee</a:t>
            </a:r>
          </a:p>
          <a:p>
            <a:pPr marL="177800" indent="-177800">
              <a:spcAft>
                <a:spcPts val="600"/>
              </a:spcAft>
              <a:buFont typeface="+mj-lt"/>
              <a:buChar char="•"/>
            </a:pPr>
            <a:r>
              <a:rPr lang="en-US" sz="1250">
                <a:solidFill>
                  <a:srgbClr val="14213D"/>
                </a:solidFill>
                <a:latin typeface="Calibri" panose="020F0502020204030204" pitchFamily="34" charset="0"/>
              </a:rPr>
              <a:t>Always include the zero row: if nothing changes, you're down the monthly fee.</a:t>
            </a:r>
            <a:endParaRPr lang="en-AU" sz="1250">
              <a:solidFill>
                <a:srgbClr val="14213D"/>
              </a:solidFill>
              <a:latin typeface="Calibri" panose="020F0502020204030204" pitchFamily="34" charset="0"/>
            </a:endParaRPr>
          </a:p>
        </p:txBody>
      </p:sp>
    </p:spTree>
    <p:extLst>
      <p:ext uri="{BB962C8B-B14F-4D97-AF65-F5344CB8AC3E}">
        <p14:creationId xmlns:p14="http://schemas.microsoft.com/office/powerpoint/2010/main" val="1708256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E0DB5A-747B-482A-3EBA-A0289BA6F917}"/>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94A3B8"/>
                </a:solidFill>
                <a:latin typeface="Calibri" panose="020F0502020204030204" pitchFamily="34" charset="0"/>
              </a:rPr>
              <a:t>M&amp;U Ventures · 10</a:t>
            </a:r>
          </a:p>
        </p:txBody>
      </p:sp>
      <p:sp>
        <p:nvSpPr>
          <p:cNvPr id="3" name="TextBox 2">
            <a:extLst>
              <a:ext uri="{FF2B5EF4-FFF2-40B4-BE49-F238E27FC236}">
                <a16:creationId xmlns:a16="http://schemas.microsoft.com/office/drawing/2014/main" id="{A54AF5B5-0C41-E4D4-2A69-0E5DFE9EE708}"/>
              </a:ext>
            </a:extLst>
          </p:cNvPr>
          <p:cNvSpPr txBox="1"/>
          <p:nvPr/>
        </p:nvSpPr>
        <p:spPr>
          <a:xfrm>
            <a:off x="609600" y="889000"/>
            <a:ext cx="10160000" cy="381000"/>
          </a:xfrm>
          <a:prstGeom prst="rect">
            <a:avLst/>
          </a:prstGeom>
          <a:noFill/>
        </p:spPr>
        <p:txBody>
          <a:bodyPr vert="horz" wrap="square" lIns="0" tIns="0" rIns="0" bIns="0" rtlCol="0">
            <a:noAutofit/>
          </a:bodyPr>
          <a:lstStyle/>
          <a:p>
            <a:pPr>
              <a:spcAft>
                <a:spcPts val="400"/>
              </a:spcAft>
            </a:pPr>
            <a:r>
              <a:rPr lang="en-AU" sz="1400" b="1">
                <a:solidFill>
                  <a:srgbClr val="5EEAD4"/>
                </a:solidFill>
                <a:latin typeface="Calibri" panose="020F0502020204030204" pitchFamily="34" charset="0"/>
              </a:rPr>
              <a:t>HOW YOU START</a:t>
            </a:r>
          </a:p>
        </p:txBody>
      </p:sp>
      <p:sp>
        <p:nvSpPr>
          <p:cNvPr id="4" name="TextBox 3">
            <a:extLst>
              <a:ext uri="{FF2B5EF4-FFF2-40B4-BE49-F238E27FC236}">
                <a16:creationId xmlns:a16="http://schemas.microsoft.com/office/drawing/2014/main" id="{3780D380-F0BC-BA18-8AB5-6B6CEB04597B}"/>
              </a:ext>
            </a:extLst>
          </p:cNvPr>
          <p:cNvSpPr txBox="1"/>
          <p:nvPr/>
        </p:nvSpPr>
        <p:spPr>
          <a:xfrm>
            <a:off x="609600" y="1333500"/>
            <a:ext cx="10922000" cy="369332"/>
          </a:xfrm>
          <a:prstGeom prst="rect">
            <a:avLst/>
          </a:prstGeom>
          <a:noFill/>
        </p:spPr>
        <p:txBody>
          <a:bodyPr vert="horz" wrap="square" lIns="0" tIns="0" rIns="0" bIns="0" rtlCol="0">
            <a:noAutofit/>
          </a:bodyPr>
          <a:lstStyle/>
          <a:p>
            <a:pPr>
              <a:spcAft>
                <a:spcPts val="400"/>
              </a:spcAft>
            </a:pPr>
            <a:r>
              <a:rPr lang="en-US" sz="3200">
                <a:solidFill>
                  <a:srgbClr val="FFFFFF"/>
                </a:solidFill>
                <a:latin typeface="Cambria" panose="02040503050406030204" pitchFamily="18" charset="0"/>
              </a:rPr>
              <a:t>Each business's booking, routing and texts are set up and tested before they go live.</a:t>
            </a:r>
            <a:endParaRPr lang="en-AU" sz="3200">
              <a:solidFill>
                <a:srgbClr val="FFFFFF"/>
              </a:solidFill>
              <a:latin typeface="Cambria" panose="02040503050406030204" pitchFamily="18" charset="0"/>
            </a:endParaRPr>
          </a:p>
        </p:txBody>
      </p:sp>
      <p:sp>
        <p:nvSpPr>
          <p:cNvPr id="5" name="TextBox 4">
            <a:extLst>
              <a:ext uri="{FF2B5EF4-FFF2-40B4-BE49-F238E27FC236}">
                <a16:creationId xmlns:a16="http://schemas.microsoft.com/office/drawing/2014/main" id="{D2D8C33B-99C2-1682-B332-6AA50C2163A5}"/>
              </a:ext>
            </a:extLst>
          </p:cNvPr>
          <p:cNvSpPr txBox="1"/>
          <p:nvPr/>
        </p:nvSpPr>
        <p:spPr>
          <a:xfrm>
            <a:off x="609600" y="2984500"/>
            <a:ext cx="10922000" cy="369332"/>
          </a:xfrm>
          <a:prstGeom prst="rect">
            <a:avLst/>
          </a:prstGeom>
          <a:noFill/>
        </p:spPr>
        <p:txBody>
          <a:bodyPr vert="horz" wrap="square" lIns="0" tIns="0" rIns="0" bIns="0" rtlCol="0">
            <a:noAutofit/>
          </a:bodyPr>
          <a:lstStyle/>
          <a:p>
            <a:pPr marL="177800" indent="-177800">
              <a:spcAft>
                <a:spcPts val="800"/>
              </a:spcAft>
              <a:buFont typeface="+mj-lt"/>
              <a:buChar char="•"/>
            </a:pPr>
            <a:r>
              <a:rPr lang="en-US" sz="1600">
                <a:solidFill>
                  <a:srgbClr val="E2E8F0"/>
                </a:solidFill>
                <a:latin typeface="Calibri" panose="020F0502020204030204" pitchFamily="34" charset="0"/>
              </a:rPr>
              <a:t>Cover set for your practice: after hours, overflow, or all calls alongside your team (Professional and Premium).</a:t>
            </a:r>
          </a:p>
          <a:p>
            <a:pPr marL="177800" indent="-177800">
              <a:spcAft>
                <a:spcPts val="800"/>
              </a:spcAft>
              <a:buFont typeface="+mj-lt"/>
              <a:buChar char="•"/>
            </a:pPr>
            <a:r>
              <a:rPr lang="en-US" sz="1600">
                <a:solidFill>
                  <a:srgbClr val="E2E8F0"/>
                </a:solidFill>
                <a:latin typeface="Calibri" panose="020F0502020204030204" pitchFamily="34" charset="0"/>
              </a:rPr>
              <a:t>Direct booking depends on your system: we confirm compatibility during setup, or agree a booking-request / lead workflow.</a:t>
            </a:r>
          </a:p>
          <a:p>
            <a:pPr marL="177800" indent="-177800">
              <a:spcAft>
                <a:spcPts val="800"/>
              </a:spcAft>
              <a:buFont typeface="+mj-lt"/>
              <a:buChar char="•"/>
            </a:pPr>
            <a:r>
              <a:rPr lang="en-US" sz="1600">
                <a:solidFill>
                  <a:srgbClr val="E2E8F0"/>
                </a:solidFill>
                <a:latin typeface="Calibri" panose="020F0502020204030204" pitchFamily="34" charset="0"/>
              </a:rPr>
              <a:t>Five test calls with you, then Acceptance. Monthly billing and the minimum term start at Acceptance.</a:t>
            </a:r>
          </a:p>
          <a:p>
            <a:pPr marL="177800" indent="-177800">
              <a:spcAft>
                <a:spcPts val="800"/>
              </a:spcAft>
              <a:buFont typeface="+mj-lt"/>
              <a:buChar char="•"/>
            </a:pPr>
            <a:r>
              <a:rPr lang="en-US" sz="1600">
                <a:solidFill>
                  <a:srgbClr val="E2E8F0"/>
                </a:solidFill>
                <a:latin typeface="Calibri" panose="020F0502020204030204" pitchFamily="34" charset="0"/>
              </a:rPr>
              <a:t>Your number never changes. Switch call forwarding off any time and your phones work as they do today.</a:t>
            </a:r>
            <a:endParaRPr lang="en-AU" sz="1600">
              <a:solidFill>
                <a:srgbClr val="E2E8F0"/>
              </a:solidFill>
              <a:latin typeface="Calibri" panose="020F0502020204030204" pitchFamily="34" charset="0"/>
            </a:endParaRPr>
          </a:p>
        </p:txBody>
      </p:sp>
    </p:spTree>
    <p:extLst>
      <p:ext uri="{BB962C8B-B14F-4D97-AF65-F5344CB8AC3E}">
        <p14:creationId xmlns:p14="http://schemas.microsoft.com/office/powerpoint/2010/main" val="149057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CCB744-2DDF-DDB1-5535-1C4B3824160D}"/>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11</a:t>
            </a:r>
          </a:p>
        </p:txBody>
      </p:sp>
      <p:sp>
        <p:nvSpPr>
          <p:cNvPr id="3" name="TextBox 2">
            <a:extLst>
              <a:ext uri="{FF2B5EF4-FFF2-40B4-BE49-F238E27FC236}">
                <a16:creationId xmlns:a16="http://schemas.microsoft.com/office/drawing/2014/main" id="{A1B7ADCB-EE65-82A4-99E7-4F69A78877EC}"/>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From yes to your first booking</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49410B16-7078-773E-EE51-DCA2CFAF65B4}"/>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About a week, once we have your calendar access and answers.</a:t>
            </a:r>
            <a:endParaRPr lang="en-AU" sz="1500">
              <a:solidFill>
                <a:srgbClr val="475569"/>
              </a:solidFill>
              <a:latin typeface="Calibri" panose="020F0502020204030204" pitchFamily="34" charset="0"/>
            </a:endParaRPr>
          </a:p>
        </p:txBody>
      </p:sp>
      <p:sp>
        <p:nvSpPr>
          <p:cNvPr id="5" name="Rectangle 4">
            <a:extLst>
              <a:ext uri="{FF2B5EF4-FFF2-40B4-BE49-F238E27FC236}">
                <a16:creationId xmlns:a16="http://schemas.microsoft.com/office/drawing/2014/main" id="{783C6B98-69A6-901E-6805-1C985E0A0BE5}"/>
              </a:ext>
            </a:extLst>
          </p:cNvPr>
          <p:cNvSpPr/>
          <p:nvPr/>
        </p:nvSpPr>
        <p:spPr>
          <a:xfrm>
            <a:off x="609600" y="2971800"/>
            <a:ext cx="10972800" cy="5080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B8D47612-E17A-ED20-BC3F-20F00B6009FF}"/>
              </a:ext>
            </a:extLst>
          </p:cNvPr>
          <p:cNvSpPr/>
          <p:nvPr/>
        </p:nvSpPr>
        <p:spPr>
          <a:xfrm>
            <a:off x="1244600" y="27432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5585B828-F0E5-2071-D08C-89FBA441912C}"/>
              </a:ext>
            </a:extLst>
          </p:cNvPr>
          <p:cNvSpPr txBox="1"/>
          <p:nvPr/>
        </p:nvSpPr>
        <p:spPr>
          <a:xfrm>
            <a:off x="609600" y="2159000"/>
            <a:ext cx="1778000" cy="369332"/>
          </a:xfrm>
          <a:prstGeom prst="rect">
            <a:avLst/>
          </a:prstGeom>
          <a:noFill/>
        </p:spPr>
        <p:txBody>
          <a:bodyPr vert="horz" wrap="square" lIns="0" tIns="0" rIns="0" bIns="0" rtlCol="0">
            <a:noAutofit/>
          </a:bodyPr>
          <a:lstStyle/>
          <a:p>
            <a:pPr algn="ctr">
              <a:spcAft>
                <a:spcPts val="400"/>
              </a:spcAft>
            </a:pPr>
            <a:r>
              <a:rPr lang="en-AU" sz="1200" b="1">
                <a:solidFill>
                  <a:srgbClr val="475569"/>
                </a:solidFill>
                <a:latin typeface="Calibri" panose="020F0502020204030204" pitchFamily="34" charset="0"/>
              </a:rPr>
              <a:t>Day 1</a:t>
            </a:r>
          </a:p>
        </p:txBody>
      </p:sp>
      <p:sp>
        <p:nvSpPr>
          <p:cNvPr id="8" name="TextBox 7">
            <a:extLst>
              <a:ext uri="{FF2B5EF4-FFF2-40B4-BE49-F238E27FC236}">
                <a16:creationId xmlns:a16="http://schemas.microsoft.com/office/drawing/2014/main" id="{06AA265D-1D11-C778-F66B-56A3A8BD7960}"/>
              </a:ext>
            </a:extLst>
          </p:cNvPr>
          <p:cNvSpPr txBox="1"/>
          <p:nvPr/>
        </p:nvSpPr>
        <p:spPr>
          <a:xfrm>
            <a:off x="609600" y="3429000"/>
            <a:ext cx="1778000" cy="369332"/>
          </a:xfrm>
          <a:prstGeom prst="rect">
            <a:avLst/>
          </a:prstGeom>
          <a:noFill/>
        </p:spPr>
        <p:txBody>
          <a:bodyPr vert="horz" wrap="square" lIns="0" tIns="0" rIns="0" bIns="0" rtlCol="0">
            <a:noAutofit/>
          </a:bodyPr>
          <a:lstStyle/>
          <a:p>
            <a:pPr algn="ctr">
              <a:spcAft>
                <a:spcPts val="400"/>
              </a:spcAft>
            </a:pPr>
            <a:r>
              <a:rPr lang="en-AU" sz="1600" b="1">
                <a:solidFill>
                  <a:srgbClr val="14213D"/>
                </a:solidFill>
                <a:latin typeface="Calibri" panose="020F0502020204030204" pitchFamily="34" charset="0"/>
              </a:rPr>
              <a:t>Kickoff</a:t>
            </a:r>
          </a:p>
        </p:txBody>
      </p:sp>
      <p:sp>
        <p:nvSpPr>
          <p:cNvPr id="9" name="TextBox 8">
            <a:extLst>
              <a:ext uri="{FF2B5EF4-FFF2-40B4-BE49-F238E27FC236}">
                <a16:creationId xmlns:a16="http://schemas.microsoft.com/office/drawing/2014/main" id="{5D7A88B0-A11B-4FF9-6617-D98C223814B4}"/>
              </a:ext>
            </a:extLst>
          </p:cNvPr>
          <p:cNvSpPr txBox="1"/>
          <p:nvPr/>
        </p:nvSpPr>
        <p:spPr>
          <a:xfrm>
            <a:off x="660400" y="3810000"/>
            <a:ext cx="16764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Hours, services, what may be booked, urgent wording</a:t>
            </a:r>
            <a:endParaRPr lang="en-AU" sz="1250">
              <a:solidFill>
                <a:srgbClr val="475569"/>
              </a:solidFill>
              <a:latin typeface="Calibri" panose="020F0502020204030204" pitchFamily="34" charset="0"/>
            </a:endParaRPr>
          </a:p>
        </p:txBody>
      </p:sp>
      <p:sp>
        <p:nvSpPr>
          <p:cNvPr id="10" name="Oval 9">
            <a:extLst>
              <a:ext uri="{FF2B5EF4-FFF2-40B4-BE49-F238E27FC236}">
                <a16:creationId xmlns:a16="http://schemas.microsoft.com/office/drawing/2014/main" id="{75ABCA31-7999-E134-21CC-7A71533A37A3}"/>
              </a:ext>
            </a:extLst>
          </p:cNvPr>
          <p:cNvSpPr/>
          <p:nvPr/>
        </p:nvSpPr>
        <p:spPr>
          <a:xfrm>
            <a:off x="3098800" y="27432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9B7C0131-7EF2-AECF-D706-75AC875218EA}"/>
              </a:ext>
            </a:extLst>
          </p:cNvPr>
          <p:cNvSpPr txBox="1"/>
          <p:nvPr/>
        </p:nvSpPr>
        <p:spPr>
          <a:xfrm>
            <a:off x="2463800" y="2159000"/>
            <a:ext cx="1778000" cy="369332"/>
          </a:xfrm>
          <a:prstGeom prst="rect">
            <a:avLst/>
          </a:prstGeom>
          <a:noFill/>
        </p:spPr>
        <p:txBody>
          <a:bodyPr vert="horz" wrap="square" lIns="0" tIns="0" rIns="0" bIns="0" rtlCol="0">
            <a:noAutofit/>
          </a:bodyPr>
          <a:lstStyle/>
          <a:p>
            <a:pPr algn="ctr">
              <a:spcAft>
                <a:spcPts val="400"/>
              </a:spcAft>
            </a:pPr>
            <a:r>
              <a:rPr lang="en-AU" sz="1200" b="1">
                <a:solidFill>
                  <a:srgbClr val="475569"/>
                </a:solidFill>
                <a:latin typeface="Calibri" panose="020F0502020204030204" pitchFamily="34" charset="0"/>
              </a:rPr>
              <a:t>Days 1–3</a:t>
            </a:r>
          </a:p>
        </p:txBody>
      </p:sp>
      <p:sp>
        <p:nvSpPr>
          <p:cNvPr id="12" name="TextBox 11">
            <a:extLst>
              <a:ext uri="{FF2B5EF4-FFF2-40B4-BE49-F238E27FC236}">
                <a16:creationId xmlns:a16="http://schemas.microsoft.com/office/drawing/2014/main" id="{F94ED94C-E8DF-3680-BADB-BE9E2B6D07B3}"/>
              </a:ext>
            </a:extLst>
          </p:cNvPr>
          <p:cNvSpPr txBox="1"/>
          <p:nvPr/>
        </p:nvSpPr>
        <p:spPr>
          <a:xfrm>
            <a:off x="2463800" y="3429000"/>
            <a:ext cx="1778000" cy="369332"/>
          </a:xfrm>
          <a:prstGeom prst="rect">
            <a:avLst/>
          </a:prstGeom>
          <a:noFill/>
        </p:spPr>
        <p:txBody>
          <a:bodyPr vert="horz" wrap="square" lIns="0" tIns="0" rIns="0" bIns="0" rtlCol="0">
            <a:noAutofit/>
          </a:bodyPr>
          <a:lstStyle/>
          <a:p>
            <a:pPr algn="ctr">
              <a:spcAft>
                <a:spcPts val="400"/>
              </a:spcAft>
            </a:pPr>
            <a:r>
              <a:rPr lang="en-AU" sz="1600" b="1">
                <a:solidFill>
                  <a:srgbClr val="14213D"/>
                </a:solidFill>
                <a:latin typeface="Calibri" panose="020F0502020204030204" pitchFamily="34" charset="0"/>
              </a:rPr>
              <a:t>Access</a:t>
            </a:r>
          </a:p>
        </p:txBody>
      </p:sp>
      <p:sp>
        <p:nvSpPr>
          <p:cNvPr id="13" name="TextBox 12">
            <a:extLst>
              <a:ext uri="{FF2B5EF4-FFF2-40B4-BE49-F238E27FC236}">
                <a16:creationId xmlns:a16="http://schemas.microsoft.com/office/drawing/2014/main" id="{2B8E157A-50B4-9A92-E484-89BB75EFA96A}"/>
              </a:ext>
            </a:extLst>
          </p:cNvPr>
          <p:cNvSpPr txBox="1"/>
          <p:nvPr/>
        </p:nvSpPr>
        <p:spPr>
          <a:xfrm>
            <a:off x="2514600" y="3810000"/>
            <a:ext cx="16764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You connect your calendar; setup checklist</a:t>
            </a:r>
            <a:endParaRPr lang="en-AU" sz="1250">
              <a:solidFill>
                <a:srgbClr val="475569"/>
              </a:solidFill>
              <a:latin typeface="Calibri" panose="020F0502020204030204" pitchFamily="34" charset="0"/>
            </a:endParaRPr>
          </a:p>
        </p:txBody>
      </p:sp>
      <p:sp>
        <p:nvSpPr>
          <p:cNvPr id="14" name="Oval 13">
            <a:extLst>
              <a:ext uri="{FF2B5EF4-FFF2-40B4-BE49-F238E27FC236}">
                <a16:creationId xmlns:a16="http://schemas.microsoft.com/office/drawing/2014/main" id="{F752143A-FA3F-4CA1-2AE1-B67388680CA1}"/>
              </a:ext>
            </a:extLst>
          </p:cNvPr>
          <p:cNvSpPr/>
          <p:nvPr/>
        </p:nvSpPr>
        <p:spPr>
          <a:xfrm>
            <a:off x="4953000" y="27432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3</a:t>
            </a:r>
          </a:p>
        </p:txBody>
      </p:sp>
      <p:sp>
        <p:nvSpPr>
          <p:cNvPr id="15" name="TextBox 14">
            <a:extLst>
              <a:ext uri="{FF2B5EF4-FFF2-40B4-BE49-F238E27FC236}">
                <a16:creationId xmlns:a16="http://schemas.microsoft.com/office/drawing/2014/main" id="{4F7AA256-390A-7580-23E6-0B5B18006C35}"/>
              </a:ext>
            </a:extLst>
          </p:cNvPr>
          <p:cNvSpPr txBox="1"/>
          <p:nvPr/>
        </p:nvSpPr>
        <p:spPr>
          <a:xfrm>
            <a:off x="4318000" y="2159000"/>
            <a:ext cx="1778000" cy="369332"/>
          </a:xfrm>
          <a:prstGeom prst="rect">
            <a:avLst/>
          </a:prstGeom>
          <a:noFill/>
        </p:spPr>
        <p:txBody>
          <a:bodyPr vert="horz" wrap="square" lIns="0" tIns="0" rIns="0" bIns="0" rtlCol="0">
            <a:noAutofit/>
          </a:bodyPr>
          <a:lstStyle/>
          <a:p>
            <a:pPr algn="ctr">
              <a:spcAft>
                <a:spcPts val="400"/>
              </a:spcAft>
            </a:pPr>
            <a:r>
              <a:rPr lang="en-AU" sz="1200" b="1">
                <a:solidFill>
                  <a:srgbClr val="475569"/>
                </a:solidFill>
                <a:latin typeface="Calibri" panose="020F0502020204030204" pitchFamily="34" charset="0"/>
              </a:rPr>
              <a:t>Days 2–5</a:t>
            </a:r>
          </a:p>
        </p:txBody>
      </p:sp>
      <p:sp>
        <p:nvSpPr>
          <p:cNvPr id="16" name="TextBox 15">
            <a:extLst>
              <a:ext uri="{FF2B5EF4-FFF2-40B4-BE49-F238E27FC236}">
                <a16:creationId xmlns:a16="http://schemas.microsoft.com/office/drawing/2014/main" id="{33C57E45-0497-F752-2F75-DE94EF24868B}"/>
              </a:ext>
            </a:extLst>
          </p:cNvPr>
          <p:cNvSpPr txBox="1"/>
          <p:nvPr/>
        </p:nvSpPr>
        <p:spPr>
          <a:xfrm>
            <a:off x="4318000" y="3429000"/>
            <a:ext cx="1778000" cy="369332"/>
          </a:xfrm>
          <a:prstGeom prst="rect">
            <a:avLst/>
          </a:prstGeom>
          <a:noFill/>
        </p:spPr>
        <p:txBody>
          <a:bodyPr vert="horz" wrap="square" lIns="0" tIns="0" rIns="0" bIns="0" rtlCol="0">
            <a:noAutofit/>
          </a:bodyPr>
          <a:lstStyle/>
          <a:p>
            <a:pPr algn="ctr">
              <a:spcAft>
                <a:spcPts val="400"/>
              </a:spcAft>
            </a:pPr>
            <a:r>
              <a:rPr lang="en-AU" sz="1600" b="1">
                <a:solidFill>
                  <a:srgbClr val="14213D"/>
                </a:solidFill>
                <a:latin typeface="Calibri" panose="020F0502020204030204" pitchFamily="34" charset="0"/>
              </a:rPr>
              <a:t>Build</a:t>
            </a:r>
          </a:p>
        </p:txBody>
      </p:sp>
      <p:sp>
        <p:nvSpPr>
          <p:cNvPr id="17" name="TextBox 16">
            <a:extLst>
              <a:ext uri="{FF2B5EF4-FFF2-40B4-BE49-F238E27FC236}">
                <a16:creationId xmlns:a16="http://schemas.microsoft.com/office/drawing/2014/main" id="{7CE8B045-BA26-1955-8AF1-F44959E34918}"/>
              </a:ext>
            </a:extLst>
          </p:cNvPr>
          <p:cNvSpPr txBox="1"/>
          <p:nvPr/>
        </p:nvSpPr>
        <p:spPr>
          <a:xfrm>
            <a:off x="4368800" y="3810000"/>
            <a:ext cx="16764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We configure; you update your privacy policy</a:t>
            </a:r>
            <a:endParaRPr lang="en-AU" sz="1250">
              <a:solidFill>
                <a:srgbClr val="475569"/>
              </a:solidFill>
              <a:latin typeface="Calibri" panose="020F0502020204030204" pitchFamily="34" charset="0"/>
            </a:endParaRPr>
          </a:p>
        </p:txBody>
      </p:sp>
      <p:sp>
        <p:nvSpPr>
          <p:cNvPr id="18" name="Oval 17">
            <a:extLst>
              <a:ext uri="{FF2B5EF4-FFF2-40B4-BE49-F238E27FC236}">
                <a16:creationId xmlns:a16="http://schemas.microsoft.com/office/drawing/2014/main" id="{C060D12E-9B49-C84F-D840-C4C3E7A921DD}"/>
              </a:ext>
            </a:extLst>
          </p:cNvPr>
          <p:cNvSpPr/>
          <p:nvPr/>
        </p:nvSpPr>
        <p:spPr>
          <a:xfrm>
            <a:off x="6807200" y="27432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4</a:t>
            </a:r>
          </a:p>
        </p:txBody>
      </p:sp>
      <p:sp>
        <p:nvSpPr>
          <p:cNvPr id="19" name="TextBox 18">
            <a:extLst>
              <a:ext uri="{FF2B5EF4-FFF2-40B4-BE49-F238E27FC236}">
                <a16:creationId xmlns:a16="http://schemas.microsoft.com/office/drawing/2014/main" id="{477740F5-9D84-0D5E-5970-091FA020E2F4}"/>
              </a:ext>
            </a:extLst>
          </p:cNvPr>
          <p:cNvSpPr txBox="1"/>
          <p:nvPr/>
        </p:nvSpPr>
        <p:spPr>
          <a:xfrm>
            <a:off x="6172200" y="2159000"/>
            <a:ext cx="1778000" cy="369332"/>
          </a:xfrm>
          <a:prstGeom prst="rect">
            <a:avLst/>
          </a:prstGeom>
          <a:noFill/>
        </p:spPr>
        <p:txBody>
          <a:bodyPr vert="horz" wrap="square" lIns="0" tIns="0" rIns="0" bIns="0" rtlCol="0">
            <a:noAutofit/>
          </a:bodyPr>
          <a:lstStyle/>
          <a:p>
            <a:pPr algn="ctr">
              <a:spcAft>
                <a:spcPts val="400"/>
              </a:spcAft>
            </a:pPr>
            <a:r>
              <a:rPr lang="en-AU" sz="1200" b="1">
                <a:solidFill>
                  <a:srgbClr val="475569"/>
                </a:solidFill>
                <a:latin typeface="Calibri" panose="020F0502020204030204" pitchFamily="34" charset="0"/>
              </a:rPr>
              <a:t>Days 5–7</a:t>
            </a:r>
          </a:p>
        </p:txBody>
      </p:sp>
      <p:sp>
        <p:nvSpPr>
          <p:cNvPr id="20" name="TextBox 19">
            <a:extLst>
              <a:ext uri="{FF2B5EF4-FFF2-40B4-BE49-F238E27FC236}">
                <a16:creationId xmlns:a16="http://schemas.microsoft.com/office/drawing/2014/main" id="{D882805E-F0F2-5488-C283-7EB7DFF6C6CA}"/>
              </a:ext>
            </a:extLst>
          </p:cNvPr>
          <p:cNvSpPr txBox="1"/>
          <p:nvPr/>
        </p:nvSpPr>
        <p:spPr>
          <a:xfrm>
            <a:off x="6172200" y="3429000"/>
            <a:ext cx="1778000" cy="369332"/>
          </a:xfrm>
          <a:prstGeom prst="rect">
            <a:avLst/>
          </a:prstGeom>
          <a:noFill/>
        </p:spPr>
        <p:txBody>
          <a:bodyPr vert="horz" wrap="square" lIns="0" tIns="0" rIns="0" bIns="0" rtlCol="0">
            <a:noAutofit/>
          </a:bodyPr>
          <a:lstStyle/>
          <a:p>
            <a:pPr algn="ctr">
              <a:spcAft>
                <a:spcPts val="400"/>
              </a:spcAft>
            </a:pPr>
            <a:r>
              <a:rPr lang="en-AU" sz="1600" b="1">
                <a:solidFill>
                  <a:srgbClr val="14213D"/>
                </a:solidFill>
                <a:latin typeface="Calibri" panose="020F0502020204030204" pitchFamily="34" charset="0"/>
              </a:rPr>
              <a:t>Test</a:t>
            </a:r>
          </a:p>
        </p:txBody>
      </p:sp>
      <p:sp>
        <p:nvSpPr>
          <p:cNvPr id="21" name="TextBox 20">
            <a:extLst>
              <a:ext uri="{FF2B5EF4-FFF2-40B4-BE49-F238E27FC236}">
                <a16:creationId xmlns:a16="http://schemas.microsoft.com/office/drawing/2014/main" id="{65F2A6EF-D710-2823-243E-2A0F047619FF}"/>
              </a:ext>
            </a:extLst>
          </p:cNvPr>
          <p:cNvSpPr txBox="1"/>
          <p:nvPr/>
        </p:nvSpPr>
        <p:spPr>
          <a:xfrm>
            <a:off x="6223000" y="3810000"/>
            <a:ext cx="16764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Five test calls together, incl. urgent wording</a:t>
            </a:r>
            <a:endParaRPr lang="en-AU" sz="1250">
              <a:solidFill>
                <a:srgbClr val="475569"/>
              </a:solidFill>
              <a:latin typeface="Calibri" panose="020F0502020204030204" pitchFamily="34" charset="0"/>
            </a:endParaRPr>
          </a:p>
        </p:txBody>
      </p:sp>
      <p:sp>
        <p:nvSpPr>
          <p:cNvPr id="22" name="Oval 21">
            <a:extLst>
              <a:ext uri="{FF2B5EF4-FFF2-40B4-BE49-F238E27FC236}">
                <a16:creationId xmlns:a16="http://schemas.microsoft.com/office/drawing/2014/main" id="{AC6B073B-7AB9-EAEE-0A57-CB68038A8F89}"/>
              </a:ext>
            </a:extLst>
          </p:cNvPr>
          <p:cNvSpPr/>
          <p:nvPr/>
        </p:nvSpPr>
        <p:spPr>
          <a:xfrm>
            <a:off x="8661400" y="2743200"/>
            <a:ext cx="508000" cy="508000"/>
          </a:xfrm>
          <a:prstGeom prst="ellipse">
            <a:avLst/>
          </a:prstGeom>
          <a:solidFill>
            <a:srgbClr val="B4530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5</a:t>
            </a:r>
          </a:p>
        </p:txBody>
      </p:sp>
      <p:sp>
        <p:nvSpPr>
          <p:cNvPr id="23" name="TextBox 22">
            <a:extLst>
              <a:ext uri="{FF2B5EF4-FFF2-40B4-BE49-F238E27FC236}">
                <a16:creationId xmlns:a16="http://schemas.microsoft.com/office/drawing/2014/main" id="{436518B6-88E7-E858-A11B-6DABC85A181B}"/>
              </a:ext>
            </a:extLst>
          </p:cNvPr>
          <p:cNvSpPr txBox="1"/>
          <p:nvPr/>
        </p:nvSpPr>
        <p:spPr>
          <a:xfrm>
            <a:off x="8026400" y="2159000"/>
            <a:ext cx="1778000" cy="369332"/>
          </a:xfrm>
          <a:prstGeom prst="rect">
            <a:avLst/>
          </a:prstGeom>
          <a:noFill/>
        </p:spPr>
        <p:txBody>
          <a:bodyPr vert="horz" wrap="square" lIns="0" tIns="0" rIns="0" bIns="0" rtlCol="0">
            <a:noAutofit/>
          </a:bodyPr>
          <a:lstStyle/>
          <a:p>
            <a:pPr algn="ctr">
              <a:spcAft>
                <a:spcPts val="400"/>
              </a:spcAft>
            </a:pPr>
            <a:r>
              <a:rPr lang="en-AU" sz="1200" b="1">
                <a:solidFill>
                  <a:srgbClr val="475569"/>
                </a:solidFill>
                <a:latin typeface="Calibri" panose="020F0502020204030204" pitchFamily="34" charset="0"/>
              </a:rPr>
              <a:t>Day 7</a:t>
            </a:r>
          </a:p>
        </p:txBody>
      </p:sp>
      <p:sp>
        <p:nvSpPr>
          <p:cNvPr id="24" name="TextBox 23">
            <a:extLst>
              <a:ext uri="{FF2B5EF4-FFF2-40B4-BE49-F238E27FC236}">
                <a16:creationId xmlns:a16="http://schemas.microsoft.com/office/drawing/2014/main" id="{39D68FFB-AEAB-BD60-8869-741E5C6D13D7}"/>
              </a:ext>
            </a:extLst>
          </p:cNvPr>
          <p:cNvSpPr txBox="1"/>
          <p:nvPr/>
        </p:nvSpPr>
        <p:spPr>
          <a:xfrm>
            <a:off x="8026400" y="3429000"/>
            <a:ext cx="1778000" cy="369332"/>
          </a:xfrm>
          <a:prstGeom prst="rect">
            <a:avLst/>
          </a:prstGeom>
          <a:noFill/>
        </p:spPr>
        <p:txBody>
          <a:bodyPr vert="horz" wrap="square" lIns="0" tIns="0" rIns="0" bIns="0" rtlCol="0">
            <a:noAutofit/>
          </a:bodyPr>
          <a:lstStyle/>
          <a:p>
            <a:pPr algn="ctr">
              <a:spcAft>
                <a:spcPts val="400"/>
              </a:spcAft>
            </a:pPr>
            <a:r>
              <a:rPr lang="en-AU" sz="1600" b="1">
                <a:solidFill>
                  <a:srgbClr val="14213D"/>
                </a:solidFill>
                <a:latin typeface="Calibri" panose="020F0502020204030204" pitchFamily="34" charset="0"/>
              </a:rPr>
              <a:t>Acceptance</a:t>
            </a:r>
          </a:p>
        </p:txBody>
      </p:sp>
      <p:sp>
        <p:nvSpPr>
          <p:cNvPr id="25" name="TextBox 24">
            <a:extLst>
              <a:ext uri="{FF2B5EF4-FFF2-40B4-BE49-F238E27FC236}">
                <a16:creationId xmlns:a16="http://schemas.microsoft.com/office/drawing/2014/main" id="{DB086BD0-7C42-5752-9A6C-E32B9396CA94}"/>
              </a:ext>
            </a:extLst>
          </p:cNvPr>
          <p:cNvSpPr txBox="1"/>
          <p:nvPr/>
        </p:nvSpPr>
        <p:spPr>
          <a:xfrm>
            <a:off x="8077200" y="3810000"/>
            <a:ext cx="16764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Test booking in your calendar; forwarding on</a:t>
            </a:r>
            <a:endParaRPr lang="en-AU" sz="1250">
              <a:solidFill>
                <a:srgbClr val="475569"/>
              </a:solidFill>
              <a:latin typeface="Calibri" panose="020F0502020204030204" pitchFamily="34" charset="0"/>
            </a:endParaRPr>
          </a:p>
        </p:txBody>
      </p:sp>
      <p:sp>
        <p:nvSpPr>
          <p:cNvPr id="26" name="Oval 25">
            <a:extLst>
              <a:ext uri="{FF2B5EF4-FFF2-40B4-BE49-F238E27FC236}">
                <a16:creationId xmlns:a16="http://schemas.microsoft.com/office/drawing/2014/main" id="{981C6C0E-A004-117B-36A7-DA352AC62DCF}"/>
              </a:ext>
            </a:extLst>
          </p:cNvPr>
          <p:cNvSpPr/>
          <p:nvPr/>
        </p:nvSpPr>
        <p:spPr>
          <a:xfrm>
            <a:off x="10515600" y="27432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6</a:t>
            </a:r>
          </a:p>
        </p:txBody>
      </p:sp>
      <p:sp>
        <p:nvSpPr>
          <p:cNvPr id="27" name="TextBox 26">
            <a:extLst>
              <a:ext uri="{FF2B5EF4-FFF2-40B4-BE49-F238E27FC236}">
                <a16:creationId xmlns:a16="http://schemas.microsoft.com/office/drawing/2014/main" id="{EFA48941-47AF-351E-DEA4-AD600A218192}"/>
              </a:ext>
            </a:extLst>
          </p:cNvPr>
          <p:cNvSpPr txBox="1"/>
          <p:nvPr/>
        </p:nvSpPr>
        <p:spPr>
          <a:xfrm>
            <a:off x="9880600" y="2159000"/>
            <a:ext cx="1778000" cy="369332"/>
          </a:xfrm>
          <a:prstGeom prst="rect">
            <a:avLst/>
          </a:prstGeom>
          <a:noFill/>
        </p:spPr>
        <p:txBody>
          <a:bodyPr vert="horz" wrap="square" lIns="0" tIns="0" rIns="0" bIns="0" rtlCol="0">
            <a:noAutofit/>
          </a:bodyPr>
          <a:lstStyle/>
          <a:p>
            <a:pPr algn="ctr">
              <a:spcAft>
                <a:spcPts val="400"/>
              </a:spcAft>
            </a:pPr>
            <a:r>
              <a:rPr lang="en-AU" sz="1200" b="1">
                <a:solidFill>
                  <a:srgbClr val="475569"/>
                </a:solidFill>
                <a:latin typeface="Calibri" panose="020F0502020204030204" pitchFamily="34" charset="0"/>
              </a:rPr>
              <a:t>Days 7–21</a:t>
            </a:r>
          </a:p>
        </p:txBody>
      </p:sp>
      <p:sp>
        <p:nvSpPr>
          <p:cNvPr id="28" name="TextBox 27">
            <a:extLst>
              <a:ext uri="{FF2B5EF4-FFF2-40B4-BE49-F238E27FC236}">
                <a16:creationId xmlns:a16="http://schemas.microsoft.com/office/drawing/2014/main" id="{C28319A7-2551-A5C9-01E1-44AB96E658FF}"/>
              </a:ext>
            </a:extLst>
          </p:cNvPr>
          <p:cNvSpPr txBox="1"/>
          <p:nvPr/>
        </p:nvSpPr>
        <p:spPr>
          <a:xfrm>
            <a:off x="9880600" y="3429000"/>
            <a:ext cx="1778000" cy="369332"/>
          </a:xfrm>
          <a:prstGeom prst="rect">
            <a:avLst/>
          </a:prstGeom>
          <a:noFill/>
        </p:spPr>
        <p:txBody>
          <a:bodyPr vert="horz" wrap="square" lIns="0" tIns="0" rIns="0" bIns="0" rtlCol="0">
            <a:noAutofit/>
          </a:bodyPr>
          <a:lstStyle/>
          <a:p>
            <a:pPr algn="ctr">
              <a:spcAft>
                <a:spcPts val="400"/>
              </a:spcAft>
            </a:pPr>
            <a:r>
              <a:rPr lang="en-AU" sz="1600" b="1">
                <a:solidFill>
                  <a:srgbClr val="14213D"/>
                </a:solidFill>
                <a:latin typeface="Calibri" panose="020F0502020204030204" pitchFamily="34" charset="0"/>
              </a:rPr>
              <a:t>Settle in</a:t>
            </a:r>
          </a:p>
        </p:txBody>
      </p:sp>
      <p:sp>
        <p:nvSpPr>
          <p:cNvPr id="29" name="TextBox 28">
            <a:extLst>
              <a:ext uri="{FF2B5EF4-FFF2-40B4-BE49-F238E27FC236}">
                <a16:creationId xmlns:a16="http://schemas.microsoft.com/office/drawing/2014/main" id="{B8743DC5-66FD-CA2A-7EB8-9018C67DF964}"/>
              </a:ext>
            </a:extLst>
          </p:cNvPr>
          <p:cNvSpPr txBox="1"/>
          <p:nvPr/>
        </p:nvSpPr>
        <p:spPr>
          <a:xfrm>
            <a:off x="9931400" y="3810000"/>
            <a:ext cx="1676400" cy="369332"/>
          </a:xfrm>
          <a:prstGeom prst="rect">
            <a:avLst/>
          </a:prstGeom>
          <a:noFill/>
        </p:spPr>
        <p:txBody>
          <a:bodyPr vert="horz" wrap="square" lIns="0" tIns="0" rIns="0" bIns="0" rtlCol="0">
            <a:noAutofit/>
          </a:bodyPr>
          <a:lstStyle/>
          <a:p>
            <a:pPr algn="ctr">
              <a:spcAft>
                <a:spcPts val="400"/>
              </a:spcAft>
            </a:pPr>
            <a:r>
              <a:rPr lang="en-US" sz="1250">
                <a:solidFill>
                  <a:srgbClr val="475569"/>
                </a:solidFill>
                <a:latin typeface="Calibri" panose="020F0502020204030204" pitchFamily="34" charset="0"/>
              </a:rPr>
              <a:t>Daily review of flagged calls; fix notes</a:t>
            </a:r>
            <a:endParaRPr lang="en-AU" sz="1250">
              <a:solidFill>
                <a:srgbClr val="475569"/>
              </a:solidFill>
              <a:latin typeface="Calibri" panose="020F0502020204030204" pitchFamily="34" charset="0"/>
            </a:endParaRPr>
          </a:p>
        </p:txBody>
      </p:sp>
      <p:sp>
        <p:nvSpPr>
          <p:cNvPr id="30" name="Rectangle: Rounded Corners 29">
            <a:extLst>
              <a:ext uri="{FF2B5EF4-FFF2-40B4-BE49-F238E27FC236}">
                <a16:creationId xmlns:a16="http://schemas.microsoft.com/office/drawing/2014/main" id="{30A4D97B-7C21-35F7-92D7-6DF2465F7227}"/>
              </a:ext>
            </a:extLst>
          </p:cNvPr>
          <p:cNvSpPr/>
          <p:nvPr/>
        </p:nvSpPr>
        <p:spPr>
          <a:xfrm>
            <a:off x="609600" y="5080000"/>
            <a:ext cx="10972800" cy="711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a:extLst>
              <a:ext uri="{FF2B5EF4-FFF2-40B4-BE49-F238E27FC236}">
                <a16:creationId xmlns:a16="http://schemas.microsoft.com/office/drawing/2014/main" id="{6FB4AD55-F29D-7772-BE8D-E29EE3D34E26}"/>
              </a:ext>
            </a:extLst>
          </p:cNvPr>
          <p:cNvSpPr txBox="1"/>
          <p:nvPr/>
        </p:nvSpPr>
        <p:spPr>
          <a:xfrm>
            <a:off x="812800" y="5295900"/>
            <a:ext cx="10566400" cy="381000"/>
          </a:xfrm>
          <a:prstGeom prst="rect">
            <a:avLst/>
          </a:prstGeom>
          <a:noFill/>
        </p:spPr>
        <p:txBody>
          <a:bodyPr vert="horz" wrap="square" lIns="0" tIns="0" rIns="0" bIns="0" rtlCol="0">
            <a:noAutofit/>
          </a:bodyPr>
          <a:lstStyle/>
          <a:p>
            <a:pPr>
              <a:spcAft>
                <a:spcPts val="400"/>
              </a:spcAft>
            </a:pPr>
            <a:r>
              <a:rPr lang="en-US" sz="1500">
                <a:solidFill>
                  <a:srgbClr val="14213D"/>
                </a:solidFill>
                <a:latin typeface="Calibri" panose="020F0502020204030204" pitchFamily="34" charset="0"/>
              </a:rPr>
              <a:t>Kickoff starts once booking has passed acceptance tests on our own line. Monthly billing starts at Acceptance.</a:t>
            </a:r>
            <a:endParaRPr lang="en-AU" sz="1500">
              <a:solidFill>
                <a:srgbClr val="14213D"/>
              </a:solidFill>
              <a:latin typeface="Calibri" panose="020F0502020204030204" pitchFamily="34" charset="0"/>
            </a:endParaRPr>
          </a:p>
        </p:txBody>
      </p:sp>
    </p:spTree>
    <p:extLst>
      <p:ext uri="{BB962C8B-B14F-4D97-AF65-F5344CB8AC3E}">
        <p14:creationId xmlns:p14="http://schemas.microsoft.com/office/powerpoint/2010/main" val="3742136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DDD2D8-0A88-8535-F76A-89E3193BDD28}"/>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12</a:t>
            </a:r>
          </a:p>
        </p:txBody>
      </p:sp>
      <p:sp>
        <p:nvSpPr>
          <p:cNvPr id="3" name="TextBox 2">
            <a:extLst>
              <a:ext uri="{FF2B5EF4-FFF2-40B4-BE49-F238E27FC236}">
                <a16:creationId xmlns:a16="http://schemas.microsoft.com/office/drawing/2014/main" id="{EE16875C-6FFC-1362-B44F-80C8F8C589CC}"/>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AU" sz="3200">
                <a:solidFill>
                  <a:srgbClr val="14213D"/>
                </a:solidFill>
                <a:latin typeface="Cambria" panose="02040503050406030204" pitchFamily="18" charset="0"/>
              </a:rPr>
              <a:t>Next steps</a:t>
            </a:r>
          </a:p>
        </p:txBody>
      </p:sp>
      <p:sp>
        <p:nvSpPr>
          <p:cNvPr id="4" name="Oval 3">
            <a:extLst>
              <a:ext uri="{FF2B5EF4-FFF2-40B4-BE49-F238E27FC236}">
                <a16:creationId xmlns:a16="http://schemas.microsoft.com/office/drawing/2014/main" id="{63F14D89-9DFC-0DAD-32D1-DE5D542AA6DE}"/>
              </a:ext>
            </a:extLst>
          </p:cNvPr>
          <p:cNvSpPr/>
          <p:nvPr/>
        </p:nvSpPr>
        <p:spPr>
          <a:xfrm>
            <a:off x="609600" y="1587500"/>
            <a:ext cx="609600" cy="6096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D4230C9B-ED20-5816-9EDC-C7B8ED4B2C28}"/>
              </a:ext>
            </a:extLst>
          </p:cNvPr>
          <p:cNvSpPr txBox="1"/>
          <p:nvPr/>
        </p:nvSpPr>
        <p:spPr>
          <a:xfrm>
            <a:off x="1498600" y="1612900"/>
            <a:ext cx="8890000" cy="369332"/>
          </a:xfrm>
          <a:prstGeom prst="rect">
            <a:avLst/>
          </a:prstGeom>
          <a:noFill/>
        </p:spPr>
        <p:txBody>
          <a:bodyPr vert="horz" wrap="square" lIns="0" tIns="0" rIns="0" bIns="0" rtlCol="0">
            <a:noAutofit/>
          </a:bodyPr>
          <a:lstStyle/>
          <a:p>
            <a:pPr>
              <a:spcAft>
                <a:spcPts val="400"/>
              </a:spcAft>
            </a:pPr>
            <a:r>
              <a:rPr lang="en-AU" b="1">
                <a:solidFill>
                  <a:srgbClr val="14213D"/>
                </a:solidFill>
                <a:latin typeface="Calibri" panose="020F0502020204030204" pitchFamily="34" charset="0"/>
              </a:rPr>
              <a:t>Choose a package</a:t>
            </a:r>
          </a:p>
        </p:txBody>
      </p:sp>
      <p:sp>
        <p:nvSpPr>
          <p:cNvPr id="6" name="TextBox 5">
            <a:extLst>
              <a:ext uri="{FF2B5EF4-FFF2-40B4-BE49-F238E27FC236}">
                <a16:creationId xmlns:a16="http://schemas.microsoft.com/office/drawing/2014/main" id="{BFFBE649-E194-B8D4-0CC0-02266013E3E6}"/>
              </a:ext>
            </a:extLst>
          </p:cNvPr>
          <p:cNvSpPr txBox="1"/>
          <p:nvPr/>
        </p:nvSpPr>
        <p:spPr>
          <a:xfrm>
            <a:off x="1498600" y="1943100"/>
            <a:ext cx="8890000" cy="369332"/>
          </a:xfrm>
          <a:prstGeom prst="rect">
            <a:avLst/>
          </a:prstGeom>
          <a:noFill/>
        </p:spPr>
        <p:txBody>
          <a:bodyPr vert="horz" wrap="square" lIns="0" tIns="0" rIns="0" bIns="0" rtlCol="0">
            <a:noAutofit/>
          </a:bodyPr>
          <a:lstStyle/>
          <a:p>
            <a:pPr>
              <a:spcAft>
                <a:spcPts val="400"/>
              </a:spcAft>
            </a:pPr>
            <a:r>
              <a:rPr lang="en-US" sz="1400">
                <a:solidFill>
                  <a:srgbClr val="475569"/>
                </a:solidFill>
                <a:latin typeface="Calibri" panose="020F0502020204030204" pitchFamily="34" charset="0"/>
              </a:rPr>
              <a:t>We'll recommend one from what you've told us.</a:t>
            </a:r>
            <a:endParaRPr lang="en-AU" sz="1400">
              <a:solidFill>
                <a:srgbClr val="475569"/>
              </a:solidFill>
              <a:latin typeface="Calibri" panose="020F0502020204030204" pitchFamily="34" charset="0"/>
            </a:endParaRPr>
          </a:p>
        </p:txBody>
      </p:sp>
      <p:sp>
        <p:nvSpPr>
          <p:cNvPr id="7" name="Oval 6">
            <a:extLst>
              <a:ext uri="{FF2B5EF4-FFF2-40B4-BE49-F238E27FC236}">
                <a16:creationId xmlns:a16="http://schemas.microsoft.com/office/drawing/2014/main" id="{2DB0BB59-D367-A873-5FA9-B6F216228F2C}"/>
              </a:ext>
            </a:extLst>
          </p:cNvPr>
          <p:cNvSpPr/>
          <p:nvPr/>
        </p:nvSpPr>
        <p:spPr>
          <a:xfrm>
            <a:off x="609600" y="2603500"/>
            <a:ext cx="609600" cy="6096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E966A8E9-B04B-1F60-AFE4-FDB32153BC86}"/>
              </a:ext>
            </a:extLst>
          </p:cNvPr>
          <p:cNvSpPr txBox="1"/>
          <p:nvPr/>
        </p:nvSpPr>
        <p:spPr>
          <a:xfrm>
            <a:off x="1498600" y="2628900"/>
            <a:ext cx="8890000" cy="369332"/>
          </a:xfrm>
          <a:prstGeom prst="rect">
            <a:avLst/>
          </a:prstGeom>
          <a:noFill/>
        </p:spPr>
        <p:txBody>
          <a:bodyPr vert="horz" wrap="square" lIns="0" tIns="0" rIns="0" bIns="0" rtlCol="0">
            <a:noAutofit/>
          </a:bodyPr>
          <a:lstStyle/>
          <a:p>
            <a:pPr>
              <a:spcAft>
                <a:spcPts val="400"/>
              </a:spcAft>
            </a:pPr>
            <a:r>
              <a:rPr lang="en-AU" b="1">
                <a:solidFill>
                  <a:srgbClr val="14213D"/>
                </a:solidFill>
                <a:latin typeface="Calibri" panose="020F0502020204030204" pitchFamily="34" charset="0"/>
              </a:rPr>
              <a:t>Proposal</a:t>
            </a:r>
          </a:p>
        </p:txBody>
      </p:sp>
      <p:sp>
        <p:nvSpPr>
          <p:cNvPr id="9" name="TextBox 8">
            <a:extLst>
              <a:ext uri="{FF2B5EF4-FFF2-40B4-BE49-F238E27FC236}">
                <a16:creationId xmlns:a16="http://schemas.microsoft.com/office/drawing/2014/main" id="{1F2E5C47-F1F2-B824-A60B-90CE1DD148EA}"/>
              </a:ext>
            </a:extLst>
          </p:cNvPr>
          <p:cNvSpPr txBox="1"/>
          <p:nvPr/>
        </p:nvSpPr>
        <p:spPr>
          <a:xfrm>
            <a:off x="1498600" y="2959100"/>
            <a:ext cx="8890000" cy="369332"/>
          </a:xfrm>
          <a:prstGeom prst="rect">
            <a:avLst/>
          </a:prstGeom>
          <a:noFill/>
        </p:spPr>
        <p:txBody>
          <a:bodyPr vert="horz" wrap="square" lIns="0" tIns="0" rIns="0" bIns="0" rtlCol="0">
            <a:noAutofit/>
          </a:bodyPr>
          <a:lstStyle/>
          <a:p>
            <a:pPr>
              <a:spcAft>
                <a:spcPts val="400"/>
              </a:spcAft>
            </a:pPr>
            <a:r>
              <a:rPr lang="en-US" sz="1400">
                <a:solidFill>
                  <a:srgbClr val="475569"/>
                </a:solidFill>
                <a:latin typeface="Calibri" panose="020F0502020204030204" pitchFamily="34" charset="0"/>
              </a:rPr>
              <a:t>Package, price, timeline and Acceptance, in writing.</a:t>
            </a:r>
            <a:endParaRPr lang="en-AU" sz="1400">
              <a:solidFill>
                <a:srgbClr val="475569"/>
              </a:solidFill>
              <a:latin typeface="Calibri" panose="020F0502020204030204" pitchFamily="34" charset="0"/>
            </a:endParaRPr>
          </a:p>
        </p:txBody>
      </p:sp>
      <p:sp>
        <p:nvSpPr>
          <p:cNvPr id="10" name="Oval 9">
            <a:extLst>
              <a:ext uri="{FF2B5EF4-FFF2-40B4-BE49-F238E27FC236}">
                <a16:creationId xmlns:a16="http://schemas.microsoft.com/office/drawing/2014/main" id="{9338655D-46EC-7508-ACBF-11CAFC0988CE}"/>
              </a:ext>
            </a:extLst>
          </p:cNvPr>
          <p:cNvSpPr/>
          <p:nvPr/>
        </p:nvSpPr>
        <p:spPr>
          <a:xfrm>
            <a:off x="609600" y="3619500"/>
            <a:ext cx="609600" cy="6096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3</a:t>
            </a:r>
          </a:p>
        </p:txBody>
      </p:sp>
      <p:sp>
        <p:nvSpPr>
          <p:cNvPr id="11" name="TextBox 10">
            <a:extLst>
              <a:ext uri="{FF2B5EF4-FFF2-40B4-BE49-F238E27FC236}">
                <a16:creationId xmlns:a16="http://schemas.microsoft.com/office/drawing/2014/main" id="{AAF33EC7-FAE3-3B53-29C7-9BE2510BE63C}"/>
              </a:ext>
            </a:extLst>
          </p:cNvPr>
          <p:cNvSpPr txBox="1"/>
          <p:nvPr/>
        </p:nvSpPr>
        <p:spPr>
          <a:xfrm>
            <a:off x="1498600" y="3644900"/>
            <a:ext cx="8890000" cy="369332"/>
          </a:xfrm>
          <a:prstGeom prst="rect">
            <a:avLst/>
          </a:prstGeom>
          <a:noFill/>
        </p:spPr>
        <p:txBody>
          <a:bodyPr vert="horz" wrap="square" lIns="0" tIns="0" rIns="0" bIns="0" rtlCol="0">
            <a:noAutofit/>
          </a:bodyPr>
          <a:lstStyle/>
          <a:p>
            <a:pPr>
              <a:spcAft>
                <a:spcPts val="400"/>
              </a:spcAft>
            </a:pPr>
            <a:r>
              <a:rPr lang="en-AU" b="1">
                <a:solidFill>
                  <a:srgbClr val="14213D"/>
                </a:solidFill>
                <a:latin typeface="Calibri" panose="020F0502020204030204" pitchFamily="34" charset="0"/>
              </a:rPr>
              <a:t>Agreement and checklist</a:t>
            </a:r>
          </a:p>
        </p:txBody>
      </p:sp>
      <p:sp>
        <p:nvSpPr>
          <p:cNvPr id="12" name="TextBox 11">
            <a:extLst>
              <a:ext uri="{FF2B5EF4-FFF2-40B4-BE49-F238E27FC236}">
                <a16:creationId xmlns:a16="http://schemas.microsoft.com/office/drawing/2014/main" id="{24D16C65-CFFB-9E09-288F-7A323CA678C8}"/>
              </a:ext>
            </a:extLst>
          </p:cNvPr>
          <p:cNvSpPr txBox="1"/>
          <p:nvPr/>
        </p:nvSpPr>
        <p:spPr>
          <a:xfrm>
            <a:off x="1498600" y="3975100"/>
            <a:ext cx="8890000" cy="369332"/>
          </a:xfrm>
          <a:prstGeom prst="rect">
            <a:avLst/>
          </a:prstGeom>
          <a:noFill/>
        </p:spPr>
        <p:txBody>
          <a:bodyPr vert="horz" wrap="square" lIns="0" tIns="0" rIns="0" bIns="0" rtlCol="0">
            <a:noAutofit/>
          </a:bodyPr>
          <a:lstStyle/>
          <a:p>
            <a:pPr>
              <a:spcAft>
                <a:spcPts val="400"/>
              </a:spcAft>
            </a:pPr>
            <a:r>
              <a:rPr lang="en-US" sz="1400">
                <a:solidFill>
                  <a:srgbClr val="475569"/>
                </a:solidFill>
                <a:latin typeface="Calibri" panose="020F0502020204030204" pitchFamily="34" charset="0"/>
              </a:rPr>
              <a:t>Service agreement, then a 30-minute setup checklist.</a:t>
            </a:r>
            <a:endParaRPr lang="en-AU" sz="1400">
              <a:solidFill>
                <a:srgbClr val="475569"/>
              </a:solidFill>
              <a:latin typeface="Calibri" panose="020F0502020204030204" pitchFamily="34" charset="0"/>
            </a:endParaRPr>
          </a:p>
        </p:txBody>
      </p:sp>
      <p:sp>
        <p:nvSpPr>
          <p:cNvPr id="13" name="Oval 12">
            <a:extLst>
              <a:ext uri="{FF2B5EF4-FFF2-40B4-BE49-F238E27FC236}">
                <a16:creationId xmlns:a16="http://schemas.microsoft.com/office/drawing/2014/main" id="{0A406F67-C422-056C-BB3B-4F6A25080852}"/>
              </a:ext>
            </a:extLst>
          </p:cNvPr>
          <p:cNvSpPr/>
          <p:nvPr/>
        </p:nvSpPr>
        <p:spPr>
          <a:xfrm>
            <a:off x="609600" y="4635500"/>
            <a:ext cx="609600" cy="6096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b="1">
                <a:solidFill>
                  <a:srgbClr val="FFFFFF"/>
                </a:solidFill>
                <a:latin typeface="Calibri" panose="020F0502020204030204" pitchFamily="34" charset="0"/>
              </a:rPr>
              <a:t>4</a:t>
            </a:r>
          </a:p>
        </p:txBody>
      </p:sp>
      <p:sp>
        <p:nvSpPr>
          <p:cNvPr id="14" name="TextBox 13">
            <a:extLst>
              <a:ext uri="{FF2B5EF4-FFF2-40B4-BE49-F238E27FC236}">
                <a16:creationId xmlns:a16="http://schemas.microsoft.com/office/drawing/2014/main" id="{15C506E6-96C0-0D83-EAB3-AC112B4C5F8C}"/>
              </a:ext>
            </a:extLst>
          </p:cNvPr>
          <p:cNvSpPr txBox="1"/>
          <p:nvPr/>
        </p:nvSpPr>
        <p:spPr>
          <a:xfrm>
            <a:off x="1498600" y="4660900"/>
            <a:ext cx="8890000" cy="369332"/>
          </a:xfrm>
          <a:prstGeom prst="rect">
            <a:avLst/>
          </a:prstGeom>
          <a:noFill/>
        </p:spPr>
        <p:txBody>
          <a:bodyPr vert="horz" wrap="square" lIns="0" tIns="0" rIns="0" bIns="0" rtlCol="0">
            <a:noAutofit/>
          </a:bodyPr>
          <a:lstStyle/>
          <a:p>
            <a:pPr>
              <a:spcAft>
                <a:spcPts val="400"/>
              </a:spcAft>
            </a:pPr>
            <a:r>
              <a:rPr lang="en-AU" b="1">
                <a:solidFill>
                  <a:srgbClr val="14213D"/>
                </a:solidFill>
                <a:latin typeface="Calibri" panose="020F0502020204030204" pitchFamily="34" charset="0"/>
              </a:rPr>
              <a:t>Kickoff</a:t>
            </a:r>
          </a:p>
        </p:txBody>
      </p:sp>
      <p:sp>
        <p:nvSpPr>
          <p:cNvPr id="15" name="TextBox 14">
            <a:extLst>
              <a:ext uri="{FF2B5EF4-FFF2-40B4-BE49-F238E27FC236}">
                <a16:creationId xmlns:a16="http://schemas.microsoft.com/office/drawing/2014/main" id="{69691F83-A537-B2B9-3C85-A88139E3C1D5}"/>
              </a:ext>
            </a:extLst>
          </p:cNvPr>
          <p:cNvSpPr txBox="1"/>
          <p:nvPr/>
        </p:nvSpPr>
        <p:spPr>
          <a:xfrm>
            <a:off x="1498600" y="4991100"/>
            <a:ext cx="8890000" cy="369332"/>
          </a:xfrm>
          <a:prstGeom prst="rect">
            <a:avLst/>
          </a:prstGeom>
          <a:noFill/>
        </p:spPr>
        <p:txBody>
          <a:bodyPr vert="horz" wrap="square" lIns="0" tIns="0" rIns="0" bIns="0" rtlCol="0">
            <a:noAutofit/>
          </a:bodyPr>
          <a:lstStyle/>
          <a:p>
            <a:pPr>
              <a:spcAft>
                <a:spcPts val="400"/>
              </a:spcAft>
            </a:pPr>
            <a:r>
              <a:rPr lang="en-US" sz="1400">
                <a:solidFill>
                  <a:srgbClr val="475569"/>
                </a:solidFill>
                <a:latin typeface="Calibri" panose="020F0502020204030204" pitchFamily="34" charset="0"/>
              </a:rPr>
              <a:t>Once booking has passed our acceptance tests.</a:t>
            </a:r>
            <a:endParaRPr lang="en-AU" sz="1400">
              <a:solidFill>
                <a:srgbClr val="475569"/>
              </a:solidFill>
              <a:latin typeface="Calibri" panose="020F0502020204030204" pitchFamily="34" charset="0"/>
            </a:endParaRPr>
          </a:p>
        </p:txBody>
      </p:sp>
      <p:sp>
        <p:nvSpPr>
          <p:cNvPr id="16" name="TextBox 15">
            <a:extLst>
              <a:ext uri="{FF2B5EF4-FFF2-40B4-BE49-F238E27FC236}">
                <a16:creationId xmlns:a16="http://schemas.microsoft.com/office/drawing/2014/main" id="{5CC6400D-09E4-3200-779E-BB8CC9D2056E}"/>
              </a:ext>
            </a:extLst>
          </p:cNvPr>
          <p:cNvSpPr txBox="1"/>
          <p:nvPr/>
        </p:nvSpPr>
        <p:spPr>
          <a:xfrm>
            <a:off x="609600" y="5715000"/>
            <a:ext cx="10972800" cy="369332"/>
          </a:xfrm>
          <a:prstGeom prst="rect">
            <a:avLst/>
          </a:prstGeom>
          <a:noFill/>
        </p:spPr>
        <p:txBody>
          <a:bodyPr vert="horz" wrap="square" lIns="0" tIns="0" rIns="0" bIns="0" rtlCol="0">
            <a:noAutofit/>
          </a:bodyPr>
          <a:lstStyle/>
          <a:p>
            <a:pPr>
              <a:spcAft>
                <a:spcPts val="400"/>
              </a:spcAft>
            </a:pPr>
            <a:r>
              <a:rPr lang="en-US" sz="1400">
                <a:solidFill>
                  <a:srgbClr val="14213D"/>
                </a:solidFill>
                <a:latin typeface="Calibri" panose="020F0502020204030204" pitchFamily="34" charset="0"/>
              </a:rPr>
              <a:t>Usman Khan · M&amp;U Ventures · [business phone] · [email]</a:t>
            </a:r>
            <a:endParaRPr lang="en-AU" sz="1400">
              <a:solidFill>
                <a:srgbClr val="14213D"/>
              </a:solidFill>
              <a:latin typeface="Calibri" panose="020F0502020204030204" pitchFamily="34" charset="0"/>
            </a:endParaRPr>
          </a:p>
        </p:txBody>
      </p:sp>
      <p:sp>
        <p:nvSpPr>
          <p:cNvPr id="17" name="Rectangle: Rounded Corners 16">
            <a:extLst>
              <a:ext uri="{FF2B5EF4-FFF2-40B4-BE49-F238E27FC236}">
                <a16:creationId xmlns:a16="http://schemas.microsoft.com/office/drawing/2014/main" id="{1F66967C-6844-C1D4-C0FB-E6FADD05FEE5}"/>
              </a:ext>
            </a:extLst>
          </p:cNvPr>
          <p:cNvSpPr/>
          <p:nvPr/>
        </p:nvSpPr>
        <p:spPr>
          <a:xfrm>
            <a:off x="7620000" y="1587500"/>
            <a:ext cx="3962400" cy="3810000"/>
          </a:xfrm>
          <a:prstGeom prst="roundRect">
            <a:avLst>
              <a:gd name="adj" fmla="val 8000"/>
            </a:avLst>
          </a:prstGeom>
          <a:solidFill>
            <a:srgbClr val="1421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D247CDE9-77C3-4B27-E3B3-47EE3A6D3858}"/>
              </a:ext>
            </a:extLst>
          </p:cNvPr>
          <p:cNvSpPr txBox="1"/>
          <p:nvPr/>
        </p:nvSpPr>
        <p:spPr>
          <a:xfrm>
            <a:off x="7874000" y="1841500"/>
            <a:ext cx="3454400" cy="369332"/>
          </a:xfrm>
          <a:prstGeom prst="rect">
            <a:avLst/>
          </a:prstGeom>
          <a:noFill/>
        </p:spPr>
        <p:txBody>
          <a:bodyPr vert="horz" wrap="square" lIns="0" tIns="0" rIns="0" bIns="0" rtlCol="0">
            <a:noAutofit/>
          </a:bodyPr>
          <a:lstStyle/>
          <a:p>
            <a:pPr>
              <a:spcAft>
                <a:spcPts val="400"/>
              </a:spcAft>
            </a:pPr>
            <a:r>
              <a:rPr lang="en-AU" sz="1700" b="1">
                <a:solidFill>
                  <a:srgbClr val="FFFFFF"/>
                </a:solidFill>
                <a:latin typeface="Calibri" panose="020F0502020204030204" pitchFamily="34" charset="0"/>
              </a:rPr>
              <a:t>Have ready for kickoff</a:t>
            </a:r>
          </a:p>
        </p:txBody>
      </p:sp>
      <p:sp>
        <p:nvSpPr>
          <p:cNvPr id="19" name="TextBox 18">
            <a:extLst>
              <a:ext uri="{FF2B5EF4-FFF2-40B4-BE49-F238E27FC236}">
                <a16:creationId xmlns:a16="http://schemas.microsoft.com/office/drawing/2014/main" id="{C0ADB782-4A67-7A87-97CD-0B4C7B5F1652}"/>
              </a:ext>
            </a:extLst>
          </p:cNvPr>
          <p:cNvSpPr txBox="1"/>
          <p:nvPr/>
        </p:nvSpPr>
        <p:spPr>
          <a:xfrm>
            <a:off x="7874000" y="2349500"/>
            <a:ext cx="3454400" cy="369332"/>
          </a:xfrm>
          <a:prstGeom prst="rect">
            <a:avLst/>
          </a:prstGeom>
          <a:noFill/>
        </p:spPr>
        <p:txBody>
          <a:bodyPr vert="horz" wrap="square" lIns="0" tIns="0" rIns="0" bIns="0" rtlCol="0">
            <a:noAutofit/>
          </a:bodyPr>
          <a:lstStyle/>
          <a:p>
            <a:pPr marL="177800" indent="-177800">
              <a:spcAft>
                <a:spcPts val="800"/>
              </a:spcAft>
              <a:buFont typeface="+mj-lt"/>
              <a:buChar char="•"/>
            </a:pPr>
            <a:r>
              <a:rPr lang="en-US" sz="1400">
                <a:solidFill>
                  <a:srgbClr val="E2E8F0"/>
                </a:solidFill>
                <a:latin typeface="Calibri" panose="020F0502020204030204" pitchFamily="34" charset="0"/>
              </a:rPr>
              <a:t>Access to the calendar it will book into</a:t>
            </a:r>
          </a:p>
          <a:p>
            <a:pPr marL="177800" indent="-177800">
              <a:spcAft>
                <a:spcPts val="800"/>
              </a:spcAft>
              <a:buFont typeface="+mj-lt"/>
              <a:buChar char="•"/>
            </a:pPr>
            <a:r>
              <a:rPr lang="en-US" sz="1400">
                <a:solidFill>
                  <a:srgbClr val="E2E8F0"/>
                </a:solidFill>
                <a:latin typeface="Calibri" panose="020F0502020204030204" pitchFamily="34" charset="0"/>
              </a:rPr>
              <a:t>Opening hours, incl. public holidays</a:t>
            </a:r>
          </a:p>
          <a:p>
            <a:pPr marL="177800" indent="-177800">
              <a:spcAft>
                <a:spcPts val="800"/>
              </a:spcAft>
              <a:buFont typeface="+mj-lt"/>
              <a:buChar char="•"/>
            </a:pPr>
            <a:r>
              <a:rPr lang="en-US" sz="1400">
                <a:solidFill>
                  <a:srgbClr val="E2E8F0"/>
                </a:solidFill>
                <a:latin typeface="Calibri" panose="020F0502020204030204" pitchFamily="34" charset="0"/>
              </a:rPr>
              <a:t>Appointment types it may book, with lengths</a:t>
            </a:r>
          </a:p>
          <a:p>
            <a:pPr marL="177800" indent="-177800">
              <a:spcAft>
                <a:spcPts val="800"/>
              </a:spcAft>
              <a:buFont typeface="+mj-lt"/>
              <a:buChar char="•"/>
            </a:pPr>
            <a:r>
              <a:rPr lang="en-US" sz="1400">
                <a:solidFill>
                  <a:srgbClr val="E2E8F0"/>
                </a:solidFill>
                <a:latin typeface="Calibri" panose="020F0502020204030204" pitchFamily="34" charset="0"/>
              </a:rPr>
              <a:t>What urgent callers should hear after hours</a:t>
            </a:r>
          </a:p>
          <a:p>
            <a:pPr marL="177800" indent="-177800">
              <a:spcAft>
                <a:spcPts val="800"/>
              </a:spcAft>
              <a:buFont typeface="+mj-lt"/>
              <a:buChar char="•"/>
            </a:pPr>
            <a:r>
              <a:rPr lang="en-US" sz="1400">
                <a:solidFill>
                  <a:srgbClr val="E2E8F0"/>
                </a:solidFill>
                <a:latin typeface="Calibri" panose="020F0502020204030204" pitchFamily="34" charset="0"/>
              </a:rPr>
              <a:t>Your privacy policy link</a:t>
            </a:r>
            <a:endParaRPr lang="en-AU" sz="1400">
              <a:solidFill>
                <a:srgbClr val="E2E8F0"/>
              </a:solidFill>
              <a:latin typeface="Calibri" panose="020F0502020204030204" pitchFamily="34" charset="0"/>
            </a:endParaRPr>
          </a:p>
        </p:txBody>
      </p:sp>
    </p:spTree>
    <p:extLst>
      <p:ext uri="{BB962C8B-B14F-4D97-AF65-F5344CB8AC3E}">
        <p14:creationId xmlns:p14="http://schemas.microsoft.com/office/powerpoint/2010/main" val="1635565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DCF064-2E4D-188B-4400-F8D618E249B5}"/>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13</a:t>
            </a:r>
          </a:p>
        </p:txBody>
      </p:sp>
      <p:sp>
        <p:nvSpPr>
          <p:cNvPr id="3" name="TextBox 2">
            <a:extLst>
              <a:ext uri="{FF2B5EF4-FFF2-40B4-BE49-F238E27FC236}">
                <a16:creationId xmlns:a16="http://schemas.microsoft.com/office/drawing/2014/main" id="{F4F5E3F9-2063-5B76-92B6-61C623A3FDE1}"/>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AU" sz="3200">
                <a:solidFill>
                  <a:srgbClr val="14213D"/>
                </a:solidFill>
                <a:latin typeface="Cambria" panose="02040503050406030204" pitchFamily="18" charset="0"/>
              </a:rPr>
              <a:t>INTERNAL: unit economics (hidden, delete before sending)</a:t>
            </a:r>
          </a:p>
        </p:txBody>
      </p:sp>
      <p:sp>
        <p:nvSpPr>
          <p:cNvPr id="4" name="TextBox 3">
            <a:extLst>
              <a:ext uri="{FF2B5EF4-FFF2-40B4-BE49-F238E27FC236}">
                <a16:creationId xmlns:a16="http://schemas.microsoft.com/office/drawing/2014/main" id="{36AFA75B-3DE3-F5D0-3403-EB6C617CDFA0}"/>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Estimates only; measured and invoice-reconciled columns are empty. Source: package-economics.json</a:t>
            </a:r>
            <a:endParaRPr lang="en-AU" sz="1500">
              <a:solidFill>
                <a:srgbClr val="475569"/>
              </a:solidFill>
              <a:latin typeface="Calibri" panose="020F0502020204030204" pitchFamily="34" charset="0"/>
            </a:endParaRPr>
          </a:p>
        </p:txBody>
      </p:sp>
      <p:graphicFrame>
        <p:nvGraphicFramePr>
          <p:cNvPr id="5" name="Table 4">
            <a:extLst>
              <a:ext uri="{FF2B5EF4-FFF2-40B4-BE49-F238E27FC236}">
                <a16:creationId xmlns:a16="http://schemas.microsoft.com/office/drawing/2014/main" id="{3FBB1F17-7327-648E-0C4F-3CCE5E712DCB}"/>
              </a:ext>
            </a:extLst>
          </p:cNvPr>
          <p:cNvGraphicFramePr>
            <a:graphicFrameLocks noGrp="1"/>
          </p:cNvGraphicFramePr>
          <p:nvPr>
            <p:extLst>
              <p:ext uri="{D42A27DB-BD31-4B8C-83A1-F6EECF244321}">
                <p14:modId xmlns:p14="http://schemas.microsoft.com/office/powerpoint/2010/main" val="3160636661"/>
              </p:ext>
            </p:extLst>
          </p:nvPr>
        </p:nvGraphicFramePr>
        <p:xfrm>
          <a:off x="609600" y="1651000"/>
          <a:ext cx="10972800" cy="25908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3689722085"/>
                    </a:ext>
                  </a:extLst>
                </a:gridCol>
                <a:gridCol w="2032000">
                  <a:extLst>
                    <a:ext uri="{9D8B030D-6E8A-4147-A177-3AD203B41FA5}">
                      <a16:colId xmlns:a16="http://schemas.microsoft.com/office/drawing/2014/main" val="1490910631"/>
                    </a:ext>
                  </a:extLst>
                </a:gridCol>
                <a:gridCol w="2032000">
                  <a:extLst>
                    <a:ext uri="{9D8B030D-6E8A-4147-A177-3AD203B41FA5}">
                      <a16:colId xmlns:a16="http://schemas.microsoft.com/office/drawing/2014/main" val="3287047229"/>
                    </a:ext>
                  </a:extLst>
                </a:gridCol>
                <a:gridCol w="2032000">
                  <a:extLst>
                    <a:ext uri="{9D8B030D-6E8A-4147-A177-3AD203B41FA5}">
                      <a16:colId xmlns:a16="http://schemas.microsoft.com/office/drawing/2014/main" val="2553378011"/>
                    </a:ext>
                  </a:extLst>
                </a:gridCol>
              </a:tblGrid>
              <a:tr h="431800">
                <a:tc>
                  <a:txBody>
                    <a:bodyPr/>
                    <a:lstStyle/>
                    <a:p>
                      <a:r>
                        <a:rPr lang="en-AU" sz="1300" b="1">
                          <a:solidFill>
                            <a:srgbClr val="FFFFFF"/>
                          </a:solidFill>
                          <a:latin typeface="Calibri" panose="020F0502020204030204" pitchFamily="34" charset="0"/>
                        </a:rPr>
                        <a:t>Per client / month, 5 clients, base usage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Essential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Professional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Premium</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extLst>
                  <a:ext uri="{0D108BD9-81ED-4DB2-BD59-A6C34878D82A}">
                    <a16:rowId xmlns:a16="http://schemas.microsoft.com/office/drawing/2014/main" val="216479704"/>
                  </a:ext>
                </a:extLst>
              </a:tr>
              <a:tr h="431800">
                <a:tc>
                  <a:txBody>
                    <a:bodyPr/>
                    <a:lstStyle/>
                    <a:p>
                      <a:r>
                        <a:rPr lang="en-AU" sz="1300" b="1">
                          <a:solidFill>
                            <a:srgbClr val="14213D"/>
                          </a:solidFill>
                          <a:latin typeface="Calibri" panose="020F0502020204030204" pitchFamily="34" charset="0"/>
                        </a:rPr>
                        <a:t>Revenue ex GST</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A$699.00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A$1,099.00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A$1,999.00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2804366296"/>
                  </a:ext>
                </a:extLst>
              </a:tr>
              <a:tr h="431800">
                <a:tc>
                  <a:txBody>
                    <a:bodyPr/>
                    <a:lstStyle/>
                    <a:p>
                      <a:r>
                        <a:rPr lang="en-US" sz="1300" b="1">
                          <a:solidFill>
                            <a:srgbClr val="14213D"/>
                          </a:solidFill>
                          <a:latin typeface="Calibri" panose="020F0502020204030204" pitchFamily="34" charset="0"/>
                        </a:rPr>
                        <a:t>Variable cost (voice, carrier, number, SMS, fees)</a:t>
                      </a:r>
                      <a:endParaRPr lang="en-AU" sz="1300" b="1">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A$94.94</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A$210.75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A$394.16</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2773481913"/>
                  </a:ext>
                </a:extLst>
              </a:tr>
              <a:tr h="431800">
                <a:tc>
                  <a:txBody>
                    <a:bodyPr/>
                    <a:lstStyle/>
                    <a:p>
                      <a:r>
                        <a:rPr lang="en-AU" sz="1300" b="1">
                          <a:solidFill>
                            <a:srgbClr val="14213D"/>
                          </a:solidFill>
                          <a:latin typeface="Calibri" panose="020F0502020204030204" pitchFamily="34" charset="0"/>
                        </a:rPr>
                        <a:t>Gross contribution</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86.4%</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80.8%</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80.3%</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132478525"/>
                  </a:ext>
                </a:extLst>
              </a:tr>
              <a:tr h="431800">
                <a:tc>
                  <a:txBody>
                    <a:bodyPr/>
                    <a:lstStyle/>
                    <a:p>
                      <a:r>
                        <a:rPr lang="en-AU" sz="1300" b="1">
                          <a:solidFill>
                            <a:srgbClr val="14213D"/>
                          </a:solidFill>
                          <a:latin typeface="Calibri" panose="020F0502020204030204" pitchFamily="34" charset="0"/>
                        </a:rPr>
                        <a:t>Margin after support + platform</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77.0%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69.4%</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71.0%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2000061996"/>
                  </a:ext>
                </a:extLst>
              </a:tr>
              <a:tr h="431800">
                <a:tc>
                  <a:txBody>
                    <a:bodyPr/>
                    <a:lstStyle/>
                    <a:p>
                      <a:r>
                        <a:rPr lang="en-AU" sz="1300" b="1">
                          <a:solidFill>
                            <a:srgbClr val="14213D"/>
                          </a:solidFill>
                          <a:latin typeface="Calibri" panose="020F0502020204030204" pitchFamily="34" charset="0"/>
                        </a:rPr>
                        <a:t>Overage floor (70% marginal)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A$0.69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A$0.69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A$0.69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1731573258"/>
                  </a:ext>
                </a:extLst>
              </a:tr>
            </a:tbl>
          </a:graphicData>
        </a:graphic>
      </p:graphicFrame>
      <p:sp>
        <p:nvSpPr>
          <p:cNvPr id="6" name="TextBox 5">
            <a:extLst>
              <a:ext uri="{FF2B5EF4-FFF2-40B4-BE49-F238E27FC236}">
                <a16:creationId xmlns:a16="http://schemas.microsoft.com/office/drawing/2014/main" id="{6D6BD67D-82B7-3ABA-B33A-8D31714C54BF}"/>
              </a:ext>
            </a:extLst>
          </p:cNvPr>
          <p:cNvSpPr txBox="1"/>
          <p:nvPr/>
        </p:nvSpPr>
        <p:spPr>
          <a:xfrm>
            <a:off x="609600" y="4953000"/>
            <a:ext cx="10972800" cy="369332"/>
          </a:xfrm>
          <a:prstGeom prst="rect">
            <a:avLst/>
          </a:prstGeom>
          <a:noFill/>
        </p:spPr>
        <p:txBody>
          <a:bodyPr vert="horz" wrap="square" lIns="0" tIns="0" rIns="0" bIns="0" rtlCol="0">
            <a:noAutofit/>
          </a:bodyPr>
          <a:lstStyle/>
          <a:p>
            <a:pPr>
              <a:spcAft>
                <a:spcPts val="400"/>
              </a:spcAft>
            </a:pPr>
            <a:r>
              <a:rPr lang="en-US" sz="1250">
                <a:solidFill>
                  <a:srgbClr val="475569"/>
                </a:solidFill>
                <a:latin typeface="Calibri" panose="020F0502020204030204" pitchFamily="34" charset="0"/>
              </a:rPr>
              <a:t>Variable cost ≈ A$0.19 per connected minute (Retell US$0.12 incl. Claude 4.5 Haiku and ElevenLabs tier; Twilio SIP US$0.006). Labour A$60/h. Unknown costs excluded, not zero. Setup is proposed, not approved: not modelled here. High usage margins: 67% / 58% / 60%.</a:t>
            </a:r>
            <a:endParaRPr lang="en-AU" sz="1250">
              <a:solidFill>
                <a:srgbClr val="475569"/>
              </a:solidFill>
              <a:latin typeface="Calibri" panose="020F0502020204030204" pitchFamily="34" charset="0"/>
            </a:endParaRPr>
          </a:p>
        </p:txBody>
      </p:sp>
    </p:spTree>
    <p:extLst>
      <p:ext uri="{BB962C8B-B14F-4D97-AF65-F5344CB8AC3E}">
        <p14:creationId xmlns:p14="http://schemas.microsoft.com/office/powerpoint/2010/main" val="548651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2673</Words>
  <Application>Microsoft Office PowerPoint</Application>
  <PresentationFormat>Custom</PresentationFormat>
  <Paragraphs>290</Paragraphs>
  <Slides>13</Slides>
  <Notes>13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1</cp:revision>
  <dcterms:created xsi:type="dcterms:W3CDTF">2026-09-27T16:30:50Z</dcterms:created>
  <dcterms:modified xsi:type="dcterms:W3CDTF">2026-09-27T16:30:50Z</dcterms:modified>
</cp:coreProperties>
</file>